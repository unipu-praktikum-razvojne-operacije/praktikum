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4202B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6D6"/>
          </a:solidFill>
        </a:fill>
      </a:tcStyle>
    </a:wholeTbl>
    <a:band2H>
      <a:tcTxStyle b="def" i="def"/>
      <a:tcStyle>
        <a:tcBdr/>
        <a:fill>
          <a:solidFill>
            <a:srgbClr val="E6EC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8E7"/>
          </a:solidFill>
        </a:fill>
      </a:tcStyle>
    </a:wholeTbl>
    <a:band2H>
      <a:tcTxStyle b="def" i="def"/>
      <a:tcStyle>
        <a:tcBdr/>
        <a:fill>
          <a:solidFill>
            <a:srgbClr val="E7F4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3D6D8"/>
          </a:solidFill>
        </a:fill>
      </a:tcStyle>
    </a:wholeTbl>
    <a:band2H>
      <a:tcTxStyle b="def" i="def"/>
      <a:tcStyle>
        <a:tcBdr/>
        <a:fill>
          <a:solidFill>
            <a:srgbClr val="EAEC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14202B"/>
        </a:fontRef>
        <a:srgbClr val="14202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4202B"/>
        </a:fontRef>
        <a:srgbClr val="14202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4202B"/>
              </a:solidFill>
              <a:prstDash val="solid"/>
              <a:round/>
            </a:ln>
          </a:top>
          <a:bottom>
            <a:ln w="25400" cap="flat">
              <a:solidFill>
                <a:srgbClr val="14202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4202B"/>
              </a:solidFill>
              <a:prstDash val="solid"/>
              <a:round/>
            </a:ln>
          </a:top>
          <a:bottom>
            <a:ln w="25400" cap="flat">
              <a:solidFill>
                <a:srgbClr val="14202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4202B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4202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4202B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14202B"/>
              </a:solidFill>
              <a:prstDash val="solid"/>
              <a:round/>
            </a:ln>
          </a:left>
          <a:right>
            <a:ln w="12700" cap="flat">
              <a:solidFill>
                <a:srgbClr val="14202B"/>
              </a:solidFill>
              <a:prstDash val="solid"/>
              <a:round/>
            </a:ln>
          </a:right>
          <a:top>
            <a:ln w="12700" cap="flat">
              <a:solidFill>
                <a:srgbClr val="14202B"/>
              </a:solidFill>
              <a:prstDash val="solid"/>
              <a:round/>
            </a:ln>
          </a:top>
          <a:bottom>
            <a:ln w="12700" cap="flat">
              <a:solidFill>
                <a:srgbClr val="14202B"/>
              </a:solidFill>
              <a:prstDash val="solid"/>
              <a:round/>
            </a:ln>
          </a:bottom>
          <a:insideH>
            <a:ln w="12700" cap="flat">
              <a:solidFill>
                <a:srgbClr val="14202B"/>
              </a:solidFill>
              <a:prstDash val="solid"/>
              <a:round/>
            </a:ln>
          </a:insideH>
          <a:insideV>
            <a:ln w="12700" cap="flat">
              <a:solidFill>
                <a:srgbClr val="14202B"/>
              </a:solidFill>
              <a:prstDash val="solid"/>
              <a:round/>
            </a:ln>
          </a:insideV>
        </a:tcBdr>
        <a:fill>
          <a:solidFill>
            <a:srgbClr val="14202B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14202B"/>
              </a:solidFill>
              <a:prstDash val="solid"/>
              <a:round/>
            </a:ln>
          </a:left>
          <a:right>
            <a:ln w="12700" cap="flat">
              <a:solidFill>
                <a:srgbClr val="14202B"/>
              </a:solidFill>
              <a:prstDash val="solid"/>
              <a:round/>
            </a:ln>
          </a:right>
          <a:top>
            <a:ln w="12700" cap="flat">
              <a:solidFill>
                <a:srgbClr val="14202B"/>
              </a:solidFill>
              <a:prstDash val="solid"/>
              <a:round/>
            </a:ln>
          </a:top>
          <a:bottom>
            <a:ln w="12700" cap="flat">
              <a:solidFill>
                <a:srgbClr val="14202B"/>
              </a:solidFill>
              <a:prstDash val="solid"/>
              <a:round/>
            </a:ln>
          </a:bottom>
          <a:insideH>
            <a:ln w="12700" cap="flat">
              <a:solidFill>
                <a:srgbClr val="14202B"/>
              </a:solidFill>
              <a:prstDash val="solid"/>
              <a:round/>
            </a:ln>
          </a:insideH>
          <a:insideV>
            <a:ln w="12700" cap="flat">
              <a:solidFill>
                <a:srgbClr val="14202B"/>
              </a:solidFill>
              <a:prstDash val="solid"/>
              <a:round/>
            </a:ln>
          </a:insideV>
        </a:tcBdr>
        <a:fill>
          <a:solidFill>
            <a:srgbClr val="14202B">
              <a:alpha val="20000"/>
            </a:srgbClr>
          </a:solidFill>
        </a:fill>
      </a:tcStyle>
    </a:firstCol>
    <a:lastRow>
      <a:tcTxStyle b="on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14202B"/>
              </a:solidFill>
              <a:prstDash val="solid"/>
              <a:round/>
            </a:ln>
          </a:left>
          <a:right>
            <a:ln w="12700" cap="flat">
              <a:solidFill>
                <a:srgbClr val="14202B"/>
              </a:solidFill>
              <a:prstDash val="solid"/>
              <a:round/>
            </a:ln>
          </a:right>
          <a:top>
            <a:ln w="50800" cap="flat">
              <a:solidFill>
                <a:srgbClr val="14202B"/>
              </a:solidFill>
              <a:prstDash val="solid"/>
              <a:round/>
            </a:ln>
          </a:top>
          <a:bottom>
            <a:ln w="12700" cap="flat">
              <a:solidFill>
                <a:srgbClr val="14202B"/>
              </a:solidFill>
              <a:prstDash val="solid"/>
              <a:round/>
            </a:ln>
          </a:bottom>
          <a:insideH>
            <a:ln w="12700" cap="flat">
              <a:solidFill>
                <a:srgbClr val="14202B"/>
              </a:solidFill>
              <a:prstDash val="solid"/>
              <a:round/>
            </a:ln>
          </a:insideH>
          <a:insideV>
            <a:ln w="12700" cap="flat">
              <a:solidFill>
                <a:srgbClr val="14202B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14202B"/>
        </a:fontRef>
        <a:srgbClr val="14202B"/>
      </a:tcTxStyle>
      <a:tcStyle>
        <a:tcBdr>
          <a:left>
            <a:ln w="12700" cap="flat">
              <a:solidFill>
                <a:srgbClr val="14202B"/>
              </a:solidFill>
              <a:prstDash val="solid"/>
              <a:round/>
            </a:ln>
          </a:left>
          <a:right>
            <a:ln w="12700" cap="flat">
              <a:solidFill>
                <a:srgbClr val="14202B"/>
              </a:solidFill>
              <a:prstDash val="solid"/>
              <a:round/>
            </a:ln>
          </a:right>
          <a:top>
            <a:ln w="12700" cap="flat">
              <a:solidFill>
                <a:srgbClr val="14202B"/>
              </a:solidFill>
              <a:prstDash val="solid"/>
              <a:round/>
            </a:ln>
          </a:top>
          <a:bottom>
            <a:ln w="25400" cap="flat">
              <a:solidFill>
                <a:srgbClr val="14202B"/>
              </a:solidFill>
              <a:prstDash val="solid"/>
              <a:round/>
            </a:ln>
          </a:bottom>
          <a:insideH>
            <a:ln w="12700" cap="flat">
              <a:solidFill>
                <a:srgbClr val="14202B"/>
              </a:solidFill>
              <a:prstDash val="solid"/>
              <a:round/>
            </a:ln>
          </a:insideH>
          <a:insideV>
            <a:ln w="12700" cap="flat">
              <a:solidFill>
                <a:srgbClr val="14202B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14202B"/>
        </a:solidFill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5" name="Shape 3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Primjer za desni stupac: host je poslužitelj (Linux VM, npr. u GCP-u). Na njemu dockerd pokreće Compose projekt s dva servisa. Servis app nema socket hosta; s Dockerom razgovara preko mreže, s daemonom u servisu dind.</a:t>
            </a:r>
          </a:p>
          <a:p>
            <a:pPr/>
          </a:p>
          <a:p>
            <a:pPr/>
            <a:r>
              <a:t>compose.yaml</a:t>
            </a:r>
          </a:p>
          <a:p>
            <a:pPr/>
            <a:r>
              <a:t>services:</a:t>
            </a:r>
          </a:p>
          <a:p>
            <a:pPr/>
            <a:r>
              <a:t>  dind:</a:t>
            </a:r>
          </a:p>
          <a:p>
            <a:pPr/>
            <a:r>
              <a:t>    image: docker:dind</a:t>
            </a:r>
          </a:p>
          <a:p>
            <a:pPr/>
            <a:r>
              <a:t>    privileged: true                 # bez ovoga dind ne radi</a:t>
            </a:r>
          </a:p>
          <a:p>
            <a:pPr/>
            <a:r>
              <a:t>    environment:</a:t>
            </a:r>
          </a:p>
          <a:p>
            <a:pPr/>
            <a:r>
              <a:t>      DOCKER_TLS_CERTDIR: /certs     # dind generira certifikate i sluša na 2376 (TLS)</a:t>
            </a:r>
          </a:p>
          <a:p>
            <a:pPr/>
            <a:r>
              <a:t>    volumes:</a:t>
            </a:r>
          </a:p>
          <a:p>
            <a:pPr/>
            <a:r>
              <a:t>      - certs:/certs/client          # klijentski certifikati za app</a:t>
            </a:r>
          </a:p>
          <a:p>
            <a:pPr/>
            <a:r>
              <a:t>      - dind-data:/var/lib/docker    # slike i cache unutarnjeg daemona</a:t>
            </a:r>
          </a:p>
          <a:p>
            <a:pPr/>
            <a:r>
              <a:t>    healthcheck:</a:t>
            </a:r>
          </a:p>
          <a:p>
            <a:pPr/>
            <a:r>
              <a:t>      test: ["CMD", "docker", "info"]</a:t>
            </a:r>
          </a:p>
          <a:p>
            <a:pPr/>
            <a:r>
              <a:t>      interval: 3s</a:t>
            </a:r>
          </a:p>
          <a:p>
            <a:pPr/>
            <a:r>
              <a:t>      retries: 20</a:t>
            </a:r>
          </a:p>
          <a:p>
            <a:pPr/>
            <a:r>
              <a:t>  app:</a:t>
            </a:r>
          </a:p>
          <a:p>
            <a:pPr/>
            <a:r>
              <a:t>    image: docker:cli                # ili vaša slika s docker CLI-jem / Docker SDK-om</a:t>
            </a:r>
          </a:p>
          <a:p>
            <a:pPr/>
            <a:r>
              <a:t>    depends_on:</a:t>
            </a:r>
          </a:p>
          <a:p>
            <a:pPr/>
            <a:r>
              <a:t>      dind:</a:t>
            </a:r>
          </a:p>
          <a:p>
            <a:pPr/>
            <a:r>
              <a:t>        condition: service_healthy</a:t>
            </a:r>
          </a:p>
          <a:p>
            <a:pPr/>
            <a:r>
              <a:t>    environment:</a:t>
            </a:r>
          </a:p>
          <a:p>
            <a:pPr/>
            <a:r>
              <a:t>      DOCKER_HOST: tcp://dind:2376   # "dind" = ime servisa, DNS po imenu (slajd o DNS-u)</a:t>
            </a:r>
          </a:p>
          <a:p>
            <a:pPr/>
            <a:r>
              <a:t>      DOCKER_TLS_VERIFY: "1"</a:t>
            </a:r>
          </a:p>
          <a:p>
            <a:pPr/>
            <a:r>
              <a:t>      DOCKER_CERT_PATH: /certs/client</a:t>
            </a:r>
          </a:p>
          <a:p>
            <a:pPr/>
            <a:r>
              <a:t>    volumes:</a:t>
            </a:r>
          </a:p>
          <a:p>
            <a:pPr/>
            <a:r>
              <a:t>      - certs:/certs/client:ro</a:t>
            </a:r>
          </a:p>
          <a:p>
            <a:pPr/>
            <a:r>
              <a:t>    command: ["docker", "run", "--rm", "hello-world"]</a:t>
            </a:r>
          </a:p>
          <a:p>
            <a:pPr/>
            <a:r>
              <a:t>volumes:</a:t>
            </a:r>
          </a:p>
          <a:p>
            <a:pPr/>
            <a:r>
              <a:t>  certs:</a:t>
            </a:r>
          </a:p>
          <a:p>
            <a:pPr/>
            <a:r>
              <a:t>  dind-data:</a:t>
            </a:r>
          </a:p>
          <a:p>
            <a:pPr/>
          </a:p>
          <a:p>
            <a:pPr/>
            <a:r>
              <a:t>Demo:</a:t>
            </a:r>
          </a:p>
          <a:p>
            <a:pPr/>
            <a:r>
              <a:t>docker compose up                         # app ispiše hello-world</a:t>
            </a:r>
          </a:p>
          <a:p>
            <a:pPr/>
            <a:r>
              <a:t>docker ps -a                              # na hostu: samo dind i app, hello-world se ne vidi</a:t>
            </a:r>
          </a:p>
          <a:p>
            <a:pPr/>
            <a:r>
              <a:t>docker compose exec dind docker ps -a     # hello-world je unutar dind-a</a:t>
            </a:r>
          </a:p>
          <a:p>
            <a:pPr/>
            <a:r>
              <a:t>docker compose exec dind docker images    # vlastiti image store</a:t>
            </a:r>
          </a:p>
          <a:p>
            <a:pPr/>
          </a:p>
          <a:p>
            <a:pPr/>
            <a:r>
              <a:t>Poruke:</a:t>
            </a:r>
          </a:p>
          <a:p>
            <a:pPr/>
            <a:r>
              <a:t>- Isti CLI, drugi daemon: app mijenja samo DOCKER_HOST (veza na slajd o socketu).</a:t>
            </a:r>
          </a:p>
          <a:p>
            <a:pPr/>
            <a:r>
              <a:t>- Port 2376 nije objavljen (nema ports:), dostupan je samo unutar mreže projekta.</a:t>
            </a:r>
          </a:p>
          <a:p>
            <a:pPr/>
            <a:r>
              <a:t>- TLS jer je tcp bez TLS-a otvoren root prema mreži.</a:t>
            </a:r>
          </a:p>
          <a:p>
            <a:pPr/>
            <a:r>
              <a:t>- app ne vidi daemon hosta, ali dind je --privileged: i dalje praktički root na poslužitelju. Koristiti samo za pouzdan kod (CI, izolirani buildovi).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DARK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lick to add title"/>
          <p:cNvSpPr txBox="1"/>
          <p:nvPr>
            <p:ph type="title" hasCustomPrompt="1"/>
          </p:nvPr>
        </p:nvSpPr>
        <p:spPr>
          <a:xfrm>
            <a:off x="548640" y="1463039"/>
            <a:ext cx="8046720" cy="128016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8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9" name="Body Level One…"/>
          <p:cNvSpPr txBox="1"/>
          <p:nvPr>
            <p:ph type="body" sz="quarter" idx="1" hasCustomPrompt="1"/>
          </p:nvPr>
        </p:nvSpPr>
        <p:spPr>
          <a:xfrm>
            <a:off x="548640" y="2880360"/>
            <a:ext cx="8046720" cy="9144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chemeClr val="accent3"/>
                </a:solidFill>
              </a:defRPr>
            </a:lvl1pPr>
            <a:lvl2pPr marL="640896" indent="-183696">
              <a:spcBef>
                <a:spcPts val="400"/>
              </a:spcBef>
              <a:buFontTx/>
              <a:defRPr sz="1800">
                <a:solidFill>
                  <a:schemeClr val="accent3"/>
                </a:solidFill>
              </a:defRPr>
            </a:lvl2pPr>
            <a:lvl3pPr marL="1085850" indent="-171450">
              <a:spcBef>
                <a:spcPts val="400"/>
              </a:spcBef>
              <a:buFontTx/>
              <a:defRPr sz="1800">
                <a:solidFill>
                  <a:schemeClr val="accent3"/>
                </a:solidFill>
              </a:defRPr>
            </a:lvl3pPr>
            <a:lvl4pPr marL="1577339" indent="-205739">
              <a:spcBef>
                <a:spcPts val="400"/>
              </a:spcBef>
              <a:buFontTx/>
              <a:defRPr sz="1800">
                <a:solidFill>
                  <a:schemeClr val="accent3"/>
                </a:solidFill>
              </a:defRPr>
            </a:lvl4pPr>
            <a:lvl5pPr marL="2034539" indent="-205739">
              <a:spcBef>
                <a:spcPts val="400"/>
              </a:spcBef>
              <a:buFontTx/>
              <a:defRPr sz="1800">
                <a:solidFill>
                  <a:schemeClr val="accent3"/>
                </a:solidFill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DARK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lick to add title"/>
          <p:cNvSpPr txBox="1"/>
          <p:nvPr>
            <p:ph type="title" hasCustomPrompt="1"/>
          </p:nvPr>
        </p:nvSpPr>
        <p:spPr>
          <a:xfrm>
            <a:off x="2103120" y="1737360"/>
            <a:ext cx="6492241" cy="91440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28" name="Body Level One…"/>
          <p:cNvSpPr txBox="1"/>
          <p:nvPr>
            <p:ph type="body" sz="quarter" idx="1" hasCustomPrompt="1"/>
          </p:nvPr>
        </p:nvSpPr>
        <p:spPr>
          <a:xfrm>
            <a:off x="2103120" y="2743200"/>
            <a:ext cx="6492241" cy="73152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>
                <a:solidFill>
                  <a:schemeClr val="accent3"/>
                </a:solidFill>
              </a:defRPr>
            </a:lvl1pPr>
            <a:lvl2pPr marL="620485" indent="-163285">
              <a:spcBef>
                <a:spcPts val="300"/>
              </a:spcBef>
              <a:buFontTx/>
              <a:defRPr sz="1600">
                <a:solidFill>
                  <a:schemeClr val="accent3"/>
                </a:solidFill>
              </a:defRPr>
            </a:lvl2pPr>
            <a:lvl3pPr marL="1066800" indent="-152400">
              <a:spcBef>
                <a:spcPts val="300"/>
              </a:spcBef>
              <a:buFontTx/>
              <a:defRPr sz="1600">
                <a:solidFill>
                  <a:schemeClr val="accent3"/>
                </a:solidFill>
              </a:defRPr>
            </a:lvl3pPr>
            <a:lvl4pPr marL="1554480" indent="-182880">
              <a:spcBef>
                <a:spcPts val="300"/>
              </a:spcBef>
              <a:buFontTx/>
              <a:defRPr sz="1600">
                <a:solidFill>
                  <a:schemeClr val="accent3"/>
                </a:solidFill>
              </a:defRPr>
            </a:lvl4pPr>
            <a:lvl5pPr marL="2011679" indent="-182879">
              <a:spcBef>
                <a:spcPts val="300"/>
              </a:spcBef>
              <a:buFontTx/>
              <a:defRPr sz="1600">
                <a:solidFill>
                  <a:schemeClr val="accent3"/>
                </a:solidFill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xfrm>
            <a:off x="8412480" y="4754879"/>
            <a:ext cx="232877" cy="228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 txBox="1"/>
          <p:nvPr/>
        </p:nvSpPr>
        <p:spPr>
          <a:xfrm>
            <a:off x="457200" y="4823504"/>
            <a:ext cx="5486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Praktikum: Razvojne operacije · Tjedan 3 · Blok A</a:t>
            </a:r>
          </a:p>
        </p:txBody>
      </p:sp>
      <p:sp>
        <p:nvSpPr>
          <p:cNvPr id="37" name="Click to add title"/>
          <p:cNvSpPr txBox="1"/>
          <p:nvPr>
            <p:ph type="title" hasCustomPrompt="1"/>
          </p:nvPr>
        </p:nvSpPr>
        <p:spPr>
          <a:xfrm>
            <a:off x="457200" y="274320"/>
            <a:ext cx="8229600" cy="68580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2800">
                <a:solidFill>
                  <a:srgbClr val="0E3B43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xfrm>
            <a:off x="8412480" y="4754879"/>
            <a:ext cx="232877" cy="2285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553200" y="47672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4202B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4202B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 txBox="1"/>
          <p:nvPr>
            <p:ph type="title"/>
          </p:nvPr>
        </p:nvSpPr>
        <p:spPr>
          <a:xfrm>
            <a:off x="548640" y="1463039"/>
            <a:ext cx="8046719" cy="1280161"/>
          </a:xfrm>
          <a:prstGeom prst="rect">
            <a:avLst/>
          </a:prstGeom>
        </p:spPr>
        <p:txBody>
          <a:bodyPr/>
          <a:lstStyle/>
          <a:p>
            <a:pPr/>
            <a:r>
              <a:t>Docker: slike, kontejneri i mreže</a:t>
            </a:r>
          </a:p>
        </p:txBody>
      </p:sp>
      <p:sp>
        <p:nvSpPr>
          <p:cNvPr id="48" name="Text Placeholder 2"/>
          <p:cNvSpPr txBox="1"/>
          <p:nvPr>
            <p:ph type="body" sz="quarter" idx="1"/>
          </p:nvPr>
        </p:nvSpPr>
        <p:spPr>
          <a:xfrm>
            <a:off x="548640" y="2880360"/>
            <a:ext cx="8046719" cy="914401"/>
          </a:xfrm>
          <a:prstGeom prst="rect">
            <a:avLst/>
          </a:prstGeom>
        </p:spPr>
        <p:txBody>
          <a:bodyPr/>
          <a:lstStyle/>
          <a:p>
            <a:pPr/>
            <a:r>
              <a:t>Praktikum: Razvojne operacije · Tjedan 3 · Blok A</a:t>
            </a:r>
          </a:p>
        </p:txBody>
      </p:sp>
      <p:sp>
        <p:nvSpPr>
          <p:cNvPr id="49" name="Rounded Rectangle 3"/>
          <p:cNvSpPr/>
          <p:nvPr/>
        </p:nvSpPr>
        <p:spPr>
          <a:xfrm>
            <a:off x="5760720" y="685800"/>
            <a:ext cx="530353" cy="329185"/>
          </a:xfrm>
          <a:prstGeom prst="roundRect">
            <a:avLst>
              <a:gd name="adj" fmla="val 10000"/>
            </a:avLst>
          </a:prstGeom>
          <a:ln w="28575">
            <a:solidFill>
              <a:schemeClr val="accent3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" name="Connector 4"/>
          <p:cNvSpPr/>
          <p:nvPr/>
        </p:nvSpPr>
        <p:spPr>
          <a:xfrm>
            <a:off x="5893306" y="758951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Connector 5"/>
          <p:cNvSpPr/>
          <p:nvPr/>
        </p:nvSpPr>
        <p:spPr>
          <a:xfrm>
            <a:off x="6025896" y="758951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Connector 6"/>
          <p:cNvSpPr/>
          <p:nvPr/>
        </p:nvSpPr>
        <p:spPr>
          <a:xfrm>
            <a:off x="6158483" y="758951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Rounded Rectangle 7"/>
          <p:cNvSpPr/>
          <p:nvPr/>
        </p:nvSpPr>
        <p:spPr>
          <a:xfrm>
            <a:off x="6355079" y="685800"/>
            <a:ext cx="530353" cy="329185"/>
          </a:xfrm>
          <a:prstGeom prst="roundRect">
            <a:avLst>
              <a:gd name="adj" fmla="val 10000"/>
            </a:avLst>
          </a:prstGeom>
          <a:ln w="28575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" name="Connector 8"/>
          <p:cNvSpPr/>
          <p:nvPr/>
        </p:nvSpPr>
        <p:spPr>
          <a:xfrm>
            <a:off x="6487667" y="758951"/>
            <a:ext cx="1" cy="182881"/>
          </a:xfrm>
          <a:prstGeom prst="line">
            <a:avLst/>
          </a:prstGeom>
          <a:ln w="15875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Connector 9"/>
          <p:cNvSpPr/>
          <p:nvPr/>
        </p:nvSpPr>
        <p:spPr>
          <a:xfrm>
            <a:off x="6620256" y="758951"/>
            <a:ext cx="1" cy="182881"/>
          </a:xfrm>
          <a:prstGeom prst="line">
            <a:avLst/>
          </a:prstGeom>
          <a:ln w="15875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Connector 10"/>
          <p:cNvSpPr/>
          <p:nvPr/>
        </p:nvSpPr>
        <p:spPr>
          <a:xfrm>
            <a:off x="6752843" y="758951"/>
            <a:ext cx="1" cy="182881"/>
          </a:xfrm>
          <a:prstGeom prst="line">
            <a:avLst/>
          </a:prstGeom>
          <a:ln w="15875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Rounded Rectangle 11"/>
          <p:cNvSpPr/>
          <p:nvPr/>
        </p:nvSpPr>
        <p:spPr>
          <a:xfrm>
            <a:off x="6949440" y="685800"/>
            <a:ext cx="530353" cy="329185"/>
          </a:xfrm>
          <a:prstGeom prst="roundRect">
            <a:avLst>
              <a:gd name="adj" fmla="val 10000"/>
            </a:avLst>
          </a:prstGeom>
          <a:ln w="28575">
            <a:solidFill>
              <a:schemeClr val="accent3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" name="Connector 12"/>
          <p:cNvSpPr/>
          <p:nvPr/>
        </p:nvSpPr>
        <p:spPr>
          <a:xfrm>
            <a:off x="7082026" y="758951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Connector 13"/>
          <p:cNvSpPr/>
          <p:nvPr/>
        </p:nvSpPr>
        <p:spPr>
          <a:xfrm>
            <a:off x="7214616" y="758951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Connector 14"/>
          <p:cNvSpPr/>
          <p:nvPr/>
        </p:nvSpPr>
        <p:spPr>
          <a:xfrm>
            <a:off x="7347204" y="758951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Rounded Rectangle 15"/>
          <p:cNvSpPr/>
          <p:nvPr/>
        </p:nvSpPr>
        <p:spPr>
          <a:xfrm>
            <a:off x="6053328" y="301752"/>
            <a:ext cx="530353" cy="329185"/>
          </a:xfrm>
          <a:prstGeom prst="roundRect">
            <a:avLst>
              <a:gd name="adj" fmla="val 10000"/>
            </a:avLst>
          </a:prstGeom>
          <a:ln w="28575">
            <a:solidFill>
              <a:schemeClr val="accent3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" name="Connector 16"/>
          <p:cNvSpPr/>
          <p:nvPr/>
        </p:nvSpPr>
        <p:spPr>
          <a:xfrm>
            <a:off x="6185915" y="374904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Connector 17"/>
          <p:cNvSpPr/>
          <p:nvPr/>
        </p:nvSpPr>
        <p:spPr>
          <a:xfrm>
            <a:off x="6318503" y="374904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Connector 18"/>
          <p:cNvSpPr/>
          <p:nvPr/>
        </p:nvSpPr>
        <p:spPr>
          <a:xfrm>
            <a:off x="6451091" y="374904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Rounded Rectangle 19"/>
          <p:cNvSpPr/>
          <p:nvPr/>
        </p:nvSpPr>
        <p:spPr>
          <a:xfrm>
            <a:off x="6647688" y="301752"/>
            <a:ext cx="530353" cy="329185"/>
          </a:xfrm>
          <a:prstGeom prst="roundRect">
            <a:avLst>
              <a:gd name="adj" fmla="val 10000"/>
            </a:avLst>
          </a:prstGeom>
          <a:ln w="28575">
            <a:solidFill>
              <a:schemeClr val="accent3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" name="Connector 20"/>
          <p:cNvSpPr/>
          <p:nvPr/>
        </p:nvSpPr>
        <p:spPr>
          <a:xfrm>
            <a:off x="6780275" y="374904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Connector 21"/>
          <p:cNvSpPr/>
          <p:nvPr/>
        </p:nvSpPr>
        <p:spPr>
          <a:xfrm>
            <a:off x="6912864" y="374904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Connector 22"/>
          <p:cNvSpPr/>
          <p:nvPr/>
        </p:nvSpPr>
        <p:spPr>
          <a:xfrm>
            <a:off x="7045451" y="374904"/>
            <a:ext cx="1" cy="182881"/>
          </a:xfrm>
          <a:prstGeom prst="line">
            <a:avLst/>
          </a:prstGeom>
          <a:ln w="158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Connector 23"/>
          <p:cNvSpPr/>
          <p:nvPr/>
        </p:nvSpPr>
        <p:spPr>
          <a:xfrm>
            <a:off x="5577840" y="1097280"/>
            <a:ext cx="2057401" cy="1"/>
          </a:xfrm>
          <a:prstGeom prst="line">
            <a:avLst/>
          </a:prstGeom>
          <a:ln w="28575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Sadržaj bloka</a:t>
            </a:r>
          </a:p>
        </p:txBody>
      </p:sp>
      <p:sp>
        <p:nvSpPr>
          <p:cNvPr id="72" name="Rounded Rectangle 2"/>
          <p:cNvSpPr/>
          <p:nvPr/>
        </p:nvSpPr>
        <p:spPr>
          <a:xfrm>
            <a:off x="457200" y="1051560"/>
            <a:ext cx="8229600" cy="457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Oval 3"/>
          <p:cNvSpPr/>
          <p:nvPr/>
        </p:nvSpPr>
        <p:spPr>
          <a:xfrm>
            <a:off x="566927" y="1124711"/>
            <a:ext cx="310897" cy="31089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" name="TextBox 4"/>
          <p:cNvSpPr txBox="1"/>
          <p:nvPr/>
        </p:nvSpPr>
        <p:spPr>
          <a:xfrm>
            <a:off x="566927" y="1213026"/>
            <a:ext cx="31089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" name="TextBox 5"/>
          <p:cNvSpPr txBox="1"/>
          <p:nvPr/>
        </p:nvSpPr>
        <p:spPr>
          <a:xfrm>
            <a:off x="1051559" y="1196779"/>
            <a:ext cx="29260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3B43"/>
                </a:solidFill>
              </a:defRPr>
            </a:lvl1pPr>
          </a:lstStyle>
          <a:p>
            <a:pPr/>
            <a:r>
              <a:t>Zašto Docker</a:t>
            </a:r>
          </a:p>
        </p:txBody>
      </p:sp>
      <p:sp>
        <p:nvSpPr>
          <p:cNvPr id="76" name="TextBox 6"/>
          <p:cNvSpPr txBox="1"/>
          <p:nvPr/>
        </p:nvSpPr>
        <p:spPr>
          <a:xfrm>
            <a:off x="4023359" y="1213026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Problem okruženja, kontejner vs virtualni stroj</a:t>
            </a:r>
          </a:p>
        </p:txBody>
      </p:sp>
      <p:sp>
        <p:nvSpPr>
          <p:cNvPr id="77" name="Rounded Rectangle 7"/>
          <p:cNvSpPr/>
          <p:nvPr/>
        </p:nvSpPr>
        <p:spPr>
          <a:xfrm>
            <a:off x="457200" y="1600200"/>
            <a:ext cx="8229600" cy="45720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" name="Oval 8"/>
          <p:cNvSpPr/>
          <p:nvPr/>
        </p:nvSpPr>
        <p:spPr>
          <a:xfrm>
            <a:off x="566927" y="1673351"/>
            <a:ext cx="310897" cy="31089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" name="TextBox 9"/>
          <p:cNvSpPr txBox="1"/>
          <p:nvPr/>
        </p:nvSpPr>
        <p:spPr>
          <a:xfrm>
            <a:off x="566927" y="1761666"/>
            <a:ext cx="31089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0" name="TextBox 10"/>
          <p:cNvSpPr txBox="1"/>
          <p:nvPr/>
        </p:nvSpPr>
        <p:spPr>
          <a:xfrm>
            <a:off x="1051559" y="1745419"/>
            <a:ext cx="29260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3B43"/>
                </a:solidFill>
              </a:defRPr>
            </a:lvl1pPr>
          </a:lstStyle>
          <a:p>
            <a:pPr/>
            <a:r>
              <a:t>Arhitektura i varijante</a:t>
            </a:r>
          </a:p>
        </p:txBody>
      </p:sp>
      <p:sp>
        <p:nvSpPr>
          <p:cNvPr id="81" name="TextBox 11"/>
          <p:cNvSpPr txBox="1"/>
          <p:nvPr/>
        </p:nvSpPr>
        <p:spPr>
          <a:xfrm>
            <a:off x="4023359" y="1761666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Klijent, daemon, socket; Desktop, Engine (CLI), dind</a:t>
            </a:r>
          </a:p>
        </p:txBody>
      </p:sp>
      <p:sp>
        <p:nvSpPr>
          <p:cNvPr id="82" name="Rounded Rectangle 12"/>
          <p:cNvSpPr/>
          <p:nvPr/>
        </p:nvSpPr>
        <p:spPr>
          <a:xfrm>
            <a:off x="457200" y="2148838"/>
            <a:ext cx="8229600" cy="457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" name="Oval 13"/>
          <p:cNvSpPr/>
          <p:nvPr/>
        </p:nvSpPr>
        <p:spPr>
          <a:xfrm>
            <a:off x="566927" y="2221990"/>
            <a:ext cx="310897" cy="31089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" name="TextBox 14"/>
          <p:cNvSpPr txBox="1"/>
          <p:nvPr/>
        </p:nvSpPr>
        <p:spPr>
          <a:xfrm>
            <a:off x="566927" y="2310305"/>
            <a:ext cx="31089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5" name="TextBox 15"/>
          <p:cNvSpPr txBox="1"/>
          <p:nvPr/>
        </p:nvSpPr>
        <p:spPr>
          <a:xfrm>
            <a:off x="1051559" y="2294058"/>
            <a:ext cx="29260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3B43"/>
                </a:solidFill>
              </a:defRPr>
            </a:lvl1pPr>
          </a:lstStyle>
          <a:p>
            <a:pPr/>
            <a:r>
              <a:t>Umrežavanje</a:t>
            </a:r>
          </a:p>
        </p:txBody>
      </p:sp>
      <p:sp>
        <p:nvSpPr>
          <p:cNvPr id="86" name="TextBox 16"/>
          <p:cNvSpPr txBox="1"/>
          <p:nvPr/>
        </p:nvSpPr>
        <p:spPr>
          <a:xfrm>
            <a:off x="4023359" y="2310305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Mreže, DNS po imenu kontejnera, veza s hostom</a:t>
            </a:r>
          </a:p>
        </p:txBody>
      </p:sp>
      <p:sp>
        <p:nvSpPr>
          <p:cNvPr id="87" name="Rounded Rectangle 17"/>
          <p:cNvSpPr/>
          <p:nvPr/>
        </p:nvSpPr>
        <p:spPr>
          <a:xfrm>
            <a:off x="457200" y="2697478"/>
            <a:ext cx="8229600" cy="457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" name="Oval 18"/>
          <p:cNvSpPr/>
          <p:nvPr/>
        </p:nvSpPr>
        <p:spPr>
          <a:xfrm>
            <a:off x="566927" y="2770632"/>
            <a:ext cx="310897" cy="31089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" name="TextBox 19"/>
          <p:cNvSpPr txBox="1"/>
          <p:nvPr/>
        </p:nvSpPr>
        <p:spPr>
          <a:xfrm>
            <a:off x="566927" y="2858946"/>
            <a:ext cx="31089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0" name="TextBox 20"/>
          <p:cNvSpPr txBox="1"/>
          <p:nvPr/>
        </p:nvSpPr>
        <p:spPr>
          <a:xfrm>
            <a:off x="1051559" y="2842697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3B43"/>
                </a:solidFill>
              </a:defRPr>
            </a:lvl1pPr>
          </a:lstStyle>
          <a:p>
            <a:pPr/>
            <a:r>
              <a:t>Snimanje slike</a:t>
            </a:r>
          </a:p>
        </p:txBody>
      </p:sp>
      <p:sp>
        <p:nvSpPr>
          <p:cNvPr id="91" name="TextBox 21"/>
          <p:cNvSpPr txBox="1"/>
          <p:nvPr/>
        </p:nvSpPr>
        <p:spPr>
          <a:xfrm>
            <a:off x="4023359" y="2858945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Dockerfile, slojevi, cache, multi-stage, korisnik, datotečni sustav, registri</a:t>
            </a:r>
          </a:p>
        </p:txBody>
      </p:sp>
      <p:sp>
        <p:nvSpPr>
          <p:cNvPr id="92" name="Rounded Rectangle 22"/>
          <p:cNvSpPr/>
          <p:nvPr/>
        </p:nvSpPr>
        <p:spPr>
          <a:xfrm>
            <a:off x="457200" y="3246120"/>
            <a:ext cx="8229600" cy="457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" name="Oval 23"/>
          <p:cNvSpPr/>
          <p:nvPr/>
        </p:nvSpPr>
        <p:spPr>
          <a:xfrm>
            <a:off x="566927" y="3319271"/>
            <a:ext cx="310897" cy="31089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" name="TextBox 24"/>
          <p:cNvSpPr txBox="1"/>
          <p:nvPr/>
        </p:nvSpPr>
        <p:spPr>
          <a:xfrm>
            <a:off x="566927" y="3407585"/>
            <a:ext cx="31089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5" name="TextBox 25"/>
          <p:cNvSpPr txBox="1"/>
          <p:nvPr/>
        </p:nvSpPr>
        <p:spPr>
          <a:xfrm>
            <a:off x="1051559" y="3391339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3B43"/>
                </a:solidFill>
              </a:defRPr>
            </a:lvl1pPr>
          </a:lstStyle>
          <a:p>
            <a:pPr/>
            <a:r>
              <a:t>Kontejneri</a:t>
            </a:r>
          </a:p>
        </p:txBody>
      </p:sp>
      <p:sp>
        <p:nvSpPr>
          <p:cNvPr id="96" name="TextBox 26"/>
          <p:cNvSpPr txBox="1"/>
          <p:nvPr/>
        </p:nvSpPr>
        <p:spPr>
          <a:xfrm>
            <a:off x="4023359" y="3407586"/>
            <a:ext cx="4572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Slika vs kontejner, naredbe, gašenje i SIGTERM</a:t>
            </a:r>
          </a:p>
        </p:txBody>
      </p:sp>
      <p:sp>
        <p:nvSpPr>
          <p:cNvPr id="97" name="Rounded Rectangle 27"/>
          <p:cNvSpPr/>
          <p:nvPr/>
        </p:nvSpPr>
        <p:spPr>
          <a:xfrm>
            <a:off x="457200" y="3794759"/>
            <a:ext cx="8229600" cy="457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28"/>
          <p:cNvSpPr/>
          <p:nvPr/>
        </p:nvSpPr>
        <p:spPr>
          <a:xfrm>
            <a:off x="566927" y="3867911"/>
            <a:ext cx="310897" cy="31089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9"/>
          <p:cNvSpPr txBox="1"/>
          <p:nvPr/>
        </p:nvSpPr>
        <p:spPr>
          <a:xfrm>
            <a:off x="566927" y="3956226"/>
            <a:ext cx="31089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0" name="TextBox 30"/>
          <p:cNvSpPr txBox="1"/>
          <p:nvPr/>
        </p:nvSpPr>
        <p:spPr>
          <a:xfrm>
            <a:off x="1051559" y="3939978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3B43"/>
                </a:solidFill>
              </a:defRPr>
            </a:lvl1pPr>
          </a:lstStyle>
          <a:p>
            <a:pPr/>
            <a:r>
              <a:t>Provjera razumijevanja</a:t>
            </a:r>
          </a:p>
        </p:txBody>
      </p:sp>
      <p:sp>
        <p:nvSpPr>
          <p:cNvPr id="101" name="TextBox 31"/>
          <p:cNvSpPr txBox="1"/>
          <p:nvPr/>
        </p:nvSpPr>
        <p:spPr>
          <a:xfrm>
            <a:off x="4023359" y="3956225"/>
            <a:ext cx="45720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6 kratkih pitanja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2103119" y="1737360"/>
            <a:ext cx="6492242" cy="914401"/>
          </a:xfrm>
          <a:prstGeom prst="rect">
            <a:avLst/>
          </a:prstGeom>
        </p:spPr>
        <p:txBody>
          <a:bodyPr/>
          <a:lstStyle/>
          <a:p>
            <a:pPr/>
            <a:r>
              <a:t>Zašto Docker</a:t>
            </a:r>
          </a:p>
        </p:txBody>
      </p:sp>
      <p:sp>
        <p:nvSpPr>
          <p:cNvPr id="104" name="Text Placeholder 2"/>
          <p:cNvSpPr txBox="1"/>
          <p:nvPr>
            <p:ph type="body" sz="quarter" idx="1"/>
          </p:nvPr>
        </p:nvSpPr>
        <p:spPr>
          <a:xfrm>
            <a:off x="2103119" y="2743199"/>
            <a:ext cx="6492242" cy="731522"/>
          </a:xfrm>
          <a:prstGeom prst="rect">
            <a:avLst/>
          </a:prstGeom>
        </p:spPr>
        <p:txBody>
          <a:bodyPr/>
          <a:lstStyle/>
          <a:p>
            <a:pPr/>
            <a:r>
              <a:t>Problem okruženja i kontejner kao rješenje</a:t>
            </a:r>
          </a:p>
        </p:txBody>
      </p:sp>
      <p:sp>
        <p:nvSpPr>
          <p:cNvPr id="105" name="Oval 3"/>
          <p:cNvSpPr/>
          <p:nvPr/>
        </p:nvSpPr>
        <p:spPr>
          <a:xfrm>
            <a:off x="731519" y="1874518"/>
            <a:ext cx="914401" cy="9144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4"/>
          <p:cNvSpPr txBox="1"/>
          <p:nvPr/>
        </p:nvSpPr>
        <p:spPr>
          <a:xfrm>
            <a:off x="731519" y="2155059"/>
            <a:ext cx="9144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"Na mom računalu radi"</a:t>
            </a:r>
          </a:p>
        </p:txBody>
      </p:sp>
      <p:sp>
        <p:nvSpPr>
          <p:cNvPr id="109" name="TextBox 2"/>
          <p:cNvSpPr txBox="1"/>
          <p:nvPr/>
        </p:nvSpPr>
        <p:spPr>
          <a:xfrm>
            <a:off x="457200" y="960119"/>
            <a:ext cx="82296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/>
            </a:pPr>
            <a:r>
              <a:t>Isti kod </a:t>
            </a:r>
            <a:r>
              <a:rPr b="1">
                <a:solidFill>
                  <a:schemeClr val="accent4"/>
                </a:solidFill>
              </a:rPr>
              <a:t>ne ponaša se isto</a:t>
            </a:r>
            <a:r>
              <a:t> na različitim računalima jer okruženje nije dio isporuke.</a:t>
            </a:r>
          </a:p>
        </p:txBody>
      </p:sp>
      <p:sp>
        <p:nvSpPr>
          <p:cNvPr id="110" name="Rounded Rectangle 3"/>
          <p:cNvSpPr/>
          <p:nvPr/>
        </p:nvSpPr>
        <p:spPr>
          <a:xfrm>
            <a:off x="457200" y="1463039"/>
            <a:ext cx="1947673" cy="1783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4"/>
          <p:cNvSpPr/>
          <p:nvPr/>
        </p:nvSpPr>
        <p:spPr>
          <a:xfrm>
            <a:off x="457200" y="1463039"/>
            <a:ext cx="54864" cy="178308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5"/>
          <p:cNvSpPr txBox="1"/>
          <p:nvPr/>
        </p:nvSpPr>
        <p:spPr>
          <a:xfrm>
            <a:off x="640080" y="1572767"/>
            <a:ext cx="167335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Verzije</a:t>
            </a:r>
          </a:p>
        </p:txBody>
      </p:sp>
      <p:sp>
        <p:nvSpPr>
          <p:cNvPr id="113" name="TextBox 6"/>
          <p:cNvSpPr txBox="1"/>
          <p:nvPr/>
        </p:nvSpPr>
        <p:spPr>
          <a:xfrm>
            <a:off x="640080" y="1892807"/>
            <a:ext cx="1673352" cy="629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Python 3.10 kod studenta, 3.12 na poslužitelju; različit glibc, OpenSSL, sistemske biblioteke.</a:t>
            </a:r>
          </a:p>
        </p:txBody>
      </p:sp>
      <p:sp>
        <p:nvSpPr>
          <p:cNvPr id="114" name="Rounded Rectangle 7"/>
          <p:cNvSpPr/>
          <p:nvPr/>
        </p:nvSpPr>
        <p:spPr>
          <a:xfrm>
            <a:off x="2532888" y="1463039"/>
            <a:ext cx="1947673" cy="1783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8"/>
          <p:cNvSpPr/>
          <p:nvPr/>
        </p:nvSpPr>
        <p:spPr>
          <a:xfrm>
            <a:off x="2532888" y="1463039"/>
            <a:ext cx="54865" cy="178308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9"/>
          <p:cNvSpPr txBox="1"/>
          <p:nvPr/>
        </p:nvSpPr>
        <p:spPr>
          <a:xfrm>
            <a:off x="2715767" y="1572767"/>
            <a:ext cx="167335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Ovisnosti</a:t>
            </a:r>
          </a:p>
        </p:txBody>
      </p:sp>
      <p:sp>
        <p:nvSpPr>
          <p:cNvPr id="117" name="TextBox 10"/>
          <p:cNvSpPr txBox="1"/>
          <p:nvPr/>
        </p:nvSpPr>
        <p:spPr>
          <a:xfrm>
            <a:off x="2715767" y="1892807"/>
            <a:ext cx="1673352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Dva projekta trebaju različite verzije istog paketa ili sistemske biblioteke.</a:t>
            </a:r>
          </a:p>
        </p:txBody>
      </p:sp>
      <p:sp>
        <p:nvSpPr>
          <p:cNvPr id="118" name="Rounded Rectangle 11"/>
          <p:cNvSpPr/>
          <p:nvPr/>
        </p:nvSpPr>
        <p:spPr>
          <a:xfrm>
            <a:off x="4608576" y="1463039"/>
            <a:ext cx="1947673" cy="1783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12"/>
          <p:cNvSpPr/>
          <p:nvPr/>
        </p:nvSpPr>
        <p:spPr>
          <a:xfrm>
            <a:off x="4608576" y="1463039"/>
            <a:ext cx="54865" cy="178308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13"/>
          <p:cNvSpPr txBox="1"/>
          <p:nvPr/>
        </p:nvSpPr>
        <p:spPr>
          <a:xfrm>
            <a:off x="4791456" y="1572767"/>
            <a:ext cx="167335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Konfiguracija</a:t>
            </a:r>
          </a:p>
        </p:txBody>
      </p:sp>
      <p:sp>
        <p:nvSpPr>
          <p:cNvPr id="121" name="TextBox 14"/>
          <p:cNvSpPr txBox="1"/>
          <p:nvPr/>
        </p:nvSpPr>
        <p:spPr>
          <a:xfrm>
            <a:off x="4791456" y="1892807"/>
            <a:ext cx="1673351" cy="629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Ručno postavljen poslužitelj: nitko ne zna točno što je instalirano (configuration drift).</a:t>
            </a:r>
          </a:p>
        </p:txBody>
      </p:sp>
      <p:sp>
        <p:nvSpPr>
          <p:cNvPr id="122" name="Rounded Rectangle 15"/>
          <p:cNvSpPr/>
          <p:nvPr/>
        </p:nvSpPr>
        <p:spPr>
          <a:xfrm>
            <a:off x="6684264" y="1463039"/>
            <a:ext cx="1947673" cy="1783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Rectangle 16"/>
          <p:cNvSpPr/>
          <p:nvPr/>
        </p:nvSpPr>
        <p:spPr>
          <a:xfrm>
            <a:off x="6684264" y="1463039"/>
            <a:ext cx="54865" cy="178308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17"/>
          <p:cNvSpPr txBox="1"/>
          <p:nvPr/>
        </p:nvSpPr>
        <p:spPr>
          <a:xfrm>
            <a:off x="6867143" y="1572767"/>
            <a:ext cx="167335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Uvođenje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6867143" y="1892807"/>
            <a:ext cx="1673352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Novi član tima pola dana slaže okruženje prema zastarjelom README-u.</a:t>
            </a:r>
          </a:p>
        </p:txBody>
      </p:sp>
      <p:sp>
        <p:nvSpPr>
          <p:cNvPr id="126" name="Rounded Rectangle 19"/>
          <p:cNvSpPr/>
          <p:nvPr/>
        </p:nvSpPr>
        <p:spPr>
          <a:xfrm>
            <a:off x="457200" y="3474720"/>
            <a:ext cx="8229600" cy="777241"/>
          </a:xfrm>
          <a:prstGeom prst="roundRect">
            <a:avLst>
              <a:gd name="adj" fmla="val 4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0"/>
          <p:cNvSpPr txBox="1"/>
          <p:nvPr/>
        </p:nvSpPr>
        <p:spPr>
          <a:xfrm>
            <a:off x="640079" y="3678359"/>
            <a:ext cx="786384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chemeClr val="accent3"/>
                </a:solidFill>
              </a:defRPr>
            </a:pPr>
            <a:r>
              <a:t>Ideja kontejnera: </a:t>
            </a:r>
            <a:r>
              <a:rPr b="0">
                <a:solidFill>
                  <a:srgbClr val="FFFFFF"/>
                </a:solidFill>
              </a:rPr>
              <a:t>aplikacija se isporučuje zajedno s okruženjem (OS biblioteke, runtime, ovisnosti, konfiguracija) kao jedna nepromjenjiva slika koja se pokreće isto na laptopu, u CI-ju i na poslužitelju.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Virtualni stroj i kontejner</a:t>
            </a:r>
          </a:p>
        </p:txBody>
      </p:sp>
      <p:sp>
        <p:nvSpPr>
          <p:cNvPr id="130" name="TextBox 2"/>
          <p:cNvSpPr txBox="1"/>
          <p:nvPr/>
        </p:nvSpPr>
        <p:spPr>
          <a:xfrm>
            <a:off x="457199" y="914399"/>
            <a:ext cx="40233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Virtual machines (VirtualBox)</a:t>
            </a:r>
          </a:p>
        </p:txBody>
      </p:sp>
      <p:sp>
        <p:nvSpPr>
          <p:cNvPr id="131" name="TextBox 3"/>
          <p:cNvSpPr txBox="1"/>
          <p:nvPr/>
        </p:nvSpPr>
        <p:spPr>
          <a:xfrm>
            <a:off x="4663440" y="914399"/>
            <a:ext cx="402336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Containers (Docker)</a:t>
            </a:r>
          </a:p>
        </p:txBody>
      </p:sp>
      <p:sp>
        <p:nvSpPr>
          <p:cNvPr id="132" name="Rounded Rectangle 4"/>
          <p:cNvSpPr/>
          <p:nvPr/>
        </p:nvSpPr>
        <p:spPr>
          <a:xfrm>
            <a:off x="457200" y="1280160"/>
            <a:ext cx="1965961" cy="384049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5"/>
          <p:cNvSpPr txBox="1"/>
          <p:nvPr/>
        </p:nvSpPr>
        <p:spPr>
          <a:xfrm>
            <a:off x="502920" y="1398269"/>
            <a:ext cx="187451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A</a:t>
            </a:r>
          </a:p>
        </p:txBody>
      </p:sp>
      <p:sp>
        <p:nvSpPr>
          <p:cNvPr id="134" name="Rounded Rectangle 6"/>
          <p:cNvSpPr/>
          <p:nvPr/>
        </p:nvSpPr>
        <p:spPr>
          <a:xfrm>
            <a:off x="457200" y="1719072"/>
            <a:ext cx="1965961" cy="384049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7"/>
          <p:cNvSpPr txBox="1"/>
          <p:nvPr/>
        </p:nvSpPr>
        <p:spPr>
          <a:xfrm>
            <a:off x="502920" y="1837181"/>
            <a:ext cx="187451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Bins / Libs</a:t>
            </a:r>
          </a:p>
        </p:txBody>
      </p:sp>
      <p:sp>
        <p:nvSpPr>
          <p:cNvPr id="136" name="Rounded Rectangle 8"/>
          <p:cNvSpPr/>
          <p:nvPr/>
        </p:nvSpPr>
        <p:spPr>
          <a:xfrm>
            <a:off x="457200" y="2157983"/>
            <a:ext cx="1965961" cy="384049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9"/>
          <p:cNvSpPr txBox="1"/>
          <p:nvPr/>
        </p:nvSpPr>
        <p:spPr>
          <a:xfrm>
            <a:off x="502920" y="2276093"/>
            <a:ext cx="187451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Guest OS + kernel</a:t>
            </a:r>
          </a:p>
        </p:txBody>
      </p:sp>
      <p:sp>
        <p:nvSpPr>
          <p:cNvPr id="138" name="Rounded Rectangle 10"/>
          <p:cNvSpPr/>
          <p:nvPr/>
        </p:nvSpPr>
        <p:spPr>
          <a:xfrm>
            <a:off x="2514600" y="1280160"/>
            <a:ext cx="1965961" cy="384049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11"/>
          <p:cNvSpPr txBox="1"/>
          <p:nvPr/>
        </p:nvSpPr>
        <p:spPr>
          <a:xfrm>
            <a:off x="2560320" y="1398269"/>
            <a:ext cx="187451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B</a:t>
            </a:r>
          </a:p>
        </p:txBody>
      </p:sp>
      <p:sp>
        <p:nvSpPr>
          <p:cNvPr id="140" name="Rounded Rectangle 12"/>
          <p:cNvSpPr/>
          <p:nvPr/>
        </p:nvSpPr>
        <p:spPr>
          <a:xfrm>
            <a:off x="2514600" y="1719072"/>
            <a:ext cx="1965961" cy="384049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13"/>
          <p:cNvSpPr txBox="1"/>
          <p:nvPr/>
        </p:nvSpPr>
        <p:spPr>
          <a:xfrm>
            <a:off x="2560320" y="1837181"/>
            <a:ext cx="187451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Bins / Libs</a:t>
            </a:r>
          </a:p>
        </p:txBody>
      </p:sp>
      <p:sp>
        <p:nvSpPr>
          <p:cNvPr id="142" name="Rounded Rectangle 14"/>
          <p:cNvSpPr/>
          <p:nvPr/>
        </p:nvSpPr>
        <p:spPr>
          <a:xfrm>
            <a:off x="2514600" y="2157983"/>
            <a:ext cx="1965961" cy="384049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15"/>
          <p:cNvSpPr txBox="1"/>
          <p:nvPr/>
        </p:nvSpPr>
        <p:spPr>
          <a:xfrm>
            <a:off x="2560320" y="2276093"/>
            <a:ext cx="187451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Guest OS + kernel</a:t>
            </a:r>
          </a:p>
        </p:txBody>
      </p:sp>
      <p:sp>
        <p:nvSpPr>
          <p:cNvPr id="144" name="Rounded Rectangle 16"/>
          <p:cNvSpPr/>
          <p:nvPr/>
        </p:nvSpPr>
        <p:spPr>
          <a:xfrm>
            <a:off x="457200" y="2633472"/>
            <a:ext cx="4023360" cy="384049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17"/>
          <p:cNvSpPr txBox="1"/>
          <p:nvPr/>
        </p:nvSpPr>
        <p:spPr>
          <a:xfrm>
            <a:off x="502919" y="2751581"/>
            <a:ext cx="393192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Hypervisor (VirtualBox, Hyper-V, KVM)</a:t>
            </a:r>
          </a:p>
        </p:txBody>
      </p:sp>
      <p:sp>
        <p:nvSpPr>
          <p:cNvPr id="146" name="Rounded Rectangle 18"/>
          <p:cNvSpPr/>
          <p:nvPr/>
        </p:nvSpPr>
        <p:spPr>
          <a:xfrm>
            <a:off x="457200" y="3072383"/>
            <a:ext cx="4023360" cy="384049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9"/>
          <p:cNvSpPr txBox="1"/>
          <p:nvPr/>
        </p:nvSpPr>
        <p:spPr>
          <a:xfrm>
            <a:off x="502919" y="3190493"/>
            <a:ext cx="393192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Host OS</a:t>
            </a:r>
          </a:p>
        </p:txBody>
      </p:sp>
      <p:sp>
        <p:nvSpPr>
          <p:cNvPr id="148" name="Rounded Rectangle 20"/>
          <p:cNvSpPr/>
          <p:nvPr/>
        </p:nvSpPr>
        <p:spPr>
          <a:xfrm>
            <a:off x="457200" y="3511296"/>
            <a:ext cx="4023360" cy="384049"/>
          </a:xfrm>
          <a:prstGeom prst="roundRect">
            <a:avLst>
              <a:gd name="adj" fmla="val 15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21"/>
          <p:cNvSpPr txBox="1"/>
          <p:nvPr/>
        </p:nvSpPr>
        <p:spPr>
          <a:xfrm>
            <a:off x="502919" y="3629405"/>
            <a:ext cx="393192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150" name="Rounded Rectangle 22"/>
          <p:cNvSpPr/>
          <p:nvPr/>
        </p:nvSpPr>
        <p:spPr>
          <a:xfrm>
            <a:off x="4663440" y="1719072"/>
            <a:ext cx="1280161" cy="384049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3"/>
          <p:cNvSpPr txBox="1"/>
          <p:nvPr/>
        </p:nvSpPr>
        <p:spPr>
          <a:xfrm>
            <a:off x="4709159" y="1837181"/>
            <a:ext cx="118872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A</a:t>
            </a:r>
          </a:p>
        </p:txBody>
      </p:sp>
      <p:sp>
        <p:nvSpPr>
          <p:cNvPr id="152" name="Rounded Rectangle 24"/>
          <p:cNvSpPr/>
          <p:nvPr/>
        </p:nvSpPr>
        <p:spPr>
          <a:xfrm>
            <a:off x="4663440" y="2157983"/>
            <a:ext cx="1280161" cy="384049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25"/>
          <p:cNvSpPr txBox="1"/>
          <p:nvPr/>
        </p:nvSpPr>
        <p:spPr>
          <a:xfrm>
            <a:off x="4709159" y="2276093"/>
            <a:ext cx="118872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Bins / Libs</a:t>
            </a:r>
          </a:p>
        </p:txBody>
      </p:sp>
      <p:sp>
        <p:nvSpPr>
          <p:cNvPr id="154" name="Rounded Rectangle 26"/>
          <p:cNvSpPr/>
          <p:nvPr/>
        </p:nvSpPr>
        <p:spPr>
          <a:xfrm>
            <a:off x="6035040" y="1719072"/>
            <a:ext cx="1280161" cy="384049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27"/>
          <p:cNvSpPr txBox="1"/>
          <p:nvPr/>
        </p:nvSpPr>
        <p:spPr>
          <a:xfrm>
            <a:off x="6080759" y="1837181"/>
            <a:ext cx="118872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B</a:t>
            </a:r>
          </a:p>
        </p:txBody>
      </p:sp>
      <p:sp>
        <p:nvSpPr>
          <p:cNvPr id="156" name="Rounded Rectangle 28"/>
          <p:cNvSpPr/>
          <p:nvPr/>
        </p:nvSpPr>
        <p:spPr>
          <a:xfrm>
            <a:off x="6035040" y="2157983"/>
            <a:ext cx="1280161" cy="384049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9"/>
          <p:cNvSpPr txBox="1"/>
          <p:nvPr/>
        </p:nvSpPr>
        <p:spPr>
          <a:xfrm>
            <a:off x="6080759" y="2276093"/>
            <a:ext cx="118872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Bins / Libs</a:t>
            </a:r>
          </a:p>
        </p:txBody>
      </p:sp>
      <p:sp>
        <p:nvSpPr>
          <p:cNvPr id="158" name="Rounded Rectangle 30"/>
          <p:cNvSpPr/>
          <p:nvPr/>
        </p:nvSpPr>
        <p:spPr>
          <a:xfrm>
            <a:off x="7406640" y="1719072"/>
            <a:ext cx="1280161" cy="384049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31"/>
          <p:cNvSpPr txBox="1"/>
          <p:nvPr/>
        </p:nvSpPr>
        <p:spPr>
          <a:xfrm>
            <a:off x="7452359" y="1837181"/>
            <a:ext cx="118872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C</a:t>
            </a:r>
          </a:p>
        </p:txBody>
      </p:sp>
      <p:sp>
        <p:nvSpPr>
          <p:cNvPr id="160" name="Rounded Rectangle 32"/>
          <p:cNvSpPr/>
          <p:nvPr/>
        </p:nvSpPr>
        <p:spPr>
          <a:xfrm>
            <a:off x="7406640" y="2157983"/>
            <a:ext cx="1280161" cy="384049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33"/>
          <p:cNvSpPr txBox="1"/>
          <p:nvPr/>
        </p:nvSpPr>
        <p:spPr>
          <a:xfrm>
            <a:off x="7452359" y="2276093"/>
            <a:ext cx="118872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Bins / Libs</a:t>
            </a:r>
          </a:p>
        </p:txBody>
      </p:sp>
      <p:sp>
        <p:nvSpPr>
          <p:cNvPr id="162" name="Rounded Rectangle 34"/>
          <p:cNvSpPr/>
          <p:nvPr/>
        </p:nvSpPr>
        <p:spPr>
          <a:xfrm>
            <a:off x="4663440" y="2633472"/>
            <a:ext cx="4023360" cy="384049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35"/>
          <p:cNvSpPr txBox="1"/>
          <p:nvPr/>
        </p:nvSpPr>
        <p:spPr>
          <a:xfrm>
            <a:off x="4709159" y="2751581"/>
            <a:ext cx="39319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 engine (Docker)</a:t>
            </a:r>
          </a:p>
        </p:txBody>
      </p:sp>
      <p:sp>
        <p:nvSpPr>
          <p:cNvPr id="164" name="Rounded Rectangle 36"/>
          <p:cNvSpPr/>
          <p:nvPr/>
        </p:nvSpPr>
        <p:spPr>
          <a:xfrm>
            <a:off x="4663440" y="3072383"/>
            <a:ext cx="4023360" cy="384049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37"/>
          <p:cNvSpPr txBox="1"/>
          <p:nvPr/>
        </p:nvSpPr>
        <p:spPr>
          <a:xfrm>
            <a:off x="4709159" y="3190493"/>
            <a:ext cx="39319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Host OS + shared kernel</a:t>
            </a:r>
          </a:p>
        </p:txBody>
      </p:sp>
      <p:sp>
        <p:nvSpPr>
          <p:cNvPr id="166" name="Rounded Rectangle 38"/>
          <p:cNvSpPr/>
          <p:nvPr/>
        </p:nvSpPr>
        <p:spPr>
          <a:xfrm>
            <a:off x="4663440" y="3511296"/>
            <a:ext cx="4023360" cy="384049"/>
          </a:xfrm>
          <a:prstGeom prst="roundRect">
            <a:avLst>
              <a:gd name="adj" fmla="val 15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39"/>
          <p:cNvSpPr txBox="1"/>
          <p:nvPr/>
        </p:nvSpPr>
        <p:spPr>
          <a:xfrm>
            <a:off x="4709159" y="3629405"/>
            <a:ext cx="393192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168" name="TextBox 40"/>
          <p:cNvSpPr txBox="1"/>
          <p:nvPr/>
        </p:nvSpPr>
        <p:spPr>
          <a:xfrm>
            <a:off x="457199" y="4023359"/>
            <a:ext cx="40233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Svaki VM ima vlastiti kernel: jača izolacija, minute i GB.</a:t>
            </a:r>
          </a:p>
        </p:txBody>
      </p:sp>
      <p:sp>
        <p:nvSpPr>
          <p:cNvPr id="169" name="TextBox 41"/>
          <p:cNvSpPr txBox="1"/>
          <p:nvPr/>
        </p:nvSpPr>
        <p:spPr>
          <a:xfrm>
            <a:off x="4663440" y="4023359"/>
            <a:ext cx="402336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Kontejneri dijele kernel hosta: sekunde i MB.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Kako kontejner radi: tri značajke Linux kernela</a:t>
            </a:r>
          </a:p>
        </p:txBody>
      </p:sp>
      <p:sp>
        <p:nvSpPr>
          <p:cNvPr id="172" name="Rounded Rectangle 2"/>
          <p:cNvSpPr/>
          <p:nvPr/>
        </p:nvSpPr>
        <p:spPr>
          <a:xfrm>
            <a:off x="457200" y="1005839"/>
            <a:ext cx="2651761" cy="2926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Oval 3"/>
          <p:cNvSpPr/>
          <p:nvPr/>
        </p:nvSpPr>
        <p:spPr>
          <a:xfrm>
            <a:off x="640080" y="1142999"/>
            <a:ext cx="365761" cy="36576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4"/>
          <p:cNvSpPr txBox="1"/>
          <p:nvPr/>
        </p:nvSpPr>
        <p:spPr>
          <a:xfrm>
            <a:off x="640080" y="1247447"/>
            <a:ext cx="365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5" name="TextBox 5"/>
          <p:cNvSpPr txBox="1"/>
          <p:nvPr/>
        </p:nvSpPr>
        <p:spPr>
          <a:xfrm>
            <a:off x="1143000" y="1221046"/>
            <a:ext cx="182880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Namespaces</a:t>
            </a:r>
          </a:p>
        </p:txBody>
      </p:sp>
      <p:sp>
        <p:nvSpPr>
          <p:cNvPr id="176" name="TextBox 6"/>
          <p:cNvSpPr txBox="1"/>
          <p:nvPr/>
        </p:nvSpPr>
        <p:spPr>
          <a:xfrm>
            <a:off x="640080" y="1645920"/>
            <a:ext cx="2286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Što proces vidi</a:t>
            </a:r>
          </a:p>
        </p:txBody>
      </p:sp>
      <p:sp>
        <p:nvSpPr>
          <p:cNvPr id="177" name="TextBox 7"/>
          <p:cNvSpPr txBox="1"/>
          <p:nvPr/>
        </p:nvSpPr>
        <p:spPr>
          <a:xfrm>
            <a:off x="640080" y="1965960"/>
            <a:ext cx="2286001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/>
            </a:lvl1pPr>
          </a:lstStyle>
          <a:p>
            <a:pPr/>
            <a:r>
              <a:t>Vlastiti PID-ovi (aplikacija je PID 1), mrežna sučelja, hostname, mount točke, korisnici.</a:t>
            </a:r>
          </a:p>
        </p:txBody>
      </p:sp>
      <p:sp>
        <p:nvSpPr>
          <p:cNvPr id="178" name="Rounded Rectangle 8"/>
          <p:cNvSpPr/>
          <p:nvPr/>
        </p:nvSpPr>
        <p:spPr>
          <a:xfrm>
            <a:off x="640080" y="3337559"/>
            <a:ext cx="2286001" cy="411481"/>
          </a:xfrm>
          <a:prstGeom prst="roundRect">
            <a:avLst>
              <a:gd name="adj" fmla="val 12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9"/>
          <p:cNvSpPr txBox="1"/>
          <p:nvPr/>
        </p:nvSpPr>
        <p:spPr>
          <a:xfrm>
            <a:off x="731518" y="3479799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pid  net  mnt  uts  ipc  user</a:t>
            </a:r>
          </a:p>
        </p:txBody>
      </p:sp>
      <p:sp>
        <p:nvSpPr>
          <p:cNvPr id="180" name="Rounded Rectangle 10"/>
          <p:cNvSpPr/>
          <p:nvPr/>
        </p:nvSpPr>
        <p:spPr>
          <a:xfrm>
            <a:off x="3246120" y="1005839"/>
            <a:ext cx="2651761" cy="2926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Oval 11"/>
          <p:cNvSpPr/>
          <p:nvPr/>
        </p:nvSpPr>
        <p:spPr>
          <a:xfrm>
            <a:off x="3428999" y="1142999"/>
            <a:ext cx="365762" cy="365762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12"/>
          <p:cNvSpPr txBox="1"/>
          <p:nvPr/>
        </p:nvSpPr>
        <p:spPr>
          <a:xfrm>
            <a:off x="3428999" y="1247447"/>
            <a:ext cx="3657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3" name="TextBox 13"/>
          <p:cNvSpPr txBox="1"/>
          <p:nvPr/>
        </p:nvSpPr>
        <p:spPr>
          <a:xfrm>
            <a:off x="3931920" y="1221046"/>
            <a:ext cx="18288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cgroups</a:t>
            </a:r>
          </a:p>
        </p:txBody>
      </p:sp>
      <p:sp>
        <p:nvSpPr>
          <p:cNvPr id="184" name="TextBox 14"/>
          <p:cNvSpPr txBox="1"/>
          <p:nvPr/>
        </p:nvSpPr>
        <p:spPr>
          <a:xfrm>
            <a:off x="3429000" y="1645920"/>
            <a:ext cx="22860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2"/>
                </a:solidFill>
              </a:defRPr>
            </a:lvl1pPr>
          </a:lstStyle>
          <a:p>
            <a:pPr/>
            <a:r>
              <a:t>Koliko proces smije potrošiti</a:t>
            </a:r>
          </a:p>
        </p:txBody>
      </p:sp>
      <p:sp>
        <p:nvSpPr>
          <p:cNvPr id="185" name="TextBox 15"/>
          <p:cNvSpPr txBox="1"/>
          <p:nvPr/>
        </p:nvSpPr>
        <p:spPr>
          <a:xfrm>
            <a:off x="3429000" y="1965960"/>
            <a:ext cx="2286000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/>
            </a:lvl1pPr>
          </a:lstStyle>
          <a:p>
            <a:pPr/>
            <a:r>
              <a:t>Ograničenja CPU-a, memorije i I/O-a po kontejneru.</a:t>
            </a:r>
          </a:p>
        </p:txBody>
      </p:sp>
      <p:sp>
        <p:nvSpPr>
          <p:cNvPr id="186" name="Rounded Rectangle 16"/>
          <p:cNvSpPr/>
          <p:nvPr/>
        </p:nvSpPr>
        <p:spPr>
          <a:xfrm>
            <a:off x="3429000" y="3337559"/>
            <a:ext cx="2286000" cy="411481"/>
          </a:xfrm>
          <a:prstGeom prst="roundRect">
            <a:avLst>
              <a:gd name="adj" fmla="val 12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7"/>
          <p:cNvSpPr txBox="1"/>
          <p:nvPr/>
        </p:nvSpPr>
        <p:spPr>
          <a:xfrm>
            <a:off x="3520440" y="3479799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--memory 512m --cpus 1</a:t>
            </a:r>
          </a:p>
        </p:txBody>
      </p:sp>
      <p:sp>
        <p:nvSpPr>
          <p:cNvPr id="188" name="Rounded Rectangle 18"/>
          <p:cNvSpPr/>
          <p:nvPr/>
        </p:nvSpPr>
        <p:spPr>
          <a:xfrm>
            <a:off x="6035040" y="1005839"/>
            <a:ext cx="2651761" cy="29260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Oval 19"/>
          <p:cNvSpPr/>
          <p:nvPr/>
        </p:nvSpPr>
        <p:spPr>
          <a:xfrm>
            <a:off x="6217920" y="1142999"/>
            <a:ext cx="365761" cy="365762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20"/>
          <p:cNvSpPr txBox="1"/>
          <p:nvPr/>
        </p:nvSpPr>
        <p:spPr>
          <a:xfrm>
            <a:off x="6217920" y="1247447"/>
            <a:ext cx="365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91" name="TextBox 21"/>
          <p:cNvSpPr txBox="1"/>
          <p:nvPr/>
        </p:nvSpPr>
        <p:spPr>
          <a:xfrm>
            <a:off x="6720840" y="1221046"/>
            <a:ext cx="18288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Union filesystem</a:t>
            </a:r>
          </a:p>
        </p:txBody>
      </p:sp>
      <p:sp>
        <p:nvSpPr>
          <p:cNvPr id="192" name="TextBox 22"/>
          <p:cNvSpPr txBox="1"/>
          <p:nvPr/>
        </p:nvSpPr>
        <p:spPr>
          <a:xfrm>
            <a:off x="6217920" y="1645920"/>
            <a:ext cx="2286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5"/>
                </a:solidFill>
              </a:defRPr>
            </a:lvl1pPr>
          </a:lstStyle>
          <a:p>
            <a:pPr/>
            <a:r>
              <a:t>Iz čega se sastoji disk</a:t>
            </a:r>
          </a:p>
        </p:txBody>
      </p:sp>
      <p:sp>
        <p:nvSpPr>
          <p:cNvPr id="193" name="TextBox 23"/>
          <p:cNvSpPr txBox="1"/>
          <p:nvPr/>
        </p:nvSpPr>
        <p:spPr>
          <a:xfrm>
            <a:off x="6217920" y="1965960"/>
            <a:ext cx="2286001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/>
            </a:lvl1pPr>
          </a:lstStyle>
          <a:p>
            <a:pPr/>
            <a:r>
              <a:t>Slojevi slike samo za čitanje + tanki sloj za pisanje (overlayfs).</a:t>
            </a:r>
          </a:p>
        </p:txBody>
      </p:sp>
      <p:sp>
        <p:nvSpPr>
          <p:cNvPr id="194" name="Rounded Rectangle 24"/>
          <p:cNvSpPr/>
          <p:nvPr/>
        </p:nvSpPr>
        <p:spPr>
          <a:xfrm>
            <a:off x="6217920" y="3337559"/>
            <a:ext cx="2286001" cy="411481"/>
          </a:xfrm>
          <a:prstGeom prst="roundRect">
            <a:avLst>
              <a:gd name="adj" fmla="val 12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25"/>
          <p:cNvSpPr txBox="1"/>
          <p:nvPr/>
        </p:nvSpPr>
        <p:spPr>
          <a:xfrm>
            <a:off x="6309359" y="3479799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history &lt;image&gt;</a:t>
            </a:r>
          </a:p>
        </p:txBody>
      </p:sp>
      <p:sp>
        <p:nvSpPr>
          <p:cNvPr id="196" name="TextBox 26"/>
          <p:cNvSpPr txBox="1"/>
          <p:nvPr/>
        </p:nvSpPr>
        <p:spPr>
          <a:xfrm>
            <a:off x="457200" y="4114799"/>
            <a:ext cx="8229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chemeClr val="accent1"/>
                </a:solidFill>
              </a:defRPr>
            </a:pPr>
            <a:r>
              <a:t>Kontejner = običan Linux proces </a:t>
            </a:r>
            <a:r>
              <a:rPr b="0">
                <a:solidFill>
                  <a:srgbClr val="14202B"/>
                </a:solidFill>
              </a:rPr>
              <a:t>s ograničenim pogledom i resursima. Provjera na hostu: ps aux | grep &lt;naredba&gt;.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1"/>
          <p:cNvSpPr txBox="1"/>
          <p:nvPr>
            <p:ph type="title"/>
          </p:nvPr>
        </p:nvSpPr>
        <p:spPr>
          <a:xfrm>
            <a:off x="2103119" y="1737360"/>
            <a:ext cx="6492242" cy="914401"/>
          </a:xfrm>
          <a:prstGeom prst="rect">
            <a:avLst/>
          </a:prstGeom>
        </p:spPr>
        <p:txBody>
          <a:bodyPr/>
          <a:lstStyle/>
          <a:p>
            <a:pPr/>
            <a:r>
              <a:t>Arhitektura i varijante</a:t>
            </a:r>
          </a:p>
        </p:txBody>
      </p:sp>
      <p:sp>
        <p:nvSpPr>
          <p:cNvPr id="199" name="Text Placeholder 2"/>
          <p:cNvSpPr txBox="1"/>
          <p:nvPr>
            <p:ph type="body" sz="quarter" idx="1"/>
          </p:nvPr>
        </p:nvSpPr>
        <p:spPr>
          <a:xfrm>
            <a:off x="2103119" y="2743199"/>
            <a:ext cx="6492242" cy="731522"/>
          </a:xfrm>
          <a:prstGeom prst="rect">
            <a:avLst/>
          </a:prstGeom>
        </p:spPr>
        <p:txBody>
          <a:bodyPr/>
          <a:lstStyle/>
          <a:p>
            <a:pPr/>
            <a:r>
              <a:t>Klijent, daemon, socket; Desktop, Engine, Docker-in-Docker</a:t>
            </a:r>
          </a:p>
        </p:txBody>
      </p:sp>
      <p:sp>
        <p:nvSpPr>
          <p:cNvPr id="200" name="Oval 3"/>
          <p:cNvSpPr/>
          <p:nvPr/>
        </p:nvSpPr>
        <p:spPr>
          <a:xfrm>
            <a:off x="731519" y="1874518"/>
            <a:ext cx="914401" cy="9144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4"/>
          <p:cNvSpPr txBox="1"/>
          <p:nvPr/>
        </p:nvSpPr>
        <p:spPr>
          <a:xfrm>
            <a:off x="731519" y="2155059"/>
            <a:ext cx="9144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Klijent, daemon i socket</a:t>
            </a:r>
          </a:p>
        </p:txBody>
      </p:sp>
      <p:sp>
        <p:nvSpPr>
          <p:cNvPr id="204" name="Rounded Rectangle 2"/>
          <p:cNvSpPr/>
          <p:nvPr/>
        </p:nvSpPr>
        <p:spPr>
          <a:xfrm>
            <a:off x="457200" y="1463039"/>
            <a:ext cx="1554481" cy="548641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3"/>
          <p:cNvSpPr txBox="1"/>
          <p:nvPr/>
        </p:nvSpPr>
        <p:spPr>
          <a:xfrm>
            <a:off x="502919" y="1661159"/>
            <a:ext cx="1463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CLI</a:t>
            </a:r>
          </a:p>
        </p:txBody>
      </p:sp>
      <p:sp>
        <p:nvSpPr>
          <p:cNvPr id="206" name="TextBox 4"/>
          <p:cNvSpPr txBox="1"/>
          <p:nvPr/>
        </p:nvSpPr>
        <p:spPr>
          <a:xfrm>
            <a:off x="457199" y="2057399"/>
            <a:ext cx="15544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build</a:t>
            </a:r>
          </a:p>
          <a:p>
            <a:pPr algn="ctr"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run ...</a:t>
            </a:r>
          </a:p>
        </p:txBody>
      </p:sp>
      <p:sp>
        <p:nvSpPr>
          <p:cNvPr id="207" name="Connector 5"/>
          <p:cNvSpPr/>
          <p:nvPr/>
        </p:nvSpPr>
        <p:spPr>
          <a:xfrm>
            <a:off x="2011679" y="1737360"/>
            <a:ext cx="777241" cy="1"/>
          </a:xfrm>
          <a:prstGeom prst="line">
            <a:avLst/>
          </a:prstGeom>
          <a:ln w="25400">
            <a:solidFill>
              <a:schemeClr val="accent2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Box 6"/>
          <p:cNvSpPr txBox="1"/>
          <p:nvPr/>
        </p:nvSpPr>
        <p:spPr>
          <a:xfrm>
            <a:off x="1920239" y="1234439"/>
            <a:ext cx="1005840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900">
                <a:solidFill>
                  <a:schemeClr val="accent2"/>
                </a:solidFill>
              </a:defRPr>
            </a:pPr>
            <a:r>
              <a:t>REST API</a:t>
            </a:r>
          </a:p>
          <a:p>
            <a:pPr algn="ctr">
              <a:defRPr b="1" sz="900">
                <a:solidFill>
                  <a:schemeClr val="accent2"/>
                </a:solidFill>
              </a:defRPr>
            </a:pPr>
            <a:r>
              <a:t>(HTTP)</a:t>
            </a:r>
          </a:p>
        </p:txBody>
      </p:sp>
      <p:sp>
        <p:nvSpPr>
          <p:cNvPr id="209" name="Rounded Rectangle 7"/>
          <p:cNvSpPr/>
          <p:nvPr/>
        </p:nvSpPr>
        <p:spPr>
          <a:xfrm>
            <a:off x="2788920" y="1417319"/>
            <a:ext cx="1737361" cy="640081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8"/>
          <p:cNvSpPr txBox="1"/>
          <p:nvPr/>
        </p:nvSpPr>
        <p:spPr>
          <a:xfrm>
            <a:off x="2834639" y="1597659"/>
            <a:ext cx="164591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/var/run/</a:t>
            </a:r>
          </a:p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docker.sock</a:t>
            </a:r>
          </a:p>
        </p:txBody>
      </p:sp>
      <p:sp>
        <p:nvSpPr>
          <p:cNvPr id="211" name="Connector 9"/>
          <p:cNvSpPr/>
          <p:nvPr/>
        </p:nvSpPr>
        <p:spPr>
          <a:xfrm>
            <a:off x="4526279" y="1737360"/>
            <a:ext cx="594361" cy="1"/>
          </a:xfrm>
          <a:prstGeom prst="line">
            <a:avLst/>
          </a:prstGeom>
          <a:ln w="2540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Rounded Rectangle 10"/>
          <p:cNvSpPr/>
          <p:nvPr/>
        </p:nvSpPr>
        <p:spPr>
          <a:xfrm>
            <a:off x="5120640" y="960119"/>
            <a:ext cx="3566160" cy="2743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5875">
            <a:solidFill>
              <a:srgbClr val="0E3B43"/>
            </a:solidFill>
            <a:prstDash val="dash"/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11"/>
          <p:cNvSpPr txBox="1"/>
          <p:nvPr/>
        </p:nvSpPr>
        <p:spPr>
          <a:xfrm>
            <a:off x="5257799" y="1005839"/>
            <a:ext cx="329184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0E3B43"/>
                </a:solidFill>
              </a:defRPr>
            </a:lvl1pPr>
          </a:lstStyle>
          <a:p>
            <a:pPr/>
            <a:r>
              <a:t>Docker host (Linux kernel)</a:t>
            </a:r>
          </a:p>
        </p:txBody>
      </p:sp>
      <p:sp>
        <p:nvSpPr>
          <p:cNvPr id="214" name="Rounded Rectangle 12"/>
          <p:cNvSpPr/>
          <p:nvPr/>
        </p:nvSpPr>
        <p:spPr>
          <a:xfrm>
            <a:off x="5303520" y="1417319"/>
            <a:ext cx="1463041" cy="64008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13"/>
          <p:cNvSpPr txBox="1"/>
          <p:nvPr/>
        </p:nvSpPr>
        <p:spPr>
          <a:xfrm>
            <a:off x="5349240" y="1597659"/>
            <a:ext cx="13716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dockerd</a:t>
            </a:r>
          </a:p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(daemon)</a:t>
            </a:r>
          </a:p>
        </p:txBody>
      </p:sp>
      <p:sp>
        <p:nvSpPr>
          <p:cNvPr id="216" name="Connector 14"/>
          <p:cNvSpPr/>
          <p:nvPr/>
        </p:nvSpPr>
        <p:spPr>
          <a:xfrm>
            <a:off x="6766559" y="1737360"/>
            <a:ext cx="365761" cy="1"/>
          </a:xfrm>
          <a:prstGeom prst="line">
            <a:avLst/>
          </a:prstGeom>
          <a:ln w="1905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Rounded Rectangle 15"/>
          <p:cNvSpPr/>
          <p:nvPr/>
        </p:nvSpPr>
        <p:spPr>
          <a:xfrm>
            <a:off x="7132319" y="1417319"/>
            <a:ext cx="1417321" cy="64008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6"/>
          <p:cNvSpPr txBox="1"/>
          <p:nvPr/>
        </p:nvSpPr>
        <p:spPr>
          <a:xfrm>
            <a:off x="7178040" y="1597659"/>
            <a:ext cx="13258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containerd</a:t>
            </a:r>
          </a:p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+ runc</a:t>
            </a:r>
          </a:p>
        </p:txBody>
      </p:sp>
      <p:sp>
        <p:nvSpPr>
          <p:cNvPr id="219" name="Rounded Rectangle 17"/>
          <p:cNvSpPr/>
          <p:nvPr/>
        </p:nvSpPr>
        <p:spPr>
          <a:xfrm>
            <a:off x="5349240" y="2606039"/>
            <a:ext cx="960121" cy="4114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18"/>
          <p:cNvSpPr txBox="1"/>
          <p:nvPr/>
        </p:nvSpPr>
        <p:spPr>
          <a:xfrm>
            <a:off x="5394959" y="2748279"/>
            <a:ext cx="868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 1</a:t>
            </a:r>
          </a:p>
        </p:txBody>
      </p:sp>
      <p:sp>
        <p:nvSpPr>
          <p:cNvPr id="221" name="Connector 19"/>
          <p:cNvSpPr/>
          <p:nvPr/>
        </p:nvSpPr>
        <p:spPr>
          <a:xfrm flipH="1">
            <a:off x="5852159" y="2057399"/>
            <a:ext cx="1965961" cy="548642"/>
          </a:xfrm>
          <a:prstGeom prst="line">
            <a:avLst/>
          </a:prstGeom>
          <a:ln w="1270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Rounded Rectangle 20"/>
          <p:cNvSpPr/>
          <p:nvPr/>
        </p:nvSpPr>
        <p:spPr>
          <a:xfrm>
            <a:off x="6446520" y="2606039"/>
            <a:ext cx="960121" cy="4114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TextBox 21"/>
          <p:cNvSpPr txBox="1"/>
          <p:nvPr/>
        </p:nvSpPr>
        <p:spPr>
          <a:xfrm>
            <a:off x="6492240" y="2748279"/>
            <a:ext cx="868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 2</a:t>
            </a:r>
          </a:p>
        </p:txBody>
      </p:sp>
      <p:sp>
        <p:nvSpPr>
          <p:cNvPr id="224" name="Connector 22"/>
          <p:cNvSpPr/>
          <p:nvPr/>
        </p:nvSpPr>
        <p:spPr>
          <a:xfrm flipH="1">
            <a:off x="6949440" y="2057399"/>
            <a:ext cx="868681" cy="548642"/>
          </a:xfrm>
          <a:prstGeom prst="line">
            <a:avLst/>
          </a:prstGeom>
          <a:ln w="1270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Rounded Rectangle 23"/>
          <p:cNvSpPr/>
          <p:nvPr/>
        </p:nvSpPr>
        <p:spPr>
          <a:xfrm>
            <a:off x="7543800" y="2606039"/>
            <a:ext cx="960120" cy="4114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24"/>
          <p:cNvSpPr txBox="1"/>
          <p:nvPr/>
        </p:nvSpPr>
        <p:spPr>
          <a:xfrm>
            <a:off x="7589519" y="2748279"/>
            <a:ext cx="868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 3</a:t>
            </a:r>
          </a:p>
        </p:txBody>
      </p:sp>
      <p:sp>
        <p:nvSpPr>
          <p:cNvPr id="227" name="Connector 25"/>
          <p:cNvSpPr/>
          <p:nvPr/>
        </p:nvSpPr>
        <p:spPr>
          <a:xfrm>
            <a:off x="7818119" y="2057399"/>
            <a:ext cx="228601" cy="548642"/>
          </a:xfrm>
          <a:prstGeom prst="line">
            <a:avLst/>
          </a:prstGeom>
          <a:ln w="1270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Rounded Rectangle 26"/>
          <p:cNvSpPr/>
          <p:nvPr/>
        </p:nvSpPr>
        <p:spPr>
          <a:xfrm>
            <a:off x="5349240" y="3154679"/>
            <a:ext cx="3200401" cy="3657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27"/>
          <p:cNvSpPr txBox="1"/>
          <p:nvPr/>
        </p:nvSpPr>
        <p:spPr>
          <a:xfrm>
            <a:off x="5394959" y="3269787"/>
            <a:ext cx="310896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images · volumes · networks</a:t>
            </a:r>
          </a:p>
        </p:txBody>
      </p:sp>
      <p:sp>
        <p:nvSpPr>
          <p:cNvPr id="230" name="Rounded Rectangle 28"/>
          <p:cNvSpPr/>
          <p:nvPr/>
        </p:nvSpPr>
        <p:spPr>
          <a:xfrm>
            <a:off x="2788920" y="3017520"/>
            <a:ext cx="1737361" cy="502921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29"/>
          <p:cNvSpPr txBox="1"/>
          <p:nvPr/>
        </p:nvSpPr>
        <p:spPr>
          <a:xfrm>
            <a:off x="2834639" y="3195064"/>
            <a:ext cx="164591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Registry</a:t>
            </a:r>
          </a:p>
        </p:txBody>
      </p:sp>
      <p:sp>
        <p:nvSpPr>
          <p:cNvPr id="232" name="TextBox 30"/>
          <p:cNvSpPr txBox="1"/>
          <p:nvPr/>
        </p:nvSpPr>
        <p:spPr>
          <a:xfrm>
            <a:off x="2788920" y="3547871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Docker Hub, ghcr.io</a:t>
            </a:r>
          </a:p>
        </p:txBody>
      </p:sp>
      <p:sp>
        <p:nvSpPr>
          <p:cNvPr id="233" name="Connector 31"/>
          <p:cNvSpPr/>
          <p:nvPr/>
        </p:nvSpPr>
        <p:spPr>
          <a:xfrm flipH="1">
            <a:off x="4526279" y="2743200"/>
            <a:ext cx="777241" cy="457201"/>
          </a:xfrm>
          <a:prstGeom prst="line">
            <a:avLst/>
          </a:prstGeom>
          <a:ln w="19050">
            <a:solidFill>
              <a:schemeClr val="accent5"/>
            </a:solidFill>
            <a:prstDash val="dash"/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Box 32"/>
          <p:cNvSpPr txBox="1"/>
          <p:nvPr/>
        </p:nvSpPr>
        <p:spPr>
          <a:xfrm>
            <a:off x="4480559" y="2606039"/>
            <a:ext cx="640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chemeClr val="accent5"/>
                </a:solidFill>
              </a:defRPr>
            </a:lvl1pPr>
          </a:lstStyle>
          <a:p>
            <a:pPr/>
            <a:r>
              <a:t>pull / push</a:t>
            </a:r>
          </a:p>
        </p:txBody>
      </p:sp>
      <p:sp>
        <p:nvSpPr>
          <p:cNvPr id="235" name="TextBox 33"/>
          <p:cNvSpPr txBox="1"/>
          <p:nvPr/>
        </p:nvSpPr>
        <p:spPr>
          <a:xfrm>
            <a:off x="457200" y="3886200"/>
            <a:ext cx="8229600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chemeClr val="accent1"/>
                </a:solidFill>
              </a:defRPr>
            </a:pPr>
            <a:r>
              <a:t>CLI ne radi ništa sam: </a:t>
            </a:r>
            <a:r>
              <a:rPr b="0">
                <a:solidFill>
                  <a:srgbClr val="14202B"/>
                </a:solidFill>
              </a:rPr>
              <a:t>svaku naredbu šalje daemonu kroz socket. Daemon gradi slike, pokreće kontejnere i razgovara s registrom. Daemon radi kao root.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Socket: jedina vrata prema daemonu</a:t>
            </a:r>
          </a:p>
        </p:txBody>
      </p:sp>
      <p:sp>
        <p:nvSpPr>
          <p:cNvPr id="238" name="Rounded Rectangle 2"/>
          <p:cNvSpPr/>
          <p:nvPr/>
        </p:nvSpPr>
        <p:spPr>
          <a:xfrm>
            <a:off x="457200" y="960119"/>
            <a:ext cx="4754880" cy="2331722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3"/>
          <p:cNvSpPr txBox="1"/>
          <p:nvPr/>
        </p:nvSpPr>
        <p:spPr>
          <a:xfrm>
            <a:off x="594360" y="1069848"/>
            <a:ext cx="4480560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the CLI is just an HTTP client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curl --unix-socket /var/run/docker.sock \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http://localhost/containers/json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which daemon am I talking to?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context ls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echo $DOCKER_HOST     # e.g. unix:///var/run/docker.sock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   # or tcp://build-server:2376</a:t>
            </a:r>
          </a:p>
        </p:txBody>
      </p:sp>
      <p:sp>
        <p:nvSpPr>
          <p:cNvPr id="240" name="Rounded Rectangle 4"/>
          <p:cNvSpPr/>
          <p:nvPr/>
        </p:nvSpPr>
        <p:spPr>
          <a:xfrm>
            <a:off x="5394959" y="960119"/>
            <a:ext cx="3291841" cy="1051562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Rectangle 5"/>
          <p:cNvSpPr/>
          <p:nvPr/>
        </p:nvSpPr>
        <p:spPr>
          <a:xfrm>
            <a:off x="5394959" y="960119"/>
            <a:ext cx="54865" cy="105156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6"/>
          <p:cNvSpPr txBox="1"/>
          <p:nvPr/>
        </p:nvSpPr>
        <p:spPr>
          <a:xfrm>
            <a:off x="5577840" y="1069847"/>
            <a:ext cx="30175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/var/run/docker.sock</a:t>
            </a:r>
          </a:p>
        </p:txBody>
      </p:sp>
      <p:sp>
        <p:nvSpPr>
          <p:cNvPr id="243" name="TextBox 7"/>
          <p:cNvSpPr txBox="1"/>
          <p:nvPr/>
        </p:nvSpPr>
        <p:spPr>
          <a:xfrm>
            <a:off x="5577840" y="1389888"/>
            <a:ext cx="301752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Unix socket; vlasnik root, grupa docker. Tko može pisati u socket, upravlja daemonom.</a:t>
            </a:r>
          </a:p>
        </p:txBody>
      </p:sp>
      <p:sp>
        <p:nvSpPr>
          <p:cNvPr id="244" name="Rounded Rectangle 8"/>
          <p:cNvSpPr/>
          <p:nvPr/>
        </p:nvSpPr>
        <p:spPr>
          <a:xfrm>
            <a:off x="5394959" y="2148839"/>
            <a:ext cx="3291841" cy="11430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Rectangle 9"/>
          <p:cNvSpPr/>
          <p:nvPr/>
        </p:nvSpPr>
        <p:spPr>
          <a:xfrm>
            <a:off x="5394959" y="2148839"/>
            <a:ext cx="54865" cy="1143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10"/>
          <p:cNvSpPr txBox="1"/>
          <p:nvPr/>
        </p:nvSpPr>
        <p:spPr>
          <a:xfrm>
            <a:off x="5577840" y="2258567"/>
            <a:ext cx="30175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DOCKER_HOST, docker context</a:t>
            </a:r>
          </a:p>
        </p:txBody>
      </p:sp>
      <p:sp>
        <p:nvSpPr>
          <p:cNvPr id="247" name="TextBox 11"/>
          <p:cNvSpPr txBox="1"/>
          <p:nvPr/>
        </p:nvSpPr>
        <p:spPr>
          <a:xfrm>
            <a:off x="5577840" y="2578607"/>
            <a:ext cx="30175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Isti CLI može upravljati lokalnim ili udaljenim daemonom (SSH, TCP s TLS-om).</a:t>
            </a:r>
          </a:p>
        </p:txBody>
      </p:sp>
      <p:sp>
        <p:nvSpPr>
          <p:cNvPr id="248" name="Rounded Rectangle 12"/>
          <p:cNvSpPr/>
          <p:nvPr/>
        </p:nvSpPr>
        <p:spPr>
          <a:xfrm>
            <a:off x="457200" y="3474720"/>
            <a:ext cx="8229600" cy="82296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Rectangle 13"/>
          <p:cNvSpPr/>
          <p:nvPr/>
        </p:nvSpPr>
        <p:spPr>
          <a:xfrm>
            <a:off x="457200" y="3474720"/>
            <a:ext cx="54864" cy="8229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14"/>
          <p:cNvSpPr txBox="1"/>
          <p:nvPr/>
        </p:nvSpPr>
        <p:spPr>
          <a:xfrm>
            <a:off x="685799" y="3712517"/>
            <a:ext cx="786384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chemeClr val="accent4"/>
                </a:solidFill>
              </a:defRPr>
            </a:pPr>
            <a:r>
              <a:t>DevSecOps: </a:t>
            </a:r>
            <a:r>
              <a:rPr>
                <a:solidFill>
                  <a:srgbClr val="14202B"/>
                </a:solidFill>
              </a:rPr>
              <a:t>pristup socketu = root na hostu. </a:t>
            </a:r>
            <a:r>
              <a:rPr b="0">
                <a:solidFill>
                  <a:srgbClr val="14202B"/>
                </a:solidFill>
              </a:rPr>
              <a:t>docker run -v /:/host ... vidi cijeli disk. Zato je grupa docker privilegija, a montiranje socketa u kontejner (-v /var/run/docker.sock:...) svjesna odluka.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Tri varijante: gdje radi daemon?</a:t>
            </a:r>
          </a:p>
        </p:txBody>
      </p:sp>
      <p:sp>
        <p:nvSpPr>
          <p:cNvPr id="253" name="Rounded Rectangle 2"/>
          <p:cNvSpPr/>
          <p:nvPr/>
        </p:nvSpPr>
        <p:spPr>
          <a:xfrm>
            <a:off x="457200" y="960119"/>
            <a:ext cx="2651761" cy="2788922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Rounded Rectangle 3"/>
          <p:cNvSpPr/>
          <p:nvPr/>
        </p:nvSpPr>
        <p:spPr>
          <a:xfrm>
            <a:off x="457200" y="960119"/>
            <a:ext cx="2651761" cy="685801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4"/>
          <p:cNvSpPr txBox="1"/>
          <p:nvPr/>
        </p:nvSpPr>
        <p:spPr>
          <a:xfrm>
            <a:off x="594360" y="1080884"/>
            <a:ext cx="237744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 Desktop</a:t>
            </a:r>
          </a:p>
        </p:txBody>
      </p:sp>
      <p:sp>
        <p:nvSpPr>
          <p:cNvPr id="256" name="TextBox 5"/>
          <p:cNvSpPr txBox="1"/>
          <p:nvPr/>
        </p:nvSpPr>
        <p:spPr>
          <a:xfrm>
            <a:off x="594360" y="1325880"/>
            <a:ext cx="23774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Windows, macOS</a:t>
            </a:r>
          </a:p>
        </p:txBody>
      </p:sp>
      <p:sp>
        <p:nvSpPr>
          <p:cNvPr id="257" name="TextBox 6"/>
          <p:cNvSpPr txBox="1"/>
          <p:nvPr/>
        </p:nvSpPr>
        <p:spPr>
          <a:xfrm>
            <a:off x="594360" y="1783079"/>
            <a:ext cx="2377440" cy="87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1100">
                <a:solidFill>
                  <a:schemeClr val="accent2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Daemon u malom Linux VM-u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2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GUI, Compose, Kubernetes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2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Socket se prosljeđuje hostu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2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host.docker.internal = host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2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Licenca za veće tvrtke</a:t>
            </a:r>
          </a:p>
        </p:txBody>
      </p:sp>
      <p:sp>
        <p:nvSpPr>
          <p:cNvPr id="258" name="Rounded Rectangle 7"/>
          <p:cNvSpPr/>
          <p:nvPr/>
        </p:nvSpPr>
        <p:spPr>
          <a:xfrm>
            <a:off x="3246120" y="960119"/>
            <a:ext cx="2651761" cy="2788922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ounded Rectangle 8"/>
          <p:cNvSpPr/>
          <p:nvPr/>
        </p:nvSpPr>
        <p:spPr>
          <a:xfrm>
            <a:off x="3246120" y="960119"/>
            <a:ext cx="2651761" cy="685801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9"/>
          <p:cNvSpPr txBox="1"/>
          <p:nvPr/>
        </p:nvSpPr>
        <p:spPr>
          <a:xfrm>
            <a:off x="3383279" y="1080884"/>
            <a:ext cx="237744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 Engine (CLI)</a:t>
            </a:r>
          </a:p>
        </p:txBody>
      </p:sp>
      <p:sp>
        <p:nvSpPr>
          <p:cNvPr id="261" name="TextBox 10"/>
          <p:cNvSpPr txBox="1"/>
          <p:nvPr/>
        </p:nvSpPr>
        <p:spPr>
          <a:xfrm>
            <a:off x="3383279" y="1325880"/>
            <a:ext cx="23774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Linux, WSL, VM u cloudu</a:t>
            </a:r>
          </a:p>
        </p:txBody>
      </p:sp>
      <p:sp>
        <p:nvSpPr>
          <p:cNvPr id="262" name="TextBox 11"/>
          <p:cNvSpPr txBox="1"/>
          <p:nvPr/>
        </p:nvSpPr>
        <p:spPr>
          <a:xfrm>
            <a:off x="3383279" y="1783079"/>
            <a:ext cx="2377441" cy="87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1100">
                <a:solidFill>
                  <a:schemeClr val="accent1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dockerd izravno na hostu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1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Bez GUI-ja, samo docker CLI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1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/var/run/docker.sock na hostu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1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Kontejneri su procesi hosta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1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Isto kao na poslužitelju</a:t>
            </a:r>
          </a:p>
        </p:txBody>
      </p:sp>
      <p:sp>
        <p:nvSpPr>
          <p:cNvPr id="263" name="Rounded Rectangle 12"/>
          <p:cNvSpPr/>
          <p:nvPr/>
        </p:nvSpPr>
        <p:spPr>
          <a:xfrm>
            <a:off x="6035040" y="960119"/>
            <a:ext cx="2651761" cy="2788922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Rounded Rectangle 13"/>
          <p:cNvSpPr/>
          <p:nvPr/>
        </p:nvSpPr>
        <p:spPr>
          <a:xfrm>
            <a:off x="6035040" y="960119"/>
            <a:ext cx="2651761" cy="685801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14"/>
          <p:cNvSpPr txBox="1"/>
          <p:nvPr/>
        </p:nvSpPr>
        <p:spPr>
          <a:xfrm>
            <a:off x="6172200" y="1080884"/>
            <a:ext cx="237744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Docker-in-Docker (dind)</a:t>
            </a:r>
          </a:p>
        </p:txBody>
      </p:sp>
      <p:sp>
        <p:nvSpPr>
          <p:cNvPr id="266" name="TextBox 15"/>
          <p:cNvSpPr txBox="1"/>
          <p:nvPr/>
        </p:nvSpPr>
        <p:spPr>
          <a:xfrm>
            <a:off x="6172200" y="1325880"/>
            <a:ext cx="23774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CI runneri, izolirani buildovi</a:t>
            </a:r>
          </a:p>
        </p:txBody>
      </p:sp>
      <p:sp>
        <p:nvSpPr>
          <p:cNvPr id="267" name="TextBox 16"/>
          <p:cNvSpPr txBox="1"/>
          <p:nvPr/>
        </p:nvSpPr>
        <p:spPr>
          <a:xfrm>
            <a:off x="6172200" y="1783079"/>
            <a:ext cx="2377440" cy="1060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1100">
                <a:solidFill>
                  <a:schemeClr val="accent5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Daemon unutar kontejnera (docker:dind)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5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Traži --privileged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5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Vlastiti socket i cache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5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Alternativa: montirati socket hosta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5000"/>
              </a:lnSpc>
              <a:defRPr b="1" sz="1100">
                <a:solidFill>
                  <a:schemeClr val="accent5"/>
                </a:solidFill>
              </a:defRPr>
            </a:pPr>
            <a:r>
              <a:t>• </a:t>
            </a:r>
            <a:r>
              <a:rPr b="0">
                <a:solidFill>
                  <a:srgbClr val="14202B"/>
                </a:solidFill>
              </a:rPr>
              <a:t>Oprez: obje opcije su root</a:t>
            </a:r>
          </a:p>
        </p:txBody>
      </p:sp>
      <p:sp>
        <p:nvSpPr>
          <p:cNvPr id="268" name="TextBox 17"/>
          <p:cNvSpPr txBox="1"/>
          <p:nvPr/>
        </p:nvSpPr>
        <p:spPr>
          <a:xfrm>
            <a:off x="457200" y="3931920"/>
            <a:ext cx="82296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chemeClr val="accent1"/>
                </a:solidFill>
              </a:defRPr>
            </a:pPr>
            <a:r>
              <a:t>Svima isto: </a:t>
            </a:r>
            <a:r>
              <a:rPr b="0">
                <a:solidFill>
                  <a:srgbClr val="14202B"/>
                </a:solidFill>
              </a:rPr>
              <a:t>isti docker CLI, iste slike i isti Dockerfile; razlikuje se samo gdje radi daemon i kako kontejner vidi host.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Kako varijante razgovaraju s host OS-om</a:t>
            </a:r>
          </a:p>
        </p:txBody>
      </p:sp>
      <p:sp>
        <p:nvSpPr>
          <p:cNvPr id="271" name="TextBox 2"/>
          <p:cNvSpPr txBox="1"/>
          <p:nvPr/>
        </p:nvSpPr>
        <p:spPr>
          <a:xfrm>
            <a:off x="457199" y="914399"/>
            <a:ext cx="265176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 Desktop</a:t>
            </a:r>
          </a:p>
        </p:txBody>
      </p:sp>
      <p:sp>
        <p:nvSpPr>
          <p:cNvPr id="272" name="Rounded Rectangle 3"/>
          <p:cNvSpPr/>
          <p:nvPr/>
        </p:nvSpPr>
        <p:spPr>
          <a:xfrm>
            <a:off x="457200" y="1234439"/>
            <a:ext cx="2651761" cy="27432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4"/>
          <p:cNvSpPr txBox="1"/>
          <p:nvPr/>
        </p:nvSpPr>
        <p:spPr>
          <a:xfrm>
            <a:off x="548639" y="128016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Host OS (macOS / Windows)</a:t>
            </a:r>
          </a:p>
        </p:txBody>
      </p:sp>
      <p:sp>
        <p:nvSpPr>
          <p:cNvPr id="274" name="Rounded Rectangle 5"/>
          <p:cNvSpPr/>
          <p:nvPr/>
        </p:nvSpPr>
        <p:spPr>
          <a:xfrm>
            <a:off x="594359" y="1600200"/>
            <a:ext cx="1051562" cy="411481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6"/>
          <p:cNvSpPr txBox="1"/>
          <p:nvPr/>
        </p:nvSpPr>
        <p:spPr>
          <a:xfrm>
            <a:off x="640080" y="1742439"/>
            <a:ext cx="9601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CLI</a:t>
            </a:r>
          </a:p>
        </p:txBody>
      </p:sp>
      <p:sp>
        <p:nvSpPr>
          <p:cNvPr id="276" name="Rounded Rectangle 7"/>
          <p:cNvSpPr/>
          <p:nvPr/>
        </p:nvSpPr>
        <p:spPr>
          <a:xfrm>
            <a:off x="594359" y="2240279"/>
            <a:ext cx="2377441" cy="1600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5875">
            <a:solidFill>
              <a:schemeClr val="accent2"/>
            </a:solidFill>
            <a:prstDash val="dash"/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8"/>
          <p:cNvSpPr txBox="1"/>
          <p:nvPr/>
        </p:nvSpPr>
        <p:spPr>
          <a:xfrm>
            <a:off x="685799" y="2285999"/>
            <a:ext cx="2194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2"/>
                </a:solidFill>
              </a:defRPr>
            </a:lvl1pPr>
          </a:lstStyle>
          <a:p>
            <a:pPr/>
            <a:r>
              <a:t>Linux VM</a:t>
            </a:r>
          </a:p>
        </p:txBody>
      </p:sp>
      <p:sp>
        <p:nvSpPr>
          <p:cNvPr id="278" name="Rounded Rectangle 9"/>
          <p:cNvSpPr/>
          <p:nvPr/>
        </p:nvSpPr>
        <p:spPr>
          <a:xfrm>
            <a:off x="731519" y="2606039"/>
            <a:ext cx="914401" cy="41148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0"/>
          <p:cNvSpPr txBox="1"/>
          <p:nvPr/>
        </p:nvSpPr>
        <p:spPr>
          <a:xfrm>
            <a:off x="777239" y="274827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dockerd</a:t>
            </a:r>
          </a:p>
        </p:txBody>
      </p:sp>
      <p:sp>
        <p:nvSpPr>
          <p:cNvPr id="280" name="Rounded Rectangle 11"/>
          <p:cNvSpPr/>
          <p:nvPr/>
        </p:nvSpPr>
        <p:spPr>
          <a:xfrm>
            <a:off x="1783079" y="2606039"/>
            <a:ext cx="1051561" cy="4114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12"/>
          <p:cNvSpPr txBox="1"/>
          <p:nvPr/>
        </p:nvSpPr>
        <p:spPr>
          <a:xfrm>
            <a:off x="1828799" y="2748279"/>
            <a:ext cx="960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</a:t>
            </a:r>
          </a:p>
        </p:txBody>
      </p:sp>
      <p:sp>
        <p:nvSpPr>
          <p:cNvPr id="282" name="Connector 13"/>
          <p:cNvSpPr/>
          <p:nvPr/>
        </p:nvSpPr>
        <p:spPr>
          <a:xfrm flipH="1">
            <a:off x="1115567" y="2011679"/>
            <a:ext cx="1" cy="594361"/>
          </a:xfrm>
          <a:prstGeom prst="line">
            <a:avLst/>
          </a:prstGeom>
          <a:ln w="19050">
            <a:solidFill>
              <a:schemeClr val="accent2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Box 14"/>
          <p:cNvSpPr txBox="1"/>
          <p:nvPr/>
        </p:nvSpPr>
        <p:spPr>
          <a:xfrm>
            <a:off x="1188719" y="2057399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/>
            <a:r>
              <a:t>forwarded socket</a:t>
            </a:r>
          </a:p>
        </p:txBody>
      </p:sp>
      <p:sp>
        <p:nvSpPr>
          <p:cNvPr id="284" name="TextBox 15"/>
          <p:cNvSpPr txBox="1"/>
          <p:nvPr/>
        </p:nvSpPr>
        <p:spPr>
          <a:xfrm>
            <a:off x="731519" y="3154679"/>
            <a:ext cx="219456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host.docker.internal</a:t>
            </a:r>
          </a:p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host services</a:t>
            </a:r>
          </a:p>
        </p:txBody>
      </p:sp>
      <p:sp>
        <p:nvSpPr>
          <p:cNvPr id="285" name="TextBox 16"/>
          <p:cNvSpPr txBox="1"/>
          <p:nvPr/>
        </p:nvSpPr>
        <p:spPr>
          <a:xfrm>
            <a:off x="3246120" y="914399"/>
            <a:ext cx="265176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 Engine (Linux, WSL)</a:t>
            </a:r>
          </a:p>
        </p:txBody>
      </p:sp>
      <p:sp>
        <p:nvSpPr>
          <p:cNvPr id="286" name="Rounded Rectangle 17"/>
          <p:cNvSpPr/>
          <p:nvPr/>
        </p:nvSpPr>
        <p:spPr>
          <a:xfrm>
            <a:off x="3246120" y="1234439"/>
            <a:ext cx="2651761" cy="27432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18"/>
          <p:cNvSpPr txBox="1"/>
          <p:nvPr/>
        </p:nvSpPr>
        <p:spPr>
          <a:xfrm>
            <a:off x="3337559" y="1280160"/>
            <a:ext cx="2468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Host OS (Linux kernel)</a:t>
            </a:r>
          </a:p>
        </p:txBody>
      </p:sp>
      <p:sp>
        <p:nvSpPr>
          <p:cNvPr id="288" name="Rounded Rectangle 19"/>
          <p:cNvSpPr/>
          <p:nvPr/>
        </p:nvSpPr>
        <p:spPr>
          <a:xfrm>
            <a:off x="3383279" y="1600200"/>
            <a:ext cx="1051561" cy="411481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20"/>
          <p:cNvSpPr txBox="1"/>
          <p:nvPr/>
        </p:nvSpPr>
        <p:spPr>
          <a:xfrm>
            <a:off x="3428999" y="1742439"/>
            <a:ext cx="960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CLI</a:t>
            </a:r>
          </a:p>
        </p:txBody>
      </p:sp>
      <p:sp>
        <p:nvSpPr>
          <p:cNvPr id="290" name="Rounded Rectangle 21"/>
          <p:cNvSpPr/>
          <p:nvPr/>
        </p:nvSpPr>
        <p:spPr>
          <a:xfrm>
            <a:off x="3383279" y="2606039"/>
            <a:ext cx="1051561" cy="41148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22"/>
          <p:cNvSpPr txBox="1"/>
          <p:nvPr/>
        </p:nvSpPr>
        <p:spPr>
          <a:xfrm>
            <a:off x="3428999" y="2748279"/>
            <a:ext cx="960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dockerd</a:t>
            </a:r>
          </a:p>
        </p:txBody>
      </p:sp>
      <p:sp>
        <p:nvSpPr>
          <p:cNvPr id="292" name="Rounded Rectangle 23"/>
          <p:cNvSpPr/>
          <p:nvPr/>
        </p:nvSpPr>
        <p:spPr>
          <a:xfrm>
            <a:off x="4617720" y="2606039"/>
            <a:ext cx="1143001" cy="4114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24"/>
          <p:cNvSpPr txBox="1"/>
          <p:nvPr/>
        </p:nvSpPr>
        <p:spPr>
          <a:xfrm>
            <a:off x="4663440" y="2748279"/>
            <a:ext cx="1051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</a:t>
            </a:r>
          </a:p>
        </p:txBody>
      </p:sp>
      <p:sp>
        <p:nvSpPr>
          <p:cNvPr id="294" name="Connector 25"/>
          <p:cNvSpPr/>
          <p:nvPr/>
        </p:nvSpPr>
        <p:spPr>
          <a:xfrm>
            <a:off x="3904486" y="2011679"/>
            <a:ext cx="1" cy="594361"/>
          </a:xfrm>
          <a:prstGeom prst="line">
            <a:avLst/>
          </a:prstGeom>
          <a:ln w="190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Box 26"/>
          <p:cNvSpPr txBox="1"/>
          <p:nvPr/>
        </p:nvSpPr>
        <p:spPr>
          <a:xfrm>
            <a:off x="3977638" y="210312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/var/run/docker.sock</a:t>
            </a:r>
          </a:p>
        </p:txBody>
      </p:sp>
      <p:sp>
        <p:nvSpPr>
          <p:cNvPr id="296" name="Connector 27"/>
          <p:cNvSpPr/>
          <p:nvPr/>
        </p:nvSpPr>
        <p:spPr>
          <a:xfrm>
            <a:off x="4434840" y="2807207"/>
            <a:ext cx="182881" cy="1"/>
          </a:xfrm>
          <a:prstGeom prst="line">
            <a:avLst/>
          </a:prstGeom>
          <a:ln w="1905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Box 28"/>
          <p:cNvSpPr txBox="1"/>
          <p:nvPr/>
        </p:nvSpPr>
        <p:spPr>
          <a:xfrm>
            <a:off x="3383279" y="3154679"/>
            <a:ext cx="23774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--network host</a:t>
            </a:r>
          </a:p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same network as host</a:t>
            </a:r>
          </a:p>
        </p:txBody>
      </p:sp>
      <p:sp>
        <p:nvSpPr>
          <p:cNvPr id="298" name="TextBox 29"/>
          <p:cNvSpPr txBox="1"/>
          <p:nvPr/>
        </p:nvSpPr>
        <p:spPr>
          <a:xfrm>
            <a:off x="6035040" y="914399"/>
            <a:ext cx="265176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Docker-in-Docker</a:t>
            </a:r>
          </a:p>
        </p:txBody>
      </p:sp>
      <p:sp>
        <p:nvSpPr>
          <p:cNvPr id="299" name="Rounded Rectangle 30"/>
          <p:cNvSpPr/>
          <p:nvPr/>
        </p:nvSpPr>
        <p:spPr>
          <a:xfrm>
            <a:off x="6035040" y="1234439"/>
            <a:ext cx="2651761" cy="27432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31"/>
          <p:cNvSpPr txBox="1"/>
          <p:nvPr/>
        </p:nvSpPr>
        <p:spPr>
          <a:xfrm>
            <a:off x="6126479" y="1280160"/>
            <a:ext cx="2468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Host: server (Linux)</a:t>
            </a:r>
          </a:p>
        </p:txBody>
      </p:sp>
      <p:sp>
        <p:nvSpPr>
          <p:cNvPr id="301" name="Rounded Rectangle 32"/>
          <p:cNvSpPr/>
          <p:nvPr/>
        </p:nvSpPr>
        <p:spPr>
          <a:xfrm>
            <a:off x="6172200" y="1600200"/>
            <a:ext cx="914400" cy="41148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33"/>
          <p:cNvSpPr txBox="1"/>
          <p:nvPr/>
        </p:nvSpPr>
        <p:spPr>
          <a:xfrm>
            <a:off x="6217920" y="1742439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dockerd</a:t>
            </a:r>
          </a:p>
        </p:txBody>
      </p:sp>
      <p:sp>
        <p:nvSpPr>
          <p:cNvPr id="303" name="Rounded Rectangle 34"/>
          <p:cNvSpPr/>
          <p:nvPr/>
        </p:nvSpPr>
        <p:spPr>
          <a:xfrm>
            <a:off x="6172200" y="2240279"/>
            <a:ext cx="2377440" cy="160020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5875">
            <a:solidFill>
              <a:schemeClr val="accent5"/>
            </a:solidFill>
            <a:prstDash val="dash"/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35"/>
          <p:cNvSpPr txBox="1"/>
          <p:nvPr/>
        </p:nvSpPr>
        <p:spPr>
          <a:xfrm>
            <a:off x="6263640" y="2285999"/>
            <a:ext cx="219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5"/>
                </a:solidFill>
              </a:defRPr>
            </a:lvl1pPr>
          </a:lstStyle>
          <a:p>
            <a:pPr/>
            <a:r>
              <a:t>compose: app + dind</a:t>
            </a:r>
          </a:p>
        </p:txBody>
      </p:sp>
      <p:sp>
        <p:nvSpPr>
          <p:cNvPr id="305" name="Rounded Rectangle 36"/>
          <p:cNvSpPr/>
          <p:nvPr/>
        </p:nvSpPr>
        <p:spPr>
          <a:xfrm>
            <a:off x="7269480" y="2606039"/>
            <a:ext cx="1188721" cy="41148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37"/>
          <p:cNvSpPr txBox="1"/>
          <p:nvPr/>
        </p:nvSpPr>
        <p:spPr>
          <a:xfrm>
            <a:off x="7269480" y="2691129"/>
            <a:ext cx="118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docker:dind</a:t>
            </a:r>
          </a:p>
          <a:p>
            <a:pPr algn="ctr">
              <a:defRPr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dockerd :2376</a:t>
            </a:r>
          </a:p>
        </p:txBody>
      </p:sp>
      <p:sp>
        <p:nvSpPr>
          <p:cNvPr id="307" name="Rounded Rectangle 38"/>
          <p:cNvSpPr/>
          <p:nvPr/>
        </p:nvSpPr>
        <p:spPr>
          <a:xfrm>
            <a:off x="6309359" y="2606039"/>
            <a:ext cx="731521" cy="4114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39"/>
          <p:cNvSpPr txBox="1"/>
          <p:nvPr/>
        </p:nvSpPr>
        <p:spPr>
          <a:xfrm>
            <a:off x="6309359" y="2748279"/>
            <a:ext cx="731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09" name="Connector 40"/>
          <p:cNvSpPr/>
          <p:nvPr/>
        </p:nvSpPr>
        <p:spPr>
          <a:xfrm>
            <a:off x="6629400" y="2011679"/>
            <a:ext cx="0" cy="228601"/>
          </a:xfrm>
          <a:prstGeom prst="line">
            <a:avLst/>
          </a:prstGeom>
          <a:ln w="19050">
            <a:solidFill>
              <a:schemeClr val="accent5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Box 41"/>
          <p:cNvSpPr txBox="1"/>
          <p:nvPr/>
        </p:nvSpPr>
        <p:spPr>
          <a:xfrm>
            <a:off x="6309359" y="3154679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DOCKER_HOST=tcp://dind:2376</a:t>
            </a:r>
          </a:p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dind: --privileged + TLS</a:t>
            </a:r>
          </a:p>
          <a:p>
            <a:pPr>
              <a:defRPr sz="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→ containers live in dind</a:t>
            </a:r>
          </a:p>
        </p:txBody>
      </p:sp>
      <p:sp>
        <p:nvSpPr>
          <p:cNvPr id="311" name="TextBox 42"/>
          <p:cNvSpPr txBox="1"/>
          <p:nvPr/>
        </p:nvSpPr>
        <p:spPr>
          <a:xfrm>
            <a:off x="457200" y="4069079"/>
            <a:ext cx="82296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0E3B43"/>
                </a:solidFill>
              </a:defRPr>
            </a:lvl1pPr>
          </a:lstStyle>
          <a:p>
            <a:pPr/>
            <a:r>
              <a:t>U ovom kolegiju: Docker Engine u WSL-u ili Docker Desktop lokalno, Docker Engine na VM-u u GCP-u.</a:t>
            </a:r>
          </a:p>
        </p:txBody>
      </p:sp>
      <p:sp>
        <p:nvSpPr>
          <p:cNvPr id="312" name="TextBox 43"/>
          <p:cNvSpPr txBox="1"/>
          <p:nvPr/>
        </p:nvSpPr>
        <p:spPr>
          <a:xfrm>
            <a:off x="7178040" y="16687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compose up</a:t>
            </a:r>
          </a:p>
        </p:txBody>
      </p:sp>
      <p:sp>
        <p:nvSpPr>
          <p:cNvPr id="313" name="Connector 44"/>
          <p:cNvSpPr/>
          <p:nvPr/>
        </p:nvSpPr>
        <p:spPr>
          <a:xfrm>
            <a:off x="7040880" y="2811779"/>
            <a:ext cx="228601" cy="1"/>
          </a:xfrm>
          <a:prstGeom prst="line">
            <a:avLst/>
          </a:prstGeom>
          <a:ln w="1905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itle 1"/>
          <p:cNvSpPr txBox="1"/>
          <p:nvPr>
            <p:ph type="title"/>
          </p:nvPr>
        </p:nvSpPr>
        <p:spPr>
          <a:xfrm>
            <a:off x="2103119" y="1737360"/>
            <a:ext cx="6492242" cy="914401"/>
          </a:xfrm>
          <a:prstGeom prst="rect">
            <a:avLst/>
          </a:prstGeom>
        </p:spPr>
        <p:txBody>
          <a:bodyPr/>
          <a:lstStyle/>
          <a:p>
            <a:pPr/>
            <a:r>
              <a:t>Umrežavanje</a:t>
            </a:r>
          </a:p>
        </p:txBody>
      </p:sp>
      <p:sp>
        <p:nvSpPr>
          <p:cNvPr id="318" name="Text Placeholder 2"/>
          <p:cNvSpPr txBox="1"/>
          <p:nvPr>
            <p:ph type="body" sz="quarter" idx="1"/>
          </p:nvPr>
        </p:nvSpPr>
        <p:spPr>
          <a:xfrm>
            <a:off x="2103119" y="2743199"/>
            <a:ext cx="6492242" cy="731522"/>
          </a:xfrm>
          <a:prstGeom prst="rect">
            <a:avLst/>
          </a:prstGeom>
        </p:spPr>
        <p:txBody>
          <a:bodyPr/>
          <a:lstStyle/>
          <a:p>
            <a:pPr/>
            <a:r>
              <a:t>Mreže unutar Dockera, DNS po imenu, veza s hostom</a:t>
            </a:r>
          </a:p>
        </p:txBody>
      </p:sp>
      <p:sp>
        <p:nvSpPr>
          <p:cNvPr id="319" name="Oval 3"/>
          <p:cNvSpPr/>
          <p:nvPr/>
        </p:nvSpPr>
        <p:spPr>
          <a:xfrm>
            <a:off x="731519" y="1874518"/>
            <a:ext cx="914401" cy="9144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4"/>
          <p:cNvSpPr txBox="1"/>
          <p:nvPr/>
        </p:nvSpPr>
        <p:spPr>
          <a:xfrm>
            <a:off x="731519" y="2155059"/>
            <a:ext cx="9144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Mrežni driveri</a:t>
            </a:r>
          </a:p>
        </p:txBody>
      </p:sp>
      <p:graphicFrame>
        <p:nvGraphicFramePr>
          <p:cNvPr id="323" name="Table 2"/>
          <p:cNvGraphicFramePr/>
          <p:nvPr/>
        </p:nvGraphicFramePr>
        <p:xfrm>
          <a:off x="457200" y="960119"/>
          <a:ext cx="8229598" cy="230429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78181"/>
                <a:gridCol w="2576945"/>
                <a:gridCol w="997527"/>
                <a:gridCol w="2576945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Driver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Što dobije kontejner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DNS po imenu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Kada koristiti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bridge (default)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Privatni IP (172.17.0.0/16), NAT prema van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Ne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Brzi test jednog kontejnera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bridge (user-defined)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Privatni IP na vlastitoj mreži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Da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Više kontejnera koji razgovaraju (zadano u Compose)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host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Mrežu hosta, bez izolacije i bez -p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Kao host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Pristup servisu na hostu (Linux)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Samo loopback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Ne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Izolirani batch poslovi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overlay, macvlan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Mreža preko više hostova / vlastiti MAC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Da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14202B"/>
                          </a:solidFill>
                        </a:rPr>
                        <a:t>Swarm, posebni slučajevi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324" name="Rounded Rectangle 3"/>
          <p:cNvSpPr/>
          <p:nvPr/>
        </p:nvSpPr>
        <p:spPr>
          <a:xfrm>
            <a:off x="457200" y="3429000"/>
            <a:ext cx="8229600" cy="86868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4"/>
          <p:cNvSpPr txBox="1"/>
          <p:nvPr/>
        </p:nvSpPr>
        <p:spPr>
          <a:xfrm>
            <a:off x="594360" y="3538728"/>
            <a:ext cx="795527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network ls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network create llm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network inspect llm     # subnet, gateway, connected containers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DNS: kontejneri se zovu po imenu</a:t>
            </a:r>
          </a:p>
        </p:txBody>
      </p:sp>
      <p:sp>
        <p:nvSpPr>
          <p:cNvPr id="328" name="Rounded Rectangle 2"/>
          <p:cNvSpPr/>
          <p:nvPr/>
        </p:nvSpPr>
        <p:spPr>
          <a:xfrm>
            <a:off x="1892820" y="895452"/>
            <a:ext cx="4846322" cy="28346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9050">
            <a:solidFill>
              <a:schemeClr val="accent1"/>
            </a:solidFill>
            <a:prstDash val="dash"/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3"/>
          <p:cNvSpPr txBox="1"/>
          <p:nvPr/>
        </p:nvSpPr>
        <p:spPr>
          <a:xfrm>
            <a:off x="2029980" y="941172"/>
            <a:ext cx="4572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user-defined network: llm</a:t>
            </a:r>
          </a:p>
        </p:txBody>
      </p:sp>
      <p:sp>
        <p:nvSpPr>
          <p:cNvPr id="330" name="Rounded Rectangle 4"/>
          <p:cNvSpPr/>
          <p:nvPr/>
        </p:nvSpPr>
        <p:spPr>
          <a:xfrm>
            <a:off x="2167140" y="1398372"/>
            <a:ext cx="1737361" cy="685801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5"/>
          <p:cNvSpPr txBox="1"/>
          <p:nvPr/>
        </p:nvSpPr>
        <p:spPr>
          <a:xfrm>
            <a:off x="2212860" y="1601572"/>
            <a:ext cx="164591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praktikum-llm</a:t>
            </a:r>
          </a:p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172.20.0.3</a:t>
            </a:r>
          </a:p>
        </p:txBody>
      </p:sp>
      <p:sp>
        <p:nvSpPr>
          <p:cNvPr id="332" name="Rounded Rectangle 6"/>
          <p:cNvSpPr/>
          <p:nvPr/>
        </p:nvSpPr>
        <p:spPr>
          <a:xfrm>
            <a:off x="4727461" y="1398372"/>
            <a:ext cx="1737361" cy="685801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7"/>
          <p:cNvSpPr txBox="1"/>
          <p:nvPr/>
        </p:nvSpPr>
        <p:spPr>
          <a:xfrm>
            <a:off x="4773180" y="1601572"/>
            <a:ext cx="164591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ollama</a:t>
            </a:r>
          </a:p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172.20.0.2:11434</a:t>
            </a:r>
          </a:p>
        </p:txBody>
      </p:sp>
      <p:sp>
        <p:nvSpPr>
          <p:cNvPr id="334" name="Connector 8"/>
          <p:cNvSpPr/>
          <p:nvPr/>
        </p:nvSpPr>
        <p:spPr>
          <a:xfrm>
            <a:off x="3904500" y="1745844"/>
            <a:ext cx="822961" cy="1"/>
          </a:xfrm>
          <a:prstGeom prst="line">
            <a:avLst/>
          </a:prstGeom>
          <a:ln w="25400">
            <a:solidFill>
              <a:srgbClr val="0E3B43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Box 9"/>
          <p:cNvSpPr txBox="1"/>
          <p:nvPr/>
        </p:nvSpPr>
        <p:spPr>
          <a:xfrm>
            <a:off x="2167140" y="1142340"/>
            <a:ext cx="42976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0E3B4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GET http://ollama:11434/api/tags</a:t>
            </a:r>
          </a:p>
        </p:txBody>
      </p:sp>
      <p:sp>
        <p:nvSpPr>
          <p:cNvPr id="336" name="Rounded Rectangle 10"/>
          <p:cNvSpPr/>
          <p:nvPr/>
        </p:nvSpPr>
        <p:spPr>
          <a:xfrm>
            <a:off x="3127260" y="2769972"/>
            <a:ext cx="2377441" cy="68580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11"/>
          <p:cNvSpPr txBox="1"/>
          <p:nvPr/>
        </p:nvSpPr>
        <p:spPr>
          <a:xfrm>
            <a:off x="3172980" y="2973172"/>
            <a:ext cx="2286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Embedded DNS</a:t>
            </a:r>
          </a:p>
          <a:p>
            <a: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127.0.0.11</a:t>
            </a:r>
          </a:p>
        </p:txBody>
      </p:sp>
      <p:sp>
        <p:nvSpPr>
          <p:cNvPr id="338" name="Connector 12"/>
          <p:cNvSpPr/>
          <p:nvPr/>
        </p:nvSpPr>
        <p:spPr>
          <a:xfrm>
            <a:off x="3035820" y="2084172"/>
            <a:ext cx="594361" cy="685801"/>
          </a:xfrm>
          <a:prstGeom prst="line">
            <a:avLst/>
          </a:prstGeom>
          <a:ln w="19050">
            <a:solidFill>
              <a:schemeClr val="accent6"/>
            </a:solidFill>
            <a:prstDash val="dash"/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Connector 13"/>
          <p:cNvSpPr/>
          <p:nvPr/>
        </p:nvSpPr>
        <p:spPr>
          <a:xfrm flipV="1">
            <a:off x="5001780" y="2084172"/>
            <a:ext cx="548641" cy="685801"/>
          </a:xfrm>
          <a:prstGeom prst="line">
            <a:avLst/>
          </a:prstGeom>
          <a:ln w="19050">
            <a:solidFill>
              <a:schemeClr val="accent6"/>
            </a:solidFill>
            <a:prstDash val="dash"/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Box 14"/>
          <p:cNvSpPr txBox="1"/>
          <p:nvPr/>
        </p:nvSpPr>
        <p:spPr>
          <a:xfrm>
            <a:off x="1984260" y="2449932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ollama = ?</a:t>
            </a:r>
          </a:p>
        </p:txBody>
      </p:sp>
      <p:sp>
        <p:nvSpPr>
          <p:cNvPr id="341" name="TextBox 15"/>
          <p:cNvSpPr txBox="1"/>
          <p:nvPr/>
        </p:nvSpPr>
        <p:spPr>
          <a:xfrm>
            <a:off x="5276100" y="2449932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172.20.0.2</a:t>
            </a:r>
          </a:p>
        </p:txBody>
      </p:sp>
      <p:sp>
        <p:nvSpPr>
          <p:cNvPr id="342" name="TextBox 18"/>
          <p:cNvSpPr txBox="1"/>
          <p:nvPr/>
        </p:nvSpPr>
        <p:spPr>
          <a:xfrm>
            <a:off x="457200" y="3931920"/>
            <a:ext cx="8229600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chemeClr val="accent1"/>
                </a:solidFill>
              </a:defRPr>
            </a:pPr>
            <a:r>
              <a:t>Pravilo: </a:t>
            </a:r>
            <a:r>
              <a:rPr b="0">
                <a:solidFill>
                  <a:srgbClr val="14202B"/>
                </a:solidFill>
              </a:rPr>
              <a:t>http://&lt;container-name&gt;:&lt;container-port&gt;. IP adrese se mijenjaju pri svakom pokretanju, ime ostaje. Na zadanoj bridge mreži DNS po imenu ne radi.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itle 1"/>
          <p:cNvSpPr txBox="1"/>
          <p:nvPr>
            <p:ph type="title"/>
          </p:nvPr>
        </p:nvSpPr>
        <p:spPr>
          <a:xfrm>
            <a:off x="2103119" y="1737360"/>
            <a:ext cx="6492242" cy="914401"/>
          </a:xfrm>
          <a:prstGeom prst="rect">
            <a:avLst/>
          </a:prstGeom>
        </p:spPr>
        <p:txBody>
          <a:bodyPr/>
          <a:lstStyle/>
          <a:p>
            <a:pPr/>
            <a:r>
              <a:t>Snimanje slike</a:t>
            </a:r>
          </a:p>
        </p:txBody>
      </p:sp>
      <p:sp>
        <p:nvSpPr>
          <p:cNvPr id="345" name="Text Placeholder 2"/>
          <p:cNvSpPr txBox="1"/>
          <p:nvPr>
            <p:ph type="body" sz="quarter" idx="1"/>
          </p:nvPr>
        </p:nvSpPr>
        <p:spPr>
          <a:xfrm>
            <a:off x="2103119" y="2743199"/>
            <a:ext cx="6492242" cy="731522"/>
          </a:xfrm>
          <a:prstGeom prst="rect">
            <a:avLst/>
          </a:prstGeom>
        </p:spPr>
        <p:txBody>
          <a:bodyPr/>
          <a:lstStyle/>
          <a:p>
            <a:pPr/>
            <a:r>
              <a:t>Dockerfile, slojevi, cache, multi-stage, korisnik, registri</a:t>
            </a:r>
          </a:p>
        </p:txBody>
      </p:sp>
      <p:sp>
        <p:nvSpPr>
          <p:cNvPr id="346" name="Oval 3"/>
          <p:cNvSpPr/>
          <p:nvPr/>
        </p:nvSpPr>
        <p:spPr>
          <a:xfrm>
            <a:off x="731519" y="1874518"/>
            <a:ext cx="914401" cy="9144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4"/>
          <p:cNvSpPr txBox="1"/>
          <p:nvPr/>
        </p:nvSpPr>
        <p:spPr>
          <a:xfrm>
            <a:off x="731519" y="2155059"/>
            <a:ext cx="9144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Dockerfile: recept za sliku</a:t>
            </a:r>
          </a:p>
        </p:txBody>
      </p:sp>
      <p:sp>
        <p:nvSpPr>
          <p:cNvPr id="350" name="Rounded Rectangle 2"/>
          <p:cNvSpPr/>
          <p:nvPr/>
        </p:nvSpPr>
        <p:spPr>
          <a:xfrm>
            <a:off x="457200" y="960119"/>
            <a:ext cx="4206241" cy="333756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3"/>
          <p:cNvSpPr txBox="1"/>
          <p:nvPr/>
        </p:nvSpPr>
        <p:spPr>
          <a:xfrm>
            <a:off x="594359" y="1069847"/>
            <a:ext cx="3931922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python:3.13-alpine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WORKDIR /app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ENV PYTHONUNBUFFERED=1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COPY requirements.txt .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RUN pip install --no-cache-dir \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-r requirements.txt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COPY ollama_client.py llm.py ./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USER 10001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ENTRYPOINT ["python", "llm.py"]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CMD ["--help"]</a:t>
            </a:r>
          </a:p>
        </p:txBody>
      </p:sp>
      <p:graphicFrame>
        <p:nvGraphicFramePr>
          <p:cNvPr id="352" name="Table 4"/>
          <p:cNvGraphicFramePr/>
          <p:nvPr/>
        </p:nvGraphicFramePr>
        <p:xfrm>
          <a:off x="4846320" y="960119"/>
          <a:ext cx="3840480" cy="33375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97280"/>
                <a:gridCol w="2743200"/>
              </a:tblGrid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Naredba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Što radi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Bazna slika (prvi sloj)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WORKDIR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Radni direktorij, stvara ga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ENV / ARG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Varijabla u kontejneru / samo u buildu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COPY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Datoteke iz build konteksta u sliku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Naredba u buildu, rezultat je novi sloj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Korisnik za sve što slijedi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EXPOSE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Dokumentira port (ne objavljuje ga)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ENTRYPOINT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Program koji se pokreće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CMD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Zadani argumenti, zamjenjivi u run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Slojevi slike</a:t>
            </a:r>
          </a:p>
        </p:txBody>
      </p:sp>
      <p:sp>
        <p:nvSpPr>
          <p:cNvPr id="355" name="Rounded Rectangle 2"/>
          <p:cNvSpPr/>
          <p:nvPr/>
        </p:nvSpPr>
        <p:spPr>
          <a:xfrm>
            <a:off x="457200" y="1371600"/>
            <a:ext cx="3291841" cy="384048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3"/>
          <p:cNvSpPr txBox="1"/>
          <p:nvPr/>
        </p:nvSpPr>
        <p:spPr>
          <a:xfrm>
            <a:off x="502919" y="1493773"/>
            <a:ext cx="3200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COPY *.py ./</a:t>
            </a:r>
          </a:p>
        </p:txBody>
      </p:sp>
      <p:sp>
        <p:nvSpPr>
          <p:cNvPr id="357" name="TextBox 4"/>
          <p:cNvSpPr txBox="1"/>
          <p:nvPr/>
        </p:nvSpPr>
        <p:spPr>
          <a:xfrm>
            <a:off x="3840479" y="1495088"/>
            <a:ext cx="822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5 kB</a:t>
            </a:r>
          </a:p>
        </p:txBody>
      </p:sp>
      <p:sp>
        <p:nvSpPr>
          <p:cNvPr id="358" name="Rounded Rectangle 5"/>
          <p:cNvSpPr/>
          <p:nvPr/>
        </p:nvSpPr>
        <p:spPr>
          <a:xfrm>
            <a:off x="457200" y="1828800"/>
            <a:ext cx="3291841" cy="384048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6"/>
          <p:cNvSpPr txBox="1"/>
          <p:nvPr/>
        </p:nvSpPr>
        <p:spPr>
          <a:xfrm>
            <a:off x="502919" y="1950973"/>
            <a:ext cx="3200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RUN pip install ...</a:t>
            </a:r>
          </a:p>
        </p:txBody>
      </p:sp>
      <p:sp>
        <p:nvSpPr>
          <p:cNvPr id="360" name="TextBox 7"/>
          <p:cNvSpPr txBox="1"/>
          <p:nvPr/>
        </p:nvSpPr>
        <p:spPr>
          <a:xfrm>
            <a:off x="3840479" y="1952288"/>
            <a:ext cx="822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≈ 25 MB</a:t>
            </a:r>
          </a:p>
        </p:txBody>
      </p:sp>
      <p:sp>
        <p:nvSpPr>
          <p:cNvPr id="361" name="Rounded Rectangle 8"/>
          <p:cNvSpPr/>
          <p:nvPr/>
        </p:nvSpPr>
        <p:spPr>
          <a:xfrm>
            <a:off x="457200" y="2286000"/>
            <a:ext cx="3291841" cy="384048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9"/>
          <p:cNvSpPr txBox="1"/>
          <p:nvPr/>
        </p:nvSpPr>
        <p:spPr>
          <a:xfrm>
            <a:off x="502919" y="2408173"/>
            <a:ext cx="3200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COPY requirements.txt .</a:t>
            </a:r>
          </a:p>
        </p:txBody>
      </p:sp>
      <p:sp>
        <p:nvSpPr>
          <p:cNvPr id="363" name="TextBox 10"/>
          <p:cNvSpPr txBox="1"/>
          <p:nvPr/>
        </p:nvSpPr>
        <p:spPr>
          <a:xfrm>
            <a:off x="3840479" y="2409488"/>
            <a:ext cx="822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1 kB</a:t>
            </a:r>
          </a:p>
        </p:txBody>
      </p:sp>
      <p:sp>
        <p:nvSpPr>
          <p:cNvPr id="364" name="Rounded Rectangle 11"/>
          <p:cNvSpPr/>
          <p:nvPr/>
        </p:nvSpPr>
        <p:spPr>
          <a:xfrm>
            <a:off x="457200" y="2743200"/>
            <a:ext cx="3291841" cy="384048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12"/>
          <p:cNvSpPr txBox="1"/>
          <p:nvPr/>
        </p:nvSpPr>
        <p:spPr>
          <a:xfrm>
            <a:off x="502919" y="2865373"/>
            <a:ext cx="3200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WORKDIR /app</a:t>
            </a:r>
          </a:p>
        </p:txBody>
      </p:sp>
      <p:sp>
        <p:nvSpPr>
          <p:cNvPr id="366" name="TextBox 13"/>
          <p:cNvSpPr txBox="1"/>
          <p:nvPr/>
        </p:nvSpPr>
        <p:spPr>
          <a:xfrm>
            <a:off x="3840479" y="2866688"/>
            <a:ext cx="822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0 B</a:t>
            </a:r>
          </a:p>
        </p:txBody>
      </p:sp>
      <p:sp>
        <p:nvSpPr>
          <p:cNvPr id="367" name="Rounded Rectangle 14"/>
          <p:cNvSpPr/>
          <p:nvPr/>
        </p:nvSpPr>
        <p:spPr>
          <a:xfrm>
            <a:off x="457200" y="3200400"/>
            <a:ext cx="3291841" cy="384048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15"/>
          <p:cNvSpPr txBox="1"/>
          <p:nvPr/>
        </p:nvSpPr>
        <p:spPr>
          <a:xfrm>
            <a:off x="502919" y="3322573"/>
            <a:ext cx="3200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FROM python:3.13-alpine</a:t>
            </a:r>
          </a:p>
        </p:txBody>
      </p:sp>
      <p:sp>
        <p:nvSpPr>
          <p:cNvPr id="369" name="TextBox 16"/>
          <p:cNvSpPr txBox="1"/>
          <p:nvPr/>
        </p:nvSpPr>
        <p:spPr>
          <a:xfrm>
            <a:off x="3840479" y="3323888"/>
            <a:ext cx="822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≈ 45 MB</a:t>
            </a:r>
          </a:p>
        </p:txBody>
      </p:sp>
      <p:sp>
        <p:nvSpPr>
          <p:cNvPr id="370" name="Rounded Rectangle 17"/>
          <p:cNvSpPr/>
          <p:nvPr/>
        </p:nvSpPr>
        <p:spPr>
          <a:xfrm>
            <a:off x="457200" y="914400"/>
            <a:ext cx="3291841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18"/>
          <p:cNvSpPr txBox="1"/>
          <p:nvPr/>
        </p:nvSpPr>
        <p:spPr>
          <a:xfrm>
            <a:off x="502919" y="1038651"/>
            <a:ext cx="32004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container layer (read-write)</a:t>
            </a:r>
          </a:p>
        </p:txBody>
      </p:sp>
      <p:sp>
        <p:nvSpPr>
          <p:cNvPr id="372" name="TextBox 19"/>
          <p:cNvSpPr txBox="1"/>
          <p:nvPr/>
        </p:nvSpPr>
        <p:spPr>
          <a:xfrm>
            <a:off x="3840479" y="1042924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/>
            <a:r>
              <a:t>per container</a:t>
            </a:r>
          </a:p>
        </p:txBody>
      </p:sp>
      <p:sp>
        <p:nvSpPr>
          <p:cNvPr id="373" name="TextBox 20"/>
          <p:cNvSpPr txBox="1"/>
          <p:nvPr/>
        </p:nvSpPr>
        <p:spPr>
          <a:xfrm>
            <a:off x="457199" y="3703320"/>
            <a:ext cx="32918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image layers: read-only, shared</a:t>
            </a:r>
          </a:p>
        </p:txBody>
      </p:sp>
      <p:sp>
        <p:nvSpPr>
          <p:cNvPr id="374" name="Connector 21"/>
          <p:cNvSpPr/>
          <p:nvPr/>
        </p:nvSpPr>
        <p:spPr>
          <a:xfrm flipV="1">
            <a:off x="320040" y="1371599"/>
            <a:ext cx="1" cy="2286001"/>
          </a:xfrm>
          <a:prstGeom prst="line">
            <a:avLst/>
          </a:prstGeom>
          <a:ln w="1270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Rounded Rectangle 22"/>
          <p:cNvSpPr/>
          <p:nvPr/>
        </p:nvSpPr>
        <p:spPr>
          <a:xfrm>
            <a:off x="4846320" y="914400"/>
            <a:ext cx="38404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Rectangle 23"/>
          <p:cNvSpPr/>
          <p:nvPr/>
        </p:nvSpPr>
        <p:spPr>
          <a:xfrm>
            <a:off x="4846320" y="914399"/>
            <a:ext cx="54865" cy="77724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24"/>
          <p:cNvSpPr txBox="1"/>
          <p:nvPr/>
        </p:nvSpPr>
        <p:spPr>
          <a:xfrm>
            <a:off x="5029199" y="1024127"/>
            <a:ext cx="356616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Svaka naredba = sloj</a:t>
            </a:r>
          </a:p>
        </p:txBody>
      </p:sp>
      <p:sp>
        <p:nvSpPr>
          <p:cNvPr id="378" name="TextBox 25"/>
          <p:cNvSpPr txBox="1"/>
          <p:nvPr/>
        </p:nvSpPr>
        <p:spPr>
          <a:xfrm>
            <a:off x="5029199" y="1344167"/>
            <a:ext cx="35661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RUN, COPY i ADD dodaju sloj s promjenama datotečnog sustava; ostale dodaju samo metapodatke.</a:t>
            </a:r>
          </a:p>
        </p:txBody>
      </p:sp>
      <p:sp>
        <p:nvSpPr>
          <p:cNvPr id="379" name="Rounded Rectangle 26"/>
          <p:cNvSpPr/>
          <p:nvPr/>
        </p:nvSpPr>
        <p:spPr>
          <a:xfrm>
            <a:off x="4846320" y="1764792"/>
            <a:ext cx="38404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Rectangle 27"/>
          <p:cNvSpPr/>
          <p:nvPr/>
        </p:nvSpPr>
        <p:spPr>
          <a:xfrm>
            <a:off x="4846320" y="1764792"/>
            <a:ext cx="54865" cy="77724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28"/>
          <p:cNvSpPr txBox="1"/>
          <p:nvPr/>
        </p:nvSpPr>
        <p:spPr>
          <a:xfrm>
            <a:off x="5029199" y="1874520"/>
            <a:ext cx="356616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Slojevi se dijele</a:t>
            </a:r>
          </a:p>
        </p:txBody>
      </p:sp>
      <p:sp>
        <p:nvSpPr>
          <p:cNvPr id="382" name="TextBox 29"/>
          <p:cNvSpPr txBox="1"/>
          <p:nvPr/>
        </p:nvSpPr>
        <p:spPr>
          <a:xfrm>
            <a:off x="5029199" y="2194560"/>
            <a:ext cx="356616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Deset slika na istoj baznoj slici čuva baznu sliku jednom, na disku i u registru.</a:t>
            </a:r>
          </a:p>
        </p:txBody>
      </p:sp>
      <p:sp>
        <p:nvSpPr>
          <p:cNvPr id="383" name="Rounded Rectangle 30"/>
          <p:cNvSpPr/>
          <p:nvPr/>
        </p:nvSpPr>
        <p:spPr>
          <a:xfrm>
            <a:off x="4846320" y="2615183"/>
            <a:ext cx="38404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Rectangle 31"/>
          <p:cNvSpPr/>
          <p:nvPr/>
        </p:nvSpPr>
        <p:spPr>
          <a:xfrm>
            <a:off x="4846320" y="2615183"/>
            <a:ext cx="54865" cy="77724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32"/>
          <p:cNvSpPr txBox="1"/>
          <p:nvPr/>
        </p:nvSpPr>
        <p:spPr>
          <a:xfrm>
            <a:off x="5029199" y="2724911"/>
            <a:ext cx="356616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Copy-on-write</a:t>
            </a:r>
          </a:p>
        </p:txBody>
      </p:sp>
      <p:sp>
        <p:nvSpPr>
          <p:cNvPr id="386" name="TextBox 33"/>
          <p:cNvSpPr txBox="1"/>
          <p:nvPr/>
        </p:nvSpPr>
        <p:spPr>
          <a:xfrm>
            <a:off x="5029199" y="3044951"/>
            <a:ext cx="35661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Kontejner piše u svoj tanki sloj. docker rm ga briše; za trajne podatke koristimo volumene (tjedan 4).</a:t>
            </a:r>
          </a:p>
        </p:txBody>
      </p:sp>
      <p:sp>
        <p:nvSpPr>
          <p:cNvPr id="387" name="Rounded Rectangle 34"/>
          <p:cNvSpPr/>
          <p:nvPr/>
        </p:nvSpPr>
        <p:spPr>
          <a:xfrm>
            <a:off x="4846320" y="3465576"/>
            <a:ext cx="38404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ectangle 35"/>
          <p:cNvSpPr/>
          <p:nvPr/>
        </p:nvSpPr>
        <p:spPr>
          <a:xfrm>
            <a:off x="4846320" y="3465576"/>
            <a:ext cx="54865" cy="7772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36"/>
          <p:cNvSpPr txBox="1"/>
          <p:nvPr/>
        </p:nvSpPr>
        <p:spPr>
          <a:xfrm>
            <a:off x="5029199" y="3575303"/>
            <a:ext cx="356616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Brisanje ne smanjuje sliku</a:t>
            </a:r>
          </a:p>
        </p:txBody>
      </p:sp>
      <p:sp>
        <p:nvSpPr>
          <p:cNvPr id="390" name="TextBox 37"/>
          <p:cNvSpPr txBox="1"/>
          <p:nvPr/>
        </p:nvSpPr>
        <p:spPr>
          <a:xfrm>
            <a:off x="5029199" y="3895344"/>
            <a:ext cx="356616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rm u kasnijem RUN-u samo skrije datoteku; zato se čisti u istom RUN-u.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Cache: redoslijed naredbi je važan</a:t>
            </a:r>
          </a:p>
        </p:txBody>
      </p:sp>
      <p:sp>
        <p:nvSpPr>
          <p:cNvPr id="393" name="TextBox 2"/>
          <p:cNvSpPr txBox="1"/>
          <p:nvPr/>
        </p:nvSpPr>
        <p:spPr>
          <a:xfrm>
            <a:off x="457200" y="914399"/>
            <a:ext cx="397763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4"/>
                </a:solidFill>
              </a:defRPr>
            </a:lvl1pPr>
          </a:lstStyle>
          <a:p>
            <a:pPr/>
            <a:r>
              <a:t>Loše: svaka promjena koda reinstalira ovisnosti</a:t>
            </a:r>
          </a:p>
        </p:txBody>
      </p:sp>
      <p:sp>
        <p:nvSpPr>
          <p:cNvPr id="394" name="Rounded Rectangle 3"/>
          <p:cNvSpPr/>
          <p:nvPr/>
        </p:nvSpPr>
        <p:spPr>
          <a:xfrm>
            <a:off x="457200" y="1234439"/>
            <a:ext cx="3977639" cy="146304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TextBox 4"/>
          <p:cNvSpPr txBox="1"/>
          <p:nvPr/>
        </p:nvSpPr>
        <p:spPr>
          <a:xfrm>
            <a:off x="594359" y="1344167"/>
            <a:ext cx="3703322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python:3.13-alpine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WORKDIR /app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COPY . .                   # code changed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RUN pip install -r \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requirements.txt       # cache miss</a:t>
            </a:r>
          </a:p>
        </p:txBody>
      </p:sp>
      <p:sp>
        <p:nvSpPr>
          <p:cNvPr id="396" name="TextBox 5"/>
          <p:cNvSpPr txBox="1"/>
          <p:nvPr/>
        </p:nvSpPr>
        <p:spPr>
          <a:xfrm>
            <a:off x="4709159" y="914399"/>
            <a:ext cx="39776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Dobro: ovisnosti iz cachea, mijenja se samo zadnji sloj</a:t>
            </a:r>
          </a:p>
        </p:txBody>
      </p:sp>
      <p:sp>
        <p:nvSpPr>
          <p:cNvPr id="397" name="Rounded Rectangle 6"/>
          <p:cNvSpPr/>
          <p:nvPr/>
        </p:nvSpPr>
        <p:spPr>
          <a:xfrm>
            <a:off x="4709159" y="1234439"/>
            <a:ext cx="3977640" cy="146304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TextBox 7"/>
          <p:cNvSpPr txBox="1"/>
          <p:nvPr/>
        </p:nvSpPr>
        <p:spPr>
          <a:xfrm>
            <a:off x="4846320" y="1344167"/>
            <a:ext cx="370332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python:3.13-alpine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WORKDIR /app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COPY requirements.txt .    # CACHED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RUN pip install -r \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requirements.txt       # CACHED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COPY *.py ./               # rebuilt</a:t>
            </a:r>
          </a:p>
        </p:txBody>
      </p:sp>
      <p:sp>
        <p:nvSpPr>
          <p:cNvPr id="399" name="Rounded Rectangle 8"/>
          <p:cNvSpPr/>
          <p:nvPr/>
        </p:nvSpPr>
        <p:spPr>
          <a:xfrm>
            <a:off x="457200" y="2880360"/>
            <a:ext cx="8229600" cy="141732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9"/>
          <p:cNvSpPr txBox="1"/>
          <p:nvPr/>
        </p:nvSpPr>
        <p:spPr>
          <a:xfrm>
            <a:off x="640079" y="2971799"/>
            <a:ext cx="7863842" cy="775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b="1" sz="1200">
                <a:solidFill>
                  <a:schemeClr val="accent1"/>
                </a:solidFill>
              </a:defRPr>
            </a:pPr>
            <a:r>
              <a:t>Pravilo cachea: </a:t>
            </a:r>
            <a:r>
              <a:rPr b="0">
                <a:solidFill>
                  <a:srgbClr val="14202B"/>
                </a:solidFill>
              </a:rPr>
              <a:t>Docker ponovno koristi sloj ako su naredba i ulazne datoteke iste. Prvi promijenjeni sloj i svi iza njega grade se ponovno.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0000"/>
              </a:lnSpc>
              <a:defRPr b="1" sz="1200">
                <a:solidFill>
                  <a:schemeClr val="accent1"/>
                </a:solidFill>
              </a:defRPr>
            </a:pPr>
            <a:r>
              <a:t>Redoslijed: </a:t>
            </a:r>
            <a:r>
              <a:rPr b="0">
                <a:solidFill>
                  <a:srgbClr val="14202B"/>
                </a:solidFill>
              </a:rPr>
              <a:t>ono što se rijetko mijenja (bazna slika, sistemski paketi, ovisnosti) ide gore; kod ide dolje.</a:t>
            </a:r>
            <a:endParaRPr b="0">
              <a:solidFill>
                <a:srgbClr val="14202B"/>
              </a:solidFill>
            </a:endParaRPr>
          </a:p>
          <a:p>
            <a:pPr>
              <a:lnSpc>
                <a:spcPct val="110000"/>
              </a:lnSpc>
              <a:defRPr b="1" sz="1200">
                <a:solidFill>
                  <a:schemeClr val="accent1"/>
                </a:solidFill>
              </a:defRPr>
            </a:pPr>
            <a:r>
              <a:t>Korisno: </a:t>
            </a:r>
            <a:r>
              <a:rPr b="0">
                <a:solidFill>
                  <a:srgbClr val="14202B"/>
                </a:solidFill>
              </a:rPr>
              <a:t>docker build --no-cache, docker build --progress plain (vidi CACHED), docker history.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Multi-stage build</a:t>
            </a:r>
          </a:p>
        </p:txBody>
      </p:sp>
      <p:sp>
        <p:nvSpPr>
          <p:cNvPr id="403" name="Rounded Rectangle 402"/>
          <p:cNvSpPr/>
          <p:nvPr/>
        </p:nvSpPr>
        <p:spPr>
          <a:xfrm>
            <a:off x="457200" y="960120"/>
            <a:ext cx="3108960" cy="242316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5875">
            <a:solidFill>
              <a:srgbClr val="4A90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TextBox 403"/>
          <p:cNvSpPr txBox="1"/>
          <p:nvPr/>
        </p:nvSpPr>
        <p:spPr>
          <a:xfrm>
            <a:off x="594360" y="10058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90A4"/>
                </a:solidFill>
                <a:latin typeface="Courier New"/>
              </a:rPr>
              <a:t>stage: base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594360" y="1371600"/>
            <a:ext cx="283464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TextBox 405"/>
          <p:cNvSpPr txBox="1"/>
          <p:nvPr/>
        </p:nvSpPr>
        <p:spPr>
          <a:xfrm>
            <a:off x="640080" y="137160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202B"/>
                </a:solidFill>
                <a:latin typeface="Courier New"/>
              </a:rPr>
              <a:t>python:3.13-alpine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594360" y="1847088"/>
            <a:ext cx="283464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TextBox 407"/>
          <p:cNvSpPr txBox="1"/>
          <p:nvPr/>
        </p:nvSpPr>
        <p:spPr>
          <a:xfrm>
            <a:off x="640080" y="18470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202B"/>
                </a:solidFill>
                <a:latin typeface="Courier New"/>
              </a:rPr>
              <a:t>WORKDIR /app</a:t>
            </a:r>
          </a:p>
        </p:txBody>
      </p:sp>
      <p:sp>
        <p:nvSpPr>
          <p:cNvPr id="409" name="Rounded Rectangle 408"/>
          <p:cNvSpPr/>
          <p:nvPr/>
        </p:nvSpPr>
        <p:spPr>
          <a:xfrm>
            <a:off x="594360" y="2322576"/>
            <a:ext cx="283464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TextBox 409"/>
          <p:cNvSpPr txBox="1"/>
          <p:nvPr/>
        </p:nvSpPr>
        <p:spPr>
          <a:xfrm>
            <a:off x="640080" y="232257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202B"/>
                </a:solidFill>
                <a:latin typeface="Courier New"/>
              </a:rPr>
              <a:t>COPY requirements.txt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594360" y="2798064"/>
            <a:ext cx="283464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TextBox 411"/>
          <p:cNvSpPr txBox="1"/>
          <p:nvPr/>
        </p:nvSpPr>
        <p:spPr>
          <a:xfrm>
            <a:off x="640080" y="279806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4202B"/>
                </a:solidFill>
                <a:latin typeface="Courier New"/>
              </a:rPr>
              <a:t>pip install -r requirements.txt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5394960" y="960120"/>
            <a:ext cx="3291840" cy="109728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5875">
            <a:solidFill>
              <a:srgbClr val="F28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TextBox 413"/>
          <p:cNvSpPr txBox="1"/>
          <p:nvPr/>
        </p:nvSpPr>
        <p:spPr>
          <a:xfrm>
            <a:off x="5532120" y="1005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8C28"/>
                </a:solidFill>
                <a:latin typeface="Courier New"/>
              </a:rPr>
              <a:t>stage: test (not shipped)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5532120" y="1325880"/>
            <a:ext cx="3017520" cy="3017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TextBox 415"/>
          <p:cNvSpPr txBox="1"/>
          <p:nvPr/>
        </p:nvSpPr>
        <p:spPr>
          <a:xfrm>
            <a:off x="5577840" y="1325880"/>
            <a:ext cx="292607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4202B"/>
                </a:solidFill>
                <a:latin typeface="Courier New"/>
              </a:rPr>
              <a:t>pip install -r requirements-dev.txt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5532120" y="1673352"/>
            <a:ext cx="3017520" cy="3017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TextBox 417"/>
          <p:cNvSpPr txBox="1"/>
          <p:nvPr/>
        </p:nvSpPr>
        <p:spPr>
          <a:xfrm>
            <a:off x="5577840" y="1673352"/>
            <a:ext cx="292607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4202B"/>
                </a:solidFill>
                <a:latin typeface="Courier New"/>
              </a:rPr>
              <a:t>COPY *.py tests/ · RUN pytest</a:t>
            </a:r>
          </a:p>
        </p:txBody>
      </p:sp>
      <p:sp>
        <p:nvSpPr>
          <p:cNvPr id="419" name="Rounded Rectangle 418"/>
          <p:cNvSpPr/>
          <p:nvPr/>
        </p:nvSpPr>
        <p:spPr>
          <a:xfrm>
            <a:off x="5394960" y="2194560"/>
            <a:ext cx="3291840" cy="118872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TextBox 419"/>
          <p:cNvSpPr txBox="1"/>
          <p:nvPr/>
        </p:nvSpPr>
        <p:spPr>
          <a:xfrm>
            <a:off x="5532120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ourier New"/>
              </a:rPr>
              <a:t>stage: runtime (final image)</a:t>
            </a:r>
          </a:p>
        </p:txBody>
      </p:sp>
      <p:sp>
        <p:nvSpPr>
          <p:cNvPr id="421" name="Rounded Rectangle 420"/>
          <p:cNvSpPr/>
          <p:nvPr/>
        </p:nvSpPr>
        <p:spPr>
          <a:xfrm>
            <a:off x="5532120" y="2560320"/>
            <a:ext cx="3017520" cy="3017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TextBox 421"/>
          <p:cNvSpPr txBox="1"/>
          <p:nvPr/>
        </p:nvSpPr>
        <p:spPr>
          <a:xfrm>
            <a:off x="5577840" y="2560320"/>
            <a:ext cx="292607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4202B"/>
                </a:solidFill>
                <a:latin typeface="Courier New"/>
              </a:rPr>
              <a:t>adduser app · COPY *.py version.txt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5532120" y="2926080"/>
            <a:ext cx="3017520" cy="301752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 w="1270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TextBox 423"/>
          <p:cNvSpPr txBox="1"/>
          <p:nvPr/>
        </p:nvSpPr>
        <p:spPr>
          <a:xfrm>
            <a:off x="5577840" y="2926080"/>
            <a:ext cx="292607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USER app · ENTRYPOINT</a:t>
            </a:r>
          </a:p>
        </p:txBody>
      </p:sp>
      <p:cxnSp>
        <p:nvCxnSpPr>
          <p:cNvPr id="425" name="Connector 424"/>
          <p:cNvCxnSpPr/>
          <p:nvPr/>
        </p:nvCxnSpPr>
        <p:spPr>
          <a:xfrm flipV="1">
            <a:off x="3566160" y="1508760"/>
            <a:ext cx="1828800" cy="411480"/>
          </a:xfrm>
          <a:prstGeom prst="line">
            <a:avLst/>
          </a:prstGeom>
          <a:ln w="25400">
            <a:solidFill>
              <a:srgbClr val="F28C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3566160" y="2377440"/>
            <a:ext cx="1828800" cy="411480"/>
          </a:xfrm>
          <a:prstGeom prst="line">
            <a:avLst/>
          </a:prstGeom>
          <a:ln w="25400">
            <a:solidFill>
              <a:srgbClr val="0E7C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3657600" y="1417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28C28"/>
                </a:solidFill>
                <a:latin typeface="Courier New"/>
              </a:rPr>
              <a:t>FROM base AS test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3657600" y="2697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E7C7B"/>
                </a:solidFill>
                <a:latin typeface="Courier New"/>
              </a:rPr>
              <a:t>FROM base AS runtime</a:t>
            </a:r>
          </a:p>
        </p:txBody>
      </p:sp>
      <p:sp>
        <p:nvSpPr>
          <p:cNvPr id="429" name="Rounded Rectangle 428"/>
          <p:cNvSpPr/>
          <p:nvPr/>
        </p:nvSpPr>
        <p:spPr>
          <a:xfrm>
            <a:off x="457200" y="3520440"/>
            <a:ext cx="2651760" cy="77724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TextBox 430"/>
          <p:cNvSpPr txBox="1"/>
          <p:nvPr/>
        </p:nvSpPr>
        <p:spPr>
          <a:xfrm>
            <a:off x="640080" y="3630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3B43"/>
                </a:solidFill>
                <a:latin typeface="Arial"/>
              </a:rPr>
              <a:t>Manja slika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640080" y="3950208"/>
            <a:ext cx="237744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202B"/>
                </a:solidFill>
              </a:rPr>
              <a:t>Samo runtime ovisnosti: bez pytesta, testova i alata za razvoj.</a:t>
            </a:r>
          </a:p>
        </p:txBody>
      </p:sp>
      <p:sp>
        <p:nvSpPr>
          <p:cNvPr id="433" name="Rounded Rectangle 432"/>
          <p:cNvSpPr/>
          <p:nvPr/>
        </p:nvSpPr>
        <p:spPr>
          <a:xfrm>
            <a:off x="3246120" y="3520440"/>
            <a:ext cx="2651760" cy="77724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Rectangle 433"/>
          <p:cNvSpPr/>
          <p:nvPr/>
        </p:nvSpPr>
        <p:spPr>
          <a:xfrm>
            <a:off x="3246120" y="3520440"/>
            <a:ext cx="54864" cy="7772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5" name="TextBox 434"/>
          <p:cNvSpPr txBox="1"/>
          <p:nvPr/>
        </p:nvSpPr>
        <p:spPr>
          <a:xfrm>
            <a:off x="3429000" y="3630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3B43"/>
                </a:solidFill>
                <a:latin typeface="Arial"/>
              </a:rPr>
              <a:t>Sigurnija slika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3429000" y="3950208"/>
            <a:ext cx="237744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202B"/>
                </a:solidFill>
              </a:rPr>
              <a:t>Manje paketa = manje ranjivosti.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6035040" y="3520440"/>
            <a:ext cx="2651760" cy="77724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Rectangle 437"/>
          <p:cNvSpPr/>
          <p:nvPr/>
        </p:nvSpPr>
        <p:spPr>
          <a:xfrm>
            <a:off x="6035040" y="3520440"/>
            <a:ext cx="54864" cy="777240"/>
          </a:xfrm>
          <a:prstGeom prst="rect">
            <a:avLst/>
          </a:prstGeom>
          <a:solidFill>
            <a:srgbClr val="4A9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9" name="TextBox 438"/>
          <p:cNvSpPr txBox="1"/>
          <p:nvPr/>
        </p:nvSpPr>
        <p:spPr>
          <a:xfrm>
            <a:off x="6217920" y="3630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3B43"/>
                </a:solidFill>
                <a:latin typeface="Arial"/>
              </a:rPr>
              <a:t>Jedan Dockerfile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6217920" y="3950208"/>
            <a:ext cx="237744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202B"/>
                </a:solidFill>
              </a:rPr>
              <a:t>docker build --target test pokreće samo fazu s testovima.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Pokretanje kao ne-root korisnik</a:t>
            </a:r>
          </a:p>
        </p:txBody>
      </p:sp>
      <p:sp>
        <p:nvSpPr>
          <p:cNvPr id="439" name="Rounded Rectangle 2"/>
          <p:cNvSpPr/>
          <p:nvPr/>
        </p:nvSpPr>
        <p:spPr>
          <a:xfrm>
            <a:off x="457200" y="960119"/>
            <a:ext cx="4023360" cy="169164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3"/>
          <p:cNvSpPr txBox="1"/>
          <p:nvPr/>
        </p:nvSpPr>
        <p:spPr>
          <a:xfrm>
            <a:off x="594359" y="1069847"/>
            <a:ext cx="3749042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alpine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RUN adduser -D -u 10001 app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debian / ubuntu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RUN useradd --create-home -u 10001 app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USER app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WORKDIR /home/app</a:t>
            </a:r>
          </a:p>
        </p:txBody>
      </p:sp>
      <p:sp>
        <p:nvSpPr>
          <p:cNvPr id="441" name="Rounded Rectangle 4"/>
          <p:cNvSpPr/>
          <p:nvPr/>
        </p:nvSpPr>
        <p:spPr>
          <a:xfrm>
            <a:off x="457200" y="2788920"/>
            <a:ext cx="4023360" cy="150876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TextBox 5"/>
          <p:cNvSpPr txBox="1"/>
          <p:nvPr/>
        </p:nvSpPr>
        <p:spPr>
          <a:xfrm>
            <a:off x="594359" y="2898648"/>
            <a:ext cx="3749042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run --rm --entrypoint id img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uid=10001(app) gid=10001(app)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run --rm --user 0 img ...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override, only when really needed</a:t>
            </a:r>
          </a:p>
        </p:txBody>
      </p:sp>
      <p:sp>
        <p:nvSpPr>
          <p:cNvPr id="443" name="Rounded Rectangle 6"/>
          <p:cNvSpPr/>
          <p:nvPr/>
        </p:nvSpPr>
        <p:spPr>
          <a:xfrm>
            <a:off x="4663440" y="960119"/>
            <a:ext cx="4023360" cy="1033273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Rectangle 7"/>
          <p:cNvSpPr/>
          <p:nvPr/>
        </p:nvSpPr>
        <p:spPr>
          <a:xfrm>
            <a:off x="4663440" y="960119"/>
            <a:ext cx="54865" cy="1033273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TextBox 8"/>
          <p:cNvSpPr txBox="1"/>
          <p:nvPr/>
        </p:nvSpPr>
        <p:spPr>
          <a:xfrm>
            <a:off x="4846319" y="1069847"/>
            <a:ext cx="3749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Zašto?</a:t>
            </a:r>
          </a:p>
        </p:txBody>
      </p:sp>
      <p:sp>
        <p:nvSpPr>
          <p:cNvPr id="446" name="TextBox 9"/>
          <p:cNvSpPr txBox="1"/>
          <p:nvPr/>
        </p:nvSpPr>
        <p:spPr>
          <a:xfrm>
            <a:off x="4846319" y="1389888"/>
            <a:ext cx="374904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Zadani korisnik u slici je root. Ako napadač probije aplikaciju ili kontejner, root u kontejneru je korak bliže rootu na hostu.</a:t>
            </a:r>
          </a:p>
        </p:txBody>
      </p:sp>
      <p:sp>
        <p:nvSpPr>
          <p:cNvPr id="447" name="Rounded Rectangle 10"/>
          <p:cNvSpPr/>
          <p:nvPr/>
        </p:nvSpPr>
        <p:spPr>
          <a:xfrm>
            <a:off x="4663440" y="2084832"/>
            <a:ext cx="4023360" cy="1033272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Rectangle 11"/>
          <p:cNvSpPr/>
          <p:nvPr/>
        </p:nvSpPr>
        <p:spPr>
          <a:xfrm>
            <a:off x="4663440" y="2084832"/>
            <a:ext cx="54865" cy="103327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TextBox 12"/>
          <p:cNvSpPr txBox="1"/>
          <p:nvPr/>
        </p:nvSpPr>
        <p:spPr>
          <a:xfrm>
            <a:off x="4846319" y="2194560"/>
            <a:ext cx="37490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Kako?</a:t>
            </a:r>
          </a:p>
        </p:txBody>
      </p:sp>
      <p:sp>
        <p:nvSpPr>
          <p:cNvPr id="450" name="TextBox 13"/>
          <p:cNvSpPr txBox="1"/>
          <p:nvPr/>
        </p:nvSpPr>
        <p:spPr>
          <a:xfrm>
            <a:off x="4846319" y="2514599"/>
            <a:ext cx="37490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Korisnik se stvori u slici, a USER vrijedi za sve sljedeće RUN, CMD i ENTRYPOINT. Instalacija paketa ide prije USER.</a:t>
            </a:r>
          </a:p>
        </p:txBody>
      </p:sp>
      <p:sp>
        <p:nvSpPr>
          <p:cNvPr id="451" name="Rounded Rectangle 14"/>
          <p:cNvSpPr/>
          <p:nvPr/>
        </p:nvSpPr>
        <p:spPr>
          <a:xfrm>
            <a:off x="4663440" y="3209544"/>
            <a:ext cx="4023360" cy="1033272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Rectangle 15"/>
          <p:cNvSpPr/>
          <p:nvPr/>
        </p:nvSpPr>
        <p:spPr>
          <a:xfrm>
            <a:off x="4663440" y="3209543"/>
            <a:ext cx="54865" cy="103327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16"/>
          <p:cNvSpPr txBox="1"/>
          <p:nvPr/>
        </p:nvSpPr>
        <p:spPr>
          <a:xfrm>
            <a:off x="4846319" y="3319271"/>
            <a:ext cx="374904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Ograničenja</a:t>
            </a:r>
          </a:p>
        </p:txBody>
      </p:sp>
      <p:sp>
        <p:nvSpPr>
          <p:cNvPr id="454" name="TextBox 17"/>
          <p:cNvSpPr txBox="1"/>
          <p:nvPr/>
        </p:nvSpPr>
        <p:spPr>
          <a:xfrm>
            <a:off x="4846319" y="3639310"/>
            <a:ext cx="37490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Ne-root ne može slušati na portovima ispod 1024 i pisati u /usr; aplikacija piše u svoj direktorij ili volumen.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Datotečni sustav u kontejneru: /</a:t>
            </a:r>
          </a:p>
        </p:txBody>
      </p:sp>
      <p:graphicFrame>
        <p:nvGraphicFramePr>
          <p:cNvPr id="457" name="Table 2"/>
          <p:cNvGraphicFramePr/>
          <p:nvPr/>
        </p:nvGraphicFramePr>
        <p:xfrm>
          <a:off x="457200" y="914400"/>
          <a:ext cx="4023360" cy="28346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22960"/>
                <a:gridCol w="3200400"/>
              </a:tblGrid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/bin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Osnovne naredbe (sh, ls, cp)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/boot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Kernel i bootloader; prazno u kontejneru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/dev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Uređaji (null, tty, random)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/etc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Konfiguracija (passwd, hosts, resolv.conf)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/home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Direktoriji korisnika (/home/app)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/lib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Dijeljene biblioteke (musl ili glibc)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/media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Točke montiranja izmjenjivih medija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/mnt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Privremene točke montiranja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/opt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Dodatni softver izvan paketnog upravitelja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8" name="Table 3"/>
          <p:cNvGraphicFramePr/>
          <p:nvPr/>
        </p:nvGraphicFramePr>
        <p:xfrm>
          <a:off x="4663440" y="914400"/>
          <a:ext cx="4023360" cy="28346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22960"/>
                <a:gridCol w="3200400"/>
              </a:tblGrid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/proc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Virtualni FS: procesi i kernel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/root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Home direktorij roota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/run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Podaci o radu (PID datoteke, socketi)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/sbin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Sistemske naredbe (za root)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/srv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Podaci koje servisi poslužuju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/sys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Virtualni FS: uređaji i kernel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/tmp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Privremene datoteke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/usr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Programi i biblioteke (/usr/local/bin/python)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14202B"/>
                          </a:solidFill>
                        </a:rPr>
                        <a:t>Promjenjivi podaci: logovi, cache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459" name="Rounded Rectangle 4"/>
          <p:cNvSpPr/>
          <p:nvPr/>
        </p:nvSpPr>
        <p:spPr>
          <a:xfrm>
            <a:off x="457200" y="3840479"/>
            <a:ext cx="8229600" cy="457201"/>
          </a:xfrm>
          <a:prstGeom prst="roundRect">
            <a:avLst>
              <a:gd name="adj" fmla="val 4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TextBox 5"/>
          <p:cNvSpPr txBox="1"/>
          <p:nvPr/>
        </p:nvSpPr>
        <p:spPr>
          <a:xfrm>
            <a:off x="640079" y="3919396"/>
            <a:ext cx="786384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chemeClr val="accent3"/>
                </a:solidFill>
              </a:defRPr>
            </a:pPr>
            <a:r>
              <a:t>Aplikacija: </a:t>
            </a:r>
            <a:r>
              <a:rPr b="0">
                <a:solidFill>
                  <a:srgbClr val="FFFFFF"/>
                </a:solidFill>
              </a:rPr>
              <a:t>WORKDIR /app (kod) ili /home/app (ne-root korisnik); paket instaliran pip-om završi u /usr/local/lib/python3.13/site-packages, a naredba llm u /usr/local/bin.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.dockerignore i build kontekst</a:t>
            </a:r>
          </a:p>
        </p:txBody>
      </p:sp>
      <p:sp>
        <p:nvSpPr>
          <p:cNvPr id="463" name="Rounded Rectangle 2"/>
          <p:cNvSpPr/>
          <p:nvPr/>
        </p:nvSpPr>
        <p:spPr>
          <a:xfrm>
            <a:off x="457200" y="960119"/>
            <a:ext cx="3291841" cy="260604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3"/>
          <p:cNvSpPr txBox="1"/>
          <p:nvPr/>
        </p:nvSpPr>
        <p:spPr>
          <a:xfrm>
            <a:off x="594359" y="1069847"/>
            <a:ext cx="3017522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.dockerignore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.git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.github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.venv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**/__pycache__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**/*.pyc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.pytest_cache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dist/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.env</a:t>
            </a:r>
          </a:p>
        </p:txBody>
      </p:sp>
      <p:sp>
        <p:nvSpPr>
          <p:cNvPr id="465" name="Rounded Rectangle 4"/>
          <p:cNvSpPr/>
          <p:nvPr/>
        </p:nvSpPr>
        <p:spPr>
          <a:xfrm>
            <a:off x="3931920" y="960119"/>
            <a:ext cx="47548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Rectangle 5"/>
          <p:cNvSpPr/>
          <p:nvPr/>
        </p:nvSpPr>
        <p:spPr>
          <a:xfrm>
            <a:off x="3931920" y="960119"/>
            <a:ext cx="54865" cy="77724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TextBox 6"/>
          <p:cNvSpPr txBox="1"/>
          <p:nvPr/>
        </p:nvSpPr>
        <p:spPr>
          <a:xfrm>
            <a:off x="4114800" y="1069847"/>
            <a:ext cx="448056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 kontekst</a:t>
            </a:r>
          </a:p>
        </p:txBody>
      </p:sp>
      <p:sp>
        <p:nvSpPr>
          <p:cNvPr id="468" name="TextBox 7"/>
          <p:cNvSpPr txBox="1"/>
          <p:nvPr/>
        </p:nvSpPr>
        <p:spPr>
          <a:xfrm>
            <a:off x="4114800" y="1389888"/>
            <a:ext cx="448056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docker build . šalje daemonu cijeli direktorij (točka). COPY vidi samo ono što je u kontekstu.</a:t>
            </a:r>
          </a:p>
        </p:txBody>
      </p:sp>
      <p:sp>
        <p:nvSpPr>
          <p:cNvPr id="469" name="Rounded Rectangle 8"/>
          <p:cNvSpPr/>
          <p:nvPr/>
        </p:nvSpPr>
        <p:spPr>
          <a:xfrm>
            <a:off x="3931920" y="1810511"/>
            <a:ext cx="47548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Rectangle 9"/>
          <p:cNvSpPr/>
          <p:nvPr/>
        </p:nvSpPr>
        <p:spPr>
          <a:xfrm>
            <a:off x="3931920" y="1810511"/>
            <a:ext cx="54865" cy="77724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10"/>
          <p:cNvSpPr txBox="1"/>
          <p:nvPr/>
        </p:nvSpPr>
        <p:spPr>
          <a:xfrm>
            <a:off x="4114800" y="1920239"/>
            <a:ext cx="448056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Brzina</a:t>
            </a:r>
          </a:p>
        </p:txBody>
      </p:sp>
      <p:sp>
        <p:nvSpPr>
          <p:cNvPr id="472" name="TextBox 11"/>
          <p:cNvSpPr txBox="1"/>
          <p:nvPr/>
        </p:nvSpPr>
        <p:spPr>
          <a:xfrm>
            <a:off x="4114800" y="2240279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Bez .venv i .git kontekst ima kB umjesto stotina MB, a promjena u .git ne poništava cache.</a:t>
            </a:r>
          </a:p>
        </p:txBody>
      </p:sp>
      <p:sp>
        <p:nvSpPr>
          <p:cNvPr id="473" name="Rounded Rectangle 12"/>
          <p:cNvSpPr/>
          <p:nvPr/>
        </p:nvSpPr>
        <p:spPr>
          <a:xfrm>
            <a:off x="3931920" y="2660904"/>
            <a:ext cx="47548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Rectangle 13"/>
          <p:cNvSpPr/>
          <p:nvPr/>
        </p:nvSpPr>
        <p:spPr>
          <a:xfrm>
            <a:off x="3931920" y="2660904"/>
            <a:ext cx="54865" cy="77724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TextBox 14"/>
          <p:cNvSpPr txBox="1"/>
          <p:nvPr/>
        </p:nvSpPr>
        <p:spPr>
          <a:xfrm>
            <a:off x="4114800" y="2770632"/>
            <a:ext cx="448056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Tajne</a:t>
            </a:r>
          </a:p>
        </p:txBody>
      </p:sp>
      <p:sp>
        <p:nvSpPr>
          <p:cNvPr id="476" name="TextBox 15"/>
          <p:cNvSpPr txBox="1"/>
          <p:nvPr/>
        </p:nvSpPr>
        <p:spPr>
          <a:xfrm>
            <a:off x="4114800" y="3090672"/>
            <a:ext cx="448056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.env i ključevi ne smiju završiti u slici: tko ima sliku, ima i sve slojeve (docker save, docker history).</a:t>
            </a:r>
          </a:p>
        </p:txBody>
      </p:sp>
      <p:sp>
        <p:nvSpPr>
          <p:cNvPr id="477" name="Rounded Rectangle 16"/>
          <p:cNvSpPr/>
          <p:nvPr/>
        </p:nvSpPr>
        <p:spPr>
          <a:xfrm>
            <a:off x="3931920" y="3511296"/>
            <a:ext cx="4754880" cy="7772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Rectangle 17"/>
          <p:cNvSpPr/>
          <p:nvPr/>
        </p:nvSpPr>
        <p:spPr>
          <a:xfrm>
            <a:off x="3931920" y="3511296"/>
            <a:ext cx="54865" cy="7772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18"/>
          <p:cNvSpPr txBox="1"/>
          <p:nvPr/>
        </p:nvSpPr>
        <p:spPr>
          <a:xfrm>
            <a:off x="4114800" y="3621023"/>
            <a:ext cx="448056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Ponovljivost</a:t>
            </a:r>
          </a:p>
        </p:txBody>
      </p:sp>
      <p:sp>
        <p:nvSpPr>
          <p:cNvPr id="480" name="TextBox 19"/>
          <p:cNvSpPr txBox="1"/>
          <p:nvPr/>
        </p:nvSpPr>
        <p:spPr>
          <a:xfrm>
            <a:off x="4114800" y="3941062"/>
            <a:ext cx="448056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U sliku ide samo ono što smo namjerno kopirali, ne lokalni __pycache__ ili venv za drugi OS.</a:t>
            </a:r>
          </a:p>
        </p:txBody>
      </p:sp>
      <p:sp>
        <p:nvSpPr>
          <p:cNvPr id="481" name="TextBox 20"/>
          <p:cNvSpPr txBox="1"/>
          <p:nvPr/>
        </p:nvSpPr>
        <p:spPr>
          <a:xfrm>
            <a:off x="457199" y="3749038"/>
            <a:ext cx="32918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0E3B43"/>
                </a:solidFill>
              </a:defRPr>
            </a:lvl1pPr>
          </a:lstStyle>
          <a:p>
            <a:pPr/>
            <a:r>
              <a:t>Konfiguracija dolazi pri pokretanju: docker run -e ... ili --env-file .env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Slike, tagovi i registri</a:t>
            </a:r>
          </a:p>
        </p:txBody>
      </p:sp>
      <p:sp>
        <p:nvSpPr>
          <p:cNvPr id="484" name="Rounded Rectangle 2"/>
          <p:cNvSpPr/>
          <p:nvPr/>
        </p:nvSpPr>
        <p:spPr>
          <a:xfrm>
            <a:off x="640080" y="1051560"/>
            <a:ext cx="1188720" cy="457201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3"/>
          <p:cNvSpPr txBox="1"/>
          <p:nvPr/>
        </p:nvSpPr>
        <p:spPr>
          <a:xfrm>
            <a:off x="685799" y="1203960"/>
            <a:ext cx="10972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ghcr.io</a:t>
            </a:r>
          </a:p>
        </p:txBody>
      </p:sp>
      <p:sp>
        <p:nvSpPr>
          <p:cNvPr id="486" name="TextBox 4"/>
          <p:cNvSpPr txBox="1"/>
          <p:nvPr/>
        </p:nvSpPr>
        <p:spPr>
          <a:xfrm>
            <a:off x="640080" y="1554480"/>
            <a:ext cx="11887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5"/>
                </a:solidFill>
              </a:defRPr>
            </a:lvl1pPr>
          </a:lstStyle>
          <a:p>
            <a:pPr/>
            <a:r>
              <a:t>registry</a:t>
            </a:r>
          </a:p>
        </p:txBody>
      </p:sp>
      <p:sp>
        <p:nvSpPr>
          <p:cNvPr id="487" name="Rounded Rectangle 5"/>
          <p:cNvSpPr/>
          <p:nvPr/>
        </p:nvSpPr>
        <p:spPr>
          <a:xfrm>
            <a:off x="1874518" y="1051560"/>
            <a:ext cx="1828801" cy="457201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6"/>
          <p:cNvSpPr txBox="1"/>
          <p:nvPr/>
        </p:nvSpPr>
        <p:spPr>
          <a:xfrm>
            <a:off x="1920238" y="1203960"/>
            <a:ext cx="17373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/unipu-praktikum</a:t>
            </a:r>
          </a:p>
        </p:txBody>
      </p:sp>
      <p:sp>
        <p:nvSpPr>
          <p:cNvPr id="489" name="TextBox 7"/>
          <p:cNvSpPr txBox="1"/>
          <p:nvPr/>
        </p:nvSpPr>
        <p:spPr>
          <a:xfrm>
            <a:off x="1874518" y="1554480"/>
            <a:ext cx="18288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2"/>
                </a:solidFill>
              </a:defRPr>
            </a:lvl1pPr>
          </a:lstStyle>
          <a:p>
            <a:pPr/>
            <a:r>
              <a:t>namespace</a:t>
            </a:r>
          </a:p>
        </p:txBody>
      </p:sp>
      <p:sp>
        <p:nvSpPr>
          <p:cNvPr id="490" name="Rounded Rectangle 8"/>
          <p:cNvSpPr/>
          <p:nvPr/>
        </p:nvSpPr>
        <p:spPr>
          <a:xfrm>
            <a:off x="3749038" y="1051560"/>
            <a:ext cx="1691641" cy="457201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TextBox 9"/>
          <p:cNvSpPr txBox="1"/>
          <p:nvPr/>
        </p:nvSpPr>
        <p:spPr>
          <a:xfrm>
            <a:off x="3794759" y="1203960"/>
            <a:ext cx="1600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/praktikum-ana</a:t>
            </a:r>
          </a:p>
        </p:txBody>
      </p:sp>
      <p:sp>
        <p:nvSpPr>
          <p:cNvPr id="492" name="TextBox 10"/>
          <p:cNvSpPr txBox="1"/>
          <p:nvPr/>
        </p:nvSpPr>
        <p:spPr>
          <a:xfrm>
            <a:off x="3749039" y="1554480"/>
            <a:ext cx="16916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repository</a:t>
            </a:r>
          </a:p>
        </p:txBody>
      </p:sp>
      <p:sp>
        <p:nvSpPr>
          <p:cNvPr id="493" name="Rounded Rectangle 11"/>
          <p:cNvSpPr/>
          <p:nvPr/>
        </p:nvSpPr>
        <p:spPr>
          <a:xfrm>
            <a:off x="5486400" y="1051560"/>
            <a:ext cx="868681" cy="45720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12"/>
          <p:cNvSpPr txBox="1"/>
          <p:nvPr/>
        </p:nvSpPr>
        <p:spPr>
          <a:xfrm>
            <a:off x="5532120" y="1203960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:0.2.0</a:t>
            </a:r>
          </a:p>
        </p:txBody>
      </p:sp>
      <p:sp>
        <p:nvSpPr>
          <p:cNvPr id="495" name="TextBox 13"/>
          <p:cNvSpPr txBox="1"/>
          <p:nvPr/>
        </p:nvSpPr>
        <p:spPr>
          <a:xfrm>
            <a:off x="5486399" y="1554480"/>
            <a:ext cx="8686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3"/>
                </a:solidFill>
              </a:defRPr>
            </a:lvl1pPr>
          </a:lstStyle>
          <a:p>
            <a:pPr/>
            <a:r>
              <a:t>tag</a:t>
            </a:r>
          </a:p>
        </p:txBody>
      </p:sp>
      <p:sp>
        <p:nvSpPr>
          <p:cNvPr id="496" name="Rounded Rectangle 14"/>
          <p:cNvSpPr/>
          <p:nvPr/>
        </p:nvSpPr>
        <p:spPr>
          <a:xfrm>
            <a:off x="6400800" y="1051560"/>
            <a:ext cx="1600200" cy="457201"/>
          </a:xfrm>
          <a:prstGeom prst="roundRect">
            <a:avLst>
              <a:gd name="adj" fmla="val 15000"/>
            </a:avLst>
          </a:prstGeom>
          <a:solidFill>
            <a:srgbClr val="EEF4F4"/>
          </a:solidFill>
          <a:ln w="12700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TextBox 15"/>
          <p:cNvSpPr txBox="1"/>
          <p:nvPr/>
        </p:nvSpPr>
        <p:spPr>
          <a:xfrm>
            <a:off x="6446520" y="1210310"/>
            <a:ext cx="15087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E3B4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@sha256:9f2c…</a:t>
            </a:r>
          </a:p>
        </p:txBody>
      </p:sp>
      <p:sp>
        <p:nvSpPr>
          <p:cNvPr id="498" name="TextBox 16"/>
          <p:cNvSpPr txBox="1"/>
          <p:nvPr/>
        </p:nvSpPr>
        <p:spPr>
          <a:xfrm>
            <a:off x="6400800" y="1554480"/>
            <a:ext cx="16002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6"/>
                </a:solidFill>
              </a:defRPr>
            </a:lvl1pPr>
          </a:lstStyle>
          <a:p>
            <a:pPr/>
            <a:r>
              <a:t>digest</a:t>
            </a:r>
          </a:p>
        </p:txBody>
      </p:sp>
      <p:graphicFrame>
        <p:nvGraphicFramePr>
          <p:cNvPr id="499" name="Table 17"/>
          <p:cNvGraphicFramePr/>
          <p:nvPr/>
        </p:nvGraphicFramePr>
        <p:xfrm>
          <a:off x="457200" y="1965960"/>
          <a:ext cx="4206241" cy="14630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2194560"/>
              </a:tblGrid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Registar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Tko ga nudi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Docker Hub (docker.io)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Docker; zadani registar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GHCR (ghcr.io)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GitHub, uz repozitorij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Artifact Registry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Google Cloud (tema 6+)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ECR / ACR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AWS / Azure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0" name="Rounded Rectangle 18"/>
          <p:cNvSpPr/>
          <p:nvPr/>
        </p:nvSpPr>
        <p:spPr>
          <a:xfrm>
            <a:off x="4846320" y="1965960"/>
            <a:ext cx="3840480" cy="713233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1" name="Rectangle 19"/>
          <p:cNvSpPr/>
          <p:nvPr/>
        </p:nvSpPr>
        <p:spPr>
          <a:xfrm>
            <a:off x="4846320" y="1965960"/>
            <a:ext cx="54865" cy="71323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20"/>
          <p:cNvSpPr txBox="1"/>
          <p:nvPr/>
        </p:nvSpPr>
        <p:spPr>
          <a:xfrm>
            <a:off x="5029199" y="2075688"/>
            <a:ext cx="35661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Tag je pokazivač</a:t>
            </a:r>
          </a:p>
        </p:txBody>
      </p:sp>
      <p:sp>
        <p:nvSpPr>
          <p:cNvPr id="503" name="TextBox 21"/>
          <p:cNvSpPr txBox="1"/>
          <p:nvPr/>
        </p:nvSpPr>
        <p:spPr>
          <a:xfrm>
            <a:off x="5029199" y="2395727"/>
            <a:ext cx="3566161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/>
            </a:lvl1pPr>
          </a:lstStyle>
          <a:p>
            <a:pPr/>
            <a:r>
              <a:t>Može se premjestiti na drugu sliku (kao git grana). latest nije "najnovija", nego zadana oznaka.</a:t>
            </a:r>
          </a:p>
        </p:txBody>
      </p:sp>
      <p:sp>
        <p:nvSpPr>
          <p:cNvPr id="504" name="Rounded Rectangle 22"/>
          <p:cNvSpPr/>
          <p:nvPr/>
        </p:nvSpPr>
        <p:spPr>
          <a:xfrm>
            <a:off x="4846320" y="2752344"/>
            <a:ext cx="3840480" cy="713233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Rectangle 23"/>
          <p:cNvSpPr/>
          <p:nvPr/>
        </p:nvSpPr>
        <p:spPr>
          <a:xfrm>
            <a:off x="4846320" y="2752344"/>
            <a:ext cx="54865" cy="71323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24"/>
          <p:cNvSpPr txBox="1"/>
          <p:nvPr/>
        </p:nvSpPr>
        <p:spPr>
          <a:xfrm>
            <a:off x="5029199" y="2862072"/>
            <a:ext cx="356616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Digest je sadržaj</a:t>
            </a:r>
          </a:p>
        </p:txBody>
      </p:sp>
      <p:sp>
        <p:nvSpPr>
          <p:cNvPr id="507" name="TextBox 25"/>
          <p:cNvSpPr txBox="1"/>
          <p:nvPr/>
        </p:nvSpPr>
        <p:spPr>
          <a:xfrm>
            <a:off x="5029199" y="3182111"/>
            <a:ext cx="356616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/>
            </a:lvl1pPr>
          </a:lstStyle>
          <a:p>
            <a:pPr/>
            <a:r>
              <a:t>sha256 cijele slike; nepromjenjiv (kao git commit). Za produkciju: točna verzija ili digest.</a:t>
            </a:r>
          </a:p>
        </p:txBody>
      </p:sp>
      <p:sp>
        <p:nvSpPr>
          <p:cNvPr id="508" name="Rounded Rectangle 26"/>
          <p:cNvSpPr/>
          <p:nvPr/>
        </p:nvSpPr>
        <p:spPr>
          <a:xfrm>
            <a:off x="4846320" y="3538728"/>
            <a:ext cx="3840480" cy="713233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Rectangle 27"/>
          <p:cNvSpPr/>
          <p:nvPr/>
        </p:nvSpPr>
        <p:spPr>
          <a:xfrm>
            <a:off x="4846320" y="3538728"/>
            <a:ext cx="54865" cy="71323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TextBox 28"/>
          <p:cNvSpPr txBox="1"/>
          <p:nvPr/>
        </p:nvSpPr>
        <p:spPr>
          <a:xfrm>
            <a:off x="5029199" y="3648455"/>
            <a:ext cx="356616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Konvencija</a:t>
            </a:r>
          </a:p>
        </p:txBody>
      </p:sp>
      <p:sp>
        <p:nvSpPr>
          <p:cNvPr id="511" name="TextBox 29"/>
          <p:cNvSpPr txBox="1"/>
          <p:nvPr/>
        </p:nvSpPr>
        <p:spPr>
          <a:xfrm>
            <a:off x="5029199" y="3968496"/>
            <a:ext cx="3566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/>
            </a:lvl1pPr>
          </a:lstStyle>
          <a:p>
            <a:pPr/>
            <a:r>
              <a:t>Tag = verzija iz version.txt (release-please) + kratki git SHA za CI buildove.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itle 1"/>
          <p:cNvSpPr txBox="1"/>
          <p:nvPr>
            <p:ph type="title"/>
          </p:nvPr>
        </p:nvSpPr>
        <p:spPr>
          <a:xfrm>
            <a:off x="2103119" y="1737360"/>
            <a:ext cx="6492242" cy="914401"/>
          </a:xfrm>
          <a:prstGeom prst="rect">
            <a:avLst/>
          </a:prstGeom>
        </p:spPr>
        <p:txBody>
          <a:bodyPr/>
          <a:lstStyle/>
          <a:p>
            <a:pPr/>
            <a:r>
              <a:t>Kontejneri</a:t>
            </a:r>
          </a:p>
        </p:txBody>
      </p:sp>
      <p:sp>
        <p:nvSpPr>
          <p:cNvPr id="514" name="Text Placeholder 2"/>
          <p:cNvSpPr txBox="1"/>
          <p:nvPr>
            <p:ph type="body" sz="quarter" idx="1"/>
          </p:nvPr>
        </p:nvSpPr>
        <p:spPr>
          <a:xfrm>
            <a:off x="2103119" y="2743199"/>
            <a:ext cx="6492242" cy="731522"/>
          </a:xfrm>
          <a:prstGeom prst="rect">
            <a:avLst/>
          </a:prstGeom>
        </p:spPr>
        <p:txBody>
          <a:bodyPr/>
          <a:lstStyle/>
          <a:p>
            <a:pPr/>
            <a:r>
              <a:t>Slika vs kontejner, naredbe, gašenje i SIGTERM</a:t>
            </a:r>
          </a:p>
        </p:txBody>
      </p:sp>
      <p:sp>
        <p:nvSpPr>
          <p:cNvPr id="515" name="Oval 3"/>
          <p:cNvSpPr/>
          <p:nvPr/>
        </p:nvSpPr>
        <p:spPr>
          <a:xfrm>
            <a:off x="731519" y="1874518"/>
            <a:ext cx="914401" cy="9144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6" name="TextBox 4"/>
          <p:cNvSpPr txBox="1"/>
          <p:nvPr/>
        </p:nvSpPr>
        <p:spPr>
          <a:xfrm>
            <a:off x="731519" y="2155059"/>
            <a:ext cx="914401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Slika i kontejner</a:t>
            </a:r>
          </a:p>
        </p:txBody>
      </p:sp>
      <p:sp>
        <p:nvSpPr>
          <p:cNvPr id="519" name="Rounded Rectangle 2"/>
          <p:cNvSpPr/>
          <p:nvPr/>
        </p:nvSpPr>
        <p:spPr>
          <a:xfrm>
            <a:off x="640080" y="1280160"/>
            <a:ext cx="2011680" cy="1005840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TextBox 3"/>
          <p:cNvSpPr txBox="1"/>
          <p:nvPr/>
        </p:nvSpPr>
        <p:spPr>
          <a:xfrm>
            <a:off x="685800" y="1630679"/>
            <a:ext cx="192024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IMAGE</a:t>
            </a:r>
          </a:p>
          <a:p>
            <a: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praktikum-llm:0.2.0</a:t>
            </a:r>
          </a:p>
        </p:txBody>
      </p:sp>
      <p:sp>
        <p:nvSpPr>
          <p:cNvPr id="521" name="Rounded Rectangle 4"/>
          <p:cNvSpPr/>
          <p:nvPr/>
        </p:nvSpPr>
        <p:spPr>
          <a:xfrm>
            <a:off x="3749038" y="960119"/>
            <a:ext cx="1828801" cy="438913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TextBox 5"/>
          <p:cNvSpPr txBox="1"/>
          <p:nvPr/>
        </p:nvSpPr>
        <p:spPr>
          <a:xfrm>
            <a:off x="3794759" y="1116075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container chat-1</a:t>
            </a:r>
          </a:p>
        </p:txBody>
      </p:sp>
      <p:sp>
        <p:nvSpPr>
          <p:cNvPr id="523" name="Connector 6"/>
          <p:cNvSpPr/>
          <p:nvPr/>
        </p:nvSpPr>
        <p:spPr>
          <a:xfrm flipV="1">
            <a:off x="2651760" y="1179575"/>
            <a:ext cx="1097279" cy="603505"/>
          </a:xfrm>
          <a:prstGeom prst="line">
            <a:avLst/>
          </a:prstGeom>
          <a:ln w="190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24" name="Rounded Rectangle 7"/>
          <p:cNvSpPr/>
          <p:nvPr/>
        </p:nvSpPr>
        <p:spPr>
          <a:xfrm>
            <a:off x="3749038" y="1508760"/>
            <a:ext cx="1828801" cy="438913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5" name="TextBox 8"/>
          <p:cNvSpPr txBox="1"/>
          <p:nvPr/>
        </p:nvSpPr>
        <p:spPr>
          <a:xfrm>
            <a:off x="3794759" y="1664716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container chat-2</a:t>
            </a:r>
          </a:p>
        </p:txBody>
      </p:sp>
      <p:sp>
        <p:nvSpPr>
          <p:cNvPr id="526" name="Connector 9"/>
          <p:cNvSpPr/>
          <p:nvPr/>
        </p:nvSpPr>
        <p:spPr>
          <a:xfrm flipV="1">
            <a:off x="2651760" y="1728216"/>
            <a:ext cx="1097279" cy="54865"/>
          </a:xfrm>
          <a:prstGeom prst="line">
            <a:avLst/>
          </a:prstGeom>
          <a:ln w="190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Rounded Rectangle 10"/>
          <p:cNvSpPr/>
          <p:nvPr/>
        </p:nvSpPr>
        <p:spPr>
          <a:xfrm>
            <a:off x="3749038" y="2057400"/>
            <a:ext cx="1828801" cy="438913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11"/>
          <p:cNvSpPr txBox="1"/>
          <p:nvPr/>
        </p:nvSpPr>
        <p:spPr>
          <a:xfrm>
            <a:off x="3794759" y="2213355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container test</a:t>
            </a:r>
          </a:p>
        </p:txBody>
      </p:sp>
      <p:sp>
        <p:nvSpPr>
          <p:cNvPr id="529" name="Connector 12"/>
          <p:cNvSpPr/>
          <p:nvPr/>
        </p:nvSpPr>
        <p:spPr>
          <a:xfrm>
            <a:off x="2651760" y="1783079"/>
            <a:ext cx="1097279" cy="493777"/>
          </a:xfrm>
          <a:prstGeom prst="line">
            <a:avLst/>
          </a:prstGeom>
          <a:ln w="190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Box 13"/>
          <p:cNvSpPr txBox="1"/>
          <p:nvPr/>
        </p:nvSpPr>
        <p:spPr>
          <a:xfrm>
            <a:off x="2697479" y="114299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run</a:t>
            </a:r>
          </a:p>
        </p:txBody>
      </p:sp>
      <p:sp>
        <p:nvSpPr>
          <p:cNvPr id="531" name="TextBox 14"/>
          <p:cNvSpPr txBox="1"/>
          <p:nvPr/>
        </p:nvSpPr>
        <p:spPr>
          <a:xfrm>
            <a:off x="640080" y="2377439"/>
            <a:ext cx="201167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read-only, gradi se jednom</a:t>
            </a:r>
          </a:p>
        </p:txBody>
      </p:sp>
      <p:graphicFrame>
        <p:nvGraphicFramePr>
          <p:cNvPr id="532" name="Table 15"/>
          <p:cNvGraphicFramePr/>
          <p:nvPr/>
        </p:nvGraphicFramePr>
        <p:xfrm>
          <a:off x="5852159" y="960119"/>
          <a:ext cx="2834641" cy="17556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371600"/>
                <a:gridCol w="1463040"/>
              </a:tblGrid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Slika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Kontejner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Klasa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Objekt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Predložak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Proces koji radi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Samo za čitanje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Sloj za pisanje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Ima tag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Ima ime i ID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docker images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docker ps -a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533" name="Rounded Rectangle 16"/>
          <p:cNvSpPr/>
          <p:nvPr/>
        </p:nvSpPr>
        <p:spPr>
          <a:xfrm>
            <a:off x="457200" y="3200400"/>
            <a:ext cx="1554481" cy="45720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TextBox 17"/>
          <p:cNvSpPr txBox="1"/>
          <p:nvPr/>
        </p:nvSpPr>
        <p:spPr>
          <a:xfrm>
            <a:off x="502919" y="3352799"/>
            <a:ext cx="1463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created</a:t>
            </a:r>
          </a:p>
        </p:txBody>
      </p:sp>
      <p:sp>
        <p:nvSpPr>
          <p:cNvPr id="535" name="Rounded Rectangle 18"/>
          <p:cNvSpPr/>
          <p:nvPr/>
        </p:nvSpPr>
        <p:spPr>
          <a:xfrm>
            <a:off x="2514600" y="3200400"/>
            <a:ext cx="1554481" cy="457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TextBox 19"/>
          <p:cNvSpPr txBox="1"/>
          <p:nvPr/>
        </p:nvSpPr>
        <p:spPr>
          <a:xfrm>
            <a:off x="2560320" y="3352799"/>
            <a:ext cx="1463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running</a:t>
            </a:r>
          </a:p>
        </p:txBody>
      </p:sp>
      <p:sp>
        <p:nvSpPr>
          <p:cNvPr id="537" name="Rounded Rectangle 20"/>
          <p:cNvSpPr/>
          <p:nvPr/>
        </p:nvSpPr>
        <p:spPr>
          <a:xfrm>
            <a:off x="4572000" y="3200400"/>
            <a:ext cx="1554481" cy="45720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TextBox 21"/>
          <p:cNvSpPr txBox="1"/>
          <p:nvPr/>
        </p:nvSpPr>
        <p:spPr>
          <a:xfrm>
            <a:off x="4617720" y="3352799"/>
            <a:ext cx="1463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exited</a:t>
            </a:r>
          </a:p>
        </p:txBody>
      </p:sp>
      <p:sp>
        <p:nvSpPr>
          <p:cNvPr id="539" name="Rounded Rectangle 22"/>
          <p:cNvSpPr/>
          <p:nvPr/>
        </p:nvSpPr>
        <p:spPr>
          <a:xfrm>
            <a:off x="6629400" y="3200400"/>
            <a:ext cx="1554481" cy="45720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23"/>
          <p:cNvSpPr txBox="1"/>
          <p:nvPr/>
        </p:nvSpPr>
        <p:spPr>
          <a:xfrm>
            <a:off x="6675119" y="3352799"/>
            <a:ext cx="1463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removed</a:t>
            </a:r>
          </a:p>
        </p:txBody>
      </p:sp>
      <p:sp>
        <p:nvSpPr>
          <p:cNvPr id="541" name="Connector 24"/>
          <p:cNvSpPr/>
          <p:nvPr/>
        </p:nvSpPr>
        <p:spPr>
          <a:xfrm>
            <a:off x="2011679" y="3429000"/>
            <a:ext cx="502920" cy="0"/>
          </a:xfrm>
          <a:prstGeom prst="line">
            <a:avLst/>
          </a:prstGeom>
          <a:ln w="22225">
            <a:solidFill>
              <a:srgbClr val="0E3B43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Box 25"/>
          <p:cNvSpPr txBox="1"/>
          <p:nvPr/>
        </p:nvSpPr>
        <p:spPr>
          <a:xfrm>
            <a:off x="1828800" y="2926079"/>
            <a:ext cx="8686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0E3B4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543" name="Connector 26"/>
          <p:cNvSpPr/>
          <p:nvPr/>
        </p:nvSpPr>
        <p:spPr>
          <a:xfrm>
            <a:off x="4069079" y="3429000"/>
            <a:ext cx="502920" cy="0"/>
          </a:xfrm>
          <a:prstGeom prst="line">
            <a:avLst/>
          </a:prstGeom>
          <a:ln w="22225">
            <a:solidFill>
              <a:srgbClr val="0E3B43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extBox 27"/>
          <p:cNvSpPr txBox="1"/>
          <p:nvPr/>
        </p:nvSpPr>
        <p:spPr>
          <a:xfrm>
            <a:off x="3886200" y="2926079"/>
            <a:ext cx="8686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0E3B4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stop / exit</a:t>
            </a:r>
          </a:p>
        </p:txBody>
      </p:sp>
      <p:sp>
        <p:nvSpPr>
          <p:cNvPr id="545" name="Connector 28"/>
          <p:cNvSpPr/>
          <p:nvPr/>
        </p:nvSpPr>
        <p:spPr>
          <a:xfrm>
            <a:off x="6126479" y="3429000"/>
            <a:ext cx="502920" cy="0"/>
          </a:xfrm>
          <a:prstGeom prst="line">
            <a:avLst/>
          </a:prstGeom>
          <a:ln w="22225">
            <a:solidFill>
              <a:srgbClr val="0E3B43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TextBox 29"/>
          <p:cNvSpPr txBox="1"/>
          <p:nvPr/>
        </p:nvSpPr>
        <p:spPr>
          <a:xfrm>
            <a:off x="5943600" y="2926079"/>
            <a:ext cx="8686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0E3B4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rm</a:t>
            </a:r>
          </a:p>
        </p:txBody>
      </p:sp>
      <p:sp>
        <p:nvSpPr>
          <p:cNvPr id="547" name="Connector 30"/>
          <p:cNvSpPr/>
          <p:nvPr/>
        </p:nvSpPr>
        <p:spPr>
          <a:xfrm flipH="1">
            <a:off x="3291840" y="3730752"/>
            <a:ext cx="2057401" cy="1"/>
          </a:xfrm>
          <a:prstGeom prst="line">
            <a:avLst/>
          </a:prstGeom>
          <a:ln w="15875">
            <a:solidFill>
              <a:schemeClr val="accent6"/>
            </a:solidFill>
            <a:prstDash val="dash"/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TextBox 31"/>
          <p:cNvSpPr txBox="1"/>
          <p:nvPr/>
        </p:nvSpPr>
        <p:spPr>
          <a:xfrm>
            <a:off x="3200399" y="3749038"/>
            <a:ext cx="2194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start (again)</a:t>
            </a:r>
          </a:p>
        </p:txBody>
      </p:sp>
      <p:sp>
        <p:nvSpPr>
          <p:cNvPr id="549" name="TextBox 32"/>
          <p:cNvSpPr txBox="1"/>
          <p:nvPr/>
        </p:nvSpPr>
        <p:spPr>
          <a:xfrm>
            <a:off x="457200" y="4069079"/>
            <a:ext cx="82296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0E3B43"/>
                </a:solidFill>
              </a:defRPr>
            </a:lvl1pPr>
          </a:lstStyle>
          <a:p>
            <a:pPr/>
            <a:r>
              <a:t>docker run = create + start. S --rm kontejner se sam briše nakon izlaska.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Osnovne naredbe</a:t>
            </a:r>
          </a:p>
        </p:txBody>
      </p:sp>
      <p:graphicFrame>
        <p:nvGraphicFramePr>
          <p:cNvPr id="552" name="Table 2"/>
          <p:cNvGraphicFramePr/>
          <p:nvPr/>
        </p:nvGraphicFramePr>
        <p:xfrm>
          <a:off x="457200" y="914400"/>
          <a:ext cx="8229598" cy="28803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22959"/>
                <a:gridCol w="3931920"/>
                <a:gridCol w="3474719"/>
              </a:tblGrid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Naredba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Primjer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Što radi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0E3B4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build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build -t praktikum-llm:0.2.0 .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Gradi sliku iz Dockerfilea i konteksta (.)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run --rm -it praktikum-llm chat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Stvara i pokreće kontejner iz slike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exec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exec -it chat-1 sh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Pokreće dodatni proces u kontejneru koji već radi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stop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stop chat-1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SIGTERM, nakon 10 s SIGKILL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rm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rm chat-1  (docker rm -f)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Briše zaustavljeni kontejner i njegov sloj za pisanje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tag praktikum-llm ghcr.io/org/llm:0.2.0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Dodaje novo ime postojećoj slici (bez kopiranja)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push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push ghcr.io/org/llm:0.2.0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Šalje slojeve koji nedostaju u registar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EF4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pull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pull ghcr.io/org/llm:0.2.0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14202B"/>
                          </a:solidFill>
                        </a:rPr>
                        <a:t>Preuzima sliku (run to radi sam ako slike nema)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3" name="TextBox 3"/>
          <p:cNvSpPr txBox="1"/>
          <p:nvPr/>
        </p:nvSpPr>
        <p:spPr>
          <a:xfrm>
            <a:off x="457200" y="3931920"/>
            <a:ext cx="822960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-it </a:t>
            </a:r>
            <a:r>
              <a:rPr b="0">
                <a:solidFill>
                  <a:srgbClr val="14202B"/>
                </a:solidFill>
                <a:latin typeface="+mn-lt"/>
                <a:ea typeface="+mn-ea"/>
                <a:cs typeface="+mn-cs"/>
                <a:sym typeface="Calibri"/>
              </a:rPr>
              <a:t>= -i (stdin ostaje otvoren) + -t (pseudo-terminal). Bez toga nema interaktivnog chata ni shella. Ostalo: -d u pozadini, --name, -p, -e, --env-file, -v, --network, --init.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Gašenje kontejnera: SIGTERM i SIGKILL</a:t>
            </a:r>
          </a:p>
        </p:txBody>
      </p:sp>
      <p:sp>
        <p:nvSpPr>
          <p:cNvPr id="556" name="Connector 2"/>
          <p:cNvSpPr/>
          <p:nvPr/>
        </p:nvSpPr>
        <p:spPr>
          <a:xfrm>
            <a:off x="640080" y="1737360"/>
            <a:ext cx="7772401" cy="1"/>
          </a:xfrm>
          <a:prstGeom prst="line">
            <a:avLst/>
          </a:prstGeom>
          <a:ln w="19050">
            <a:solidFill>
              <a:schemeClr val="accent6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57" name="Rounded Rectangle 3"/>
          <p:cNvSpPr/>
          <p:nvPr/>
        </p:nvSpPr>
        <p:spPr>
          <a:xfrm>
            <a:off x="457200" y="1051560"/>
            <a:ext cx="1463040" cy="457201"/>
          </a:xfrm>
          <a:prstGeom prst="roundRect">
            <a:avLst>
              <a:gd name="adj" fmla="val 15000"/>
            </a:avLst>
          </a:prstGeom>
          <a:solidFill>
            <a:srgbClr val="0E3B4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" name="TextBox 4"/>
          <p:cNvSpPr txBox="1"/>
          <p:nvPr/>
        </p:nvSpPr>
        <p:spPr>
          <a:xfrm>
            <a:off x="502919" y="1210310"/>
            <a:ext cx="13716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docker stop</a:t>
            </a:r>
          </a:p>
        </p:txBody>
      </p:sp>
      <p:sp>
        <p:nvSpPr>
          <p:cNvPr id="559" name="Oval 5"/>
          <p:cNvSpPr/>
          <p:nvPr/>
        </p:nvSpPr>
        <p:spPr>
          <a:xfrm>
            <a:off x="2606039" y="1645920"/>
            <a:ext cx="182881" cy="18288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Rounded Rectangle 6"/>
          <p:cNvSpPr/>
          <p:nvPr/>
        </p:nvSpPr>
        <p:spPr>
          <a:xfrm>
            <a:off x="1828800" y="2011679"/>
            <a:ext cx="1737361" cy="457201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TextBox 7"/>
          <p:cNvSpPr txBox="1"/>
          <p:nvPr/>
        </p:nvSpPr>
        <p:spPr>
          <a:xfrm>
            <a:off x="1874518" y="2170429"/>
            <a:ext cx="164591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SIGTERM → PID 1</a:t>
            </a:r>
          </a:p>
        </p:txBody>
      </p:sp>
      <p:sp>
        <p:nvSpPr>
          <p:cNvPr id="562" name="TextBox 8"/>
          <p:cNvSpPr txBox="1"/>
          <p:nvPr/>
        </p:nvSpPr>
        <p:spPr>
          <a:xfrm>
            <a:off x="3017520" y="1371599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grace period: 10 s (docker stop -t)</a:t>
            </a:r>
          </a:p>
        </p:txBody>
      </p:sp>
      <p:sp>
        <p:nvSpPr>
          <p:cNvPr id="563" name="Connector 9"/>
          <p:cNvSpPr/>
          <p:nvPr/>
        </p:nvSpPr>
        <p:spPr>
          <a:xfrm>
            <a:off x="2834639" y="1600200"/>
            <a:ext cx="4206241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Oval 10"/>
          <p:cNvSpPr/>
          <p:nvPr/>
        </p:nvSpPr>
        <p:spPr>
          <a:xfrm>
            <a:off x="7086599" y="1645920"/>
            <a:ext cx="182882" cy="18288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Rounded Rectangle 11"/>
          <p:cNvSpPr/>
          <p:nvPr/>
        </p:nvSpPr>
        <p:spPr>
          <a:xfrm>
            <a:off x="6309359" y="2011679"/>
            <a:ext cx="1737361" cy="457201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TextBox 12"/>
          <p:cNvSpPr txBox="1"/>
          <p:nvPr/>
        </p:nvSpPr>
        <p:spPr>
          <a:xfrm>
            <a:off x="6355079" y="2170429"/>
            <a:ext cx="164591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SIGKILL</a:t>
            </a:r>
          </a:p>
        </p:txBody>
      </p:sp>
      <p:sp>
        <p:nvSpPr>
          <p:cNvPr id="567" name="TextBox 13"/>
          <p:cNvSpPr txBox="1"/>
          <p:nvPr/>
        </p:nvSpPr>
        <p:spPr>
          <a:xfrm>
            <a:off x="1828800" y="2542032"/>
            <a:ext cx="237744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exit 143 = 128 + 15</a:t>
            </a:r>
          </a:p>
          <a:p>
            <a:pPr>
              <a:defRPr sz="1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uredno ugašen</a:t>
            </a:r>
          </a:p>
        </p:txBody>
      </p:sp>
      <p:sp>
        <p:nvSpPr>
          <p:cNvPr id="568" name="TextBox 14"/>
          <p:cNvSpPr txBox="1"/>
          <p:nvPr/>
        </p:nvSpPr>
        <p:spPr>
          <a:xfrm>
            <a:off x="6309359" y="2542032"/>
            <a:ext cx="23774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exit 137 = 128 + 9</a:t>
            </a:r>
          </a:p>
          <a:p>
            <a:pPr>
              <a:defRPr sz="1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ubijen, bez čišćenja</a:t>
            </a:r>
          </a:p>
        </p:txBody>
      </p:sp>
      <p:sp>
        <p:nvSpPr>
          <p:cNvPr id="569" name="Rounded Rectangle 15"/>
          <p:cNvSpPr/>
          <p:nvPr/>
        </p:nvSpPr>
        <p:spPr>
          <a:xfrm>
            <a:off x="457200" y="3063239"/>
            <a:ext cx="2651761" cy="12344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0" name="Rectangle 16"/>
          <p:cNvSpPr/>
          <p:nvPr/>
        </p:nvSpPr>
        <p:spPr>
          <a:xfrm>
            <a:off x="457200" y="3063239"/>
            <a:ext cx="54864" cy="1234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17"/>
          <p:cNvSpPr txBox="1"/>
          <p:nvPr/>
        </p:nvSpPr>
        <p:spPr>
          <a:xfrm>
            <a:off x="640080" y="3172967"/>
            <a:ext cx="237744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PID 1 je poseban</a:t>
            </a:r>
          </a:p>
        </p:txBody>
      </p:sp>
      <p:sp>
        <p:nvSpPr>
          <p:cNvPr id="572" name="TextBox 18"/>
          <p:cNvSpPr txBox="1"/>
          <p:nvPr/>
        </p:nvSpPr>
        <p:spPr>
          <a:xfrm>
            <a:off x="640080" y="3493008"/>
            <a:ext cx="2377440" cy="533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/>
            </a:lvl1pPr>
          </a:lstStyle>
          <a:p>
            <a:pPr/>
            <a:r>
              <a:t>Kernel PID-u 1 ne primjenjuje zadanu akciju za SIGTERM. Ako proces nema handler, signal se ignorira i čeka se SIGKILL. Python, Node i sleep ovdje padaju.</a:t>
            </a:r>
          </a:p>
        </p:txBody>
      </p:sp>
      <p:sp>
        <p:nvSpPr>
          <p:cNvPr id="573" name="Rounded Rectangle 19"/>
          <p:cNvSpPr/>
          <p:nvPr/>
        </p:nvSpPr>
        <p:spPr>
          <a:xfrm>
            <a:off x="3246120" y="3063239"/>
            <a:ext cx="2651761" cy="12344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4" name="Rectangle 20"/>
          <p:cNvSpPr/>
          <p:nvPr/>
        </p:nvSpPr>
        <p:spPr>
          <a:xfrm>
            <a:off x="3246120" y="3063239"/>
            <a:ext cx="54865" cy="123444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5" name="TextBox 21"/>
          <p:cNvSpPr txBox="1"/>
          <p:nvPr/>
        </p:nvSpPr>
        <p:spPr>
          <a:xfrm>
            <a:off x="3429000" y="3172967"/>
            <a:ext cx="237744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 ili shell oblik</a:t>
            </a:r>
          </a:p>
        </p:txBody>
      </p:sp>
      <p:sp>
        <p:nvSpPr>
          <p:cNvPr id="576" name="TextBox 22"/>
          <p:cNvSpPr txBox="1"/>
          <p:nvPr/>
        </p:nvSpPr>
        <p:spPr>
          <a:xfrm>
            <a:off x="3429000" y="3493008"/>
            <a:ext cx="2377440" cy="39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/>
            </a:lvl1pPr>
          </a:lstStyle>
          <a:p>
            <a:pPr/>
            <a:r>
              <a:t>ENTRYPOINT ["llm"]: llm je PID 1 i prima signal. ENTRYPOINT llm: PID 1 je sh, koji signal ne prosljeđuje.</a:t>
            </a:r>
          </a:p>
        </p:txBody>
      </p:sp>
      <p:sp>
        <p:nvSpPr>
          <p:cNvPr id="577" name="Rounded Rectangle 23"/>
          <p:cNvSpPr/>
          <p:nvPr/>
        </p:nvSpPr>
        <p:spPr>
          <a:xfrm>
            <a:off x="6035040" y="3063239"/>
            <a:ext cx="2651761" cy="123444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Rectangle 24"/>
          <p:cNvSpPr/>
          <p:nvPr/>
        </p:nvSpPr>
        <p:spPr>
          <a:xfrm>
            <a:off x="6035040" y="3063239"/>
            <a:ext cx="54865" cy="123444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TextBox 25"/>
          <p:cNvSpPr txBox="1"/>
          <p:nvPr/>
        </p:nvSpPr>
        <p:spPr>
          <a:xfrm>
            <a:off x="6217920" y="3172967"/>
            <a:ext cx="237744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Rješenja</a:t>
            </a:r>
          </a:p>
        </p:txBody>
      </p:sp>
      <p:sp>
        <p:nvSpPr>
          <p:cNvPr id="580" name="TextBox 26"/>
          <p:cNvSpPr txBox="1"/>
          <p:nvPr/>
        </p:nvSpPr>
        <p:spPr>
          <a:xfrm>
            <a:off x="6217920" y="3493008"/>
            <a:ext cx="2377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/>
            </a:lvl1pPr>
          </a:lstStyle>
          <a:p>
            <a:pPr/>
            <a:r>
              <a:t>Handler u kodu (signal.signal(SIGTERM, ...))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Zašto je uredno gašenje važno</a:t>
            </a:r>
          </a:p>
        </p:txBody>
      </p:sp>
      <p:sp>
        <p:nvSpPr>
          <p:cNvPr id="583" name="Rounded Rectangle 2"/>
          <p:cNvSpPr/>
          <p:nvPr/>
        </p:nvSpPr>
        <p:spPr>
          <a:xfrm>
            <a:off x="457200" y="960119"/>
            <a:ext cx="4023360" cy="10972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4" name="Rectangle 3"/>
          <p:cNvSpPr/>
          <p:nvPr/>
        </p:nvSpPr>
        <p:spPr>
          <a:xfrm>
            <a:off x="457200" y="960119"/>
            <a:ext cx="54864" cy="109728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5" name="TextBox 4"/>
          <p:cNvSpPr txBox="1"/>
          <p:nvPr/>
        </p:nvSpPr>
        <p:spPr>
          <a:xfrm>
            <a:off x="640079" y="1069847"/>
            <a:ext cx="374904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Isporuke</a:t>
            </a:r>
          </a:p>
        </p:txBody>
      </p:sp>
      <p:sp>
        <p:nvSpPr>
          <p:cNvPr id="586" name="TextBox 5"/>
          <p:cNvSpPr txBox="1"/>
          <p:nvPr/>
        </p:nvSpPr>
        <p:spPr>
          <a:xfrm>
            <a:off x="640079" y="1389888"/>
            <a:ext cx="374904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Svaka nova verzija gasi stare kontejnere. 10 s čekanja po kontejneru usporava deploy i rollback.</a:t>
            </a:r>
          </a:p>
        </p:txBody>
      </p:sp>
      <p:sp>
        <p:nvSpPr>
          <p:cNvPr id="587" name="Rounded Rectangle 6"/>
          <p:cNvSpPr/>
          <p:nvPr/>
        </p:nvSpPr>
        <p:spPr>
          <a:xfrm>
            <a:off x="4663440" y="960119"/>
            <a:ext cx="4023360" cy="10972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8" name="Rectangle 7"/>
          <p:cNvSpPr/>
          <p:nvPr/>
        </p:nvSpPr>
        <p:spPr>
          <a:xfrm>
            <a:off x="4663440" y="960119"/>
            <a:ext cx="54865" cy="109728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9" name="TextBox 8"/>
          <p:cNvSpPr txBox="1"/>
          <p:nvPr/>
        </p:nvSpPr>
        <p:spPr>
          <a:xfrm>
            <a:off x="4846319" y="1069847"/>
            <a:ext cx="374904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Podaci</a:t>
            </a:r>
          </a:p>
        </p:txBody>
      </p:sp>
      <p:sp>
        <p:nvSpPr>
          <p:cNvPr id="590" name="TextBox 9"/>
          <p:cNvSpPr txBox="1"/>
          <p:nvPr/>
        </p:nvSpPr>
        <p:spPr>
          <a:xfrm>
            <a:off x="4846319" y="1389888"/>
            <a:ext cx="374904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SIGKILL prekida upis u datoteku ili bazu na pola; handler stigne zatvoriti datoteke i veze.</a:t>
            </a:r>
          </a:p>
        </p:txBody>
      </p:sp>
      <p:sp>
        <p:nvSpPr>
          <p:cNvPr id="591" name="Rounded Rectangle 10"/>
          <p:cNvSpPr/>
          <p:nvPr/>
        </p:nvSpPr>
        <p:spPr>
          <a:xfrm>
            <a:off x="457200" y="2194560"/>
            <a:ext cx="4023360" cy="10972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2" name="Rectangle 11"/>
          <p:cNvSpPr/>
          <p:nvPr/>
        </p:nvSpPr>
        <p:spPr>
          <a:xfrm>
            <a:off x="457200" y="2194560"/>
            <a:ext cx="54864" cy="109728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TextBox 12"/>
          <p:cNvSpPr txBox="1"/>
          <p:nvPr/>
        </p:nvSpPr>
        <p:spPr>
          <a:xfrm>
            <a:off x="640079" y="2304288"/>
            <a:ext cx="374904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Zahtjevi u tijeku</a:t>
            </a:r>
          </a:p>
        </p:txBody>
      </p:sp>
      <p:sp>
        <p:nvSpPr>
          <p:cNvPr id="594" name="TextBox 13"/>
          <p:cNvSpPr txBox="1"/>
          <p:nvPr/>
        </p:nvSpPr>
        <p:spPr>
          <a:xfrm>
            <a:off x="640079" y="2624327"/>
            <a:ext cx="374904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Web servis treba završiti započete zahtjeve i prestati primati nove (graceful shutdown).</a:t>
            </a:r>
          </a:p>
        </p:txBody>
      </p:sp>
      <p:sp>
        <p:nvSpPr>
          <p:cNvPr id="595" name="Rounded Rectangle 14"/>
          <p:cNvSpPr/>
          <p:nvPr/>
        </p:nvSpPr>
        <p:spPr>
          <a:xfrm>
            <a:off x="4663440" y="2194560"/>
            <a:ext cx="4023360" cy="1097281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6" name="Rectangle 15"/>
          <p:cNvSpPr/>
          <p:nvPr/>
        </p:nvSpPr>
        <p:spPr>
          <a:xfrm>
            <a:off x="4663440" y="2194560"/>
            <a:ext cx="54865" cy="109728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TextBox 16"/>
          <p:cNvSpPr txBox="1"/>
          <p:nvPr/>
        </p:nvSpPr>
        <p:spPr>
          <a:xfrm>
            <a:off x="4846319" y="2304288"/>
            <a:ext cx="374904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0E3B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Orkestratori</a:t>
            </a:r>
          </a:p>
        </p:txBody>
      </p:sp>
      <p:sp>
        <p:nvSpPr>
          <p:cNvPr id="598" name="TextBox 17"/>
          <p:cNvSpPr txBox="1"/>
          <p:nvPr/>
        </p:nvSpPr>
        <p:spPr>
          <a:xfrm>
            <a:off x="4846319" y="2624327"/>
            <a:ext cx="374904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/>
            </a:lvl1pPr>
          </a:lstStyle>
          <a:p>
            <a:pPr/>
            <a:r>
              <a:t>Compose, Kubernetes i Cloud Run šalju isti SIGTERM; ponašanje mora biti isto lokalno i u cloudu.</a:t>
            </a:r>
          </a:p>
        </p:txBody>
      </p:sp>
      <p:sp>
        <p:nvSpPr>
          <p:cNvPr id="599" name="Rounded Rectangle 18"/>
          <p:cNvSpPr/>
          <p:nvPr/>
        </p:nvSpPr>
        <p:spPr>
          <a:xfrm>
            <a:off x="457200" y="3520440"/>
            <a:ext cx="8229600" cy="777241"/>
          </a:xfrm>
          <a:prstGeom prst="roundRect">
            <a:avLst>
              <a:gd name="adj" fmla="val 3000"/>
            </a:avLst>
          </a:prstGeom>
          <a:solidFill>
            <a:srgbClr val="14202B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TextBox 19"/>
          <p:cNvSpPr txBox="1"/>
          <p:nvPr/>
        </p:nvSpPr>
        <p:spPr>
          <a:xfrm>
            <a:off x="594360" y="3630167"/>
            <a:ext cx="795527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time docker stop chat-1                       # ~10 s without a handler, &lt;1 s with one</a:t>
            </a:r>
          </a:p>
          <a:p>
            <a:pPr>
              <a:defRPr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docker inspect -f '{{.State.ExitCode}}' chat-1  # 137 or 143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Box 1"/>
          <p:cNvSpPr txBox="1"/>
          <p:nvPr/>
        </p:nvSpPr>
        <p:spPr>
          <a:xfrm>
            <a:off x="457200" y="425771"/>
            <a:ext cx="8229600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Provjera razumijevanja</a:t>
            </a:r>
          </a:p>
        </p:txBody>
      </p:sp>
      <p:sp>
        <p:nvSpPr>
          <p:cNvPr id="603" name="Oval 2"/>
          <p:cNvSpPr/>
          <p:nvPr/>
        </p:nvSpPr>
        <p:spPr>
          <a:xfrm>
            <a:off x="457199" y="1051560"/>
            <a:ext cx="347474" cy="347473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TextBox 3"/>
          <p:cNvSpPr txBox="1"/>
          <p:nvPr/>
        </p:nvSpPr>
        <p:spPr>
          <a:xfrm>
            <a:off x="457199" y="1158162"/>
            <a:ext cx="34747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05" name="TextBox 4"/>
          <p:cNvSpPr txBox="1"/>
          <p:nvPr/>
        </p:nvSpPr>
        <p:spPr>
          <a:xfrm>
            <a:off x="1005840" y="1141915"/>
            <a:ext cx="76809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Koja je glavna razlika između kontejnera i virtualnog stroja u VirtualBoxu?</a:t>
            </a:r>
          </a:p>
        </p:txBody>
      </p:sp>
      <p:sp>
        <p:nvSpPr>
          <p:cNvPr id="606" name="Oval 5"/>
          <p:cNvSpPr/>
          <p:nvPr/>
        </p:nvSpPr>
        <p:spPr>
          <a:xfrm>
            <a:off x="457199" y="1600199"/>
            <a:ext cx="347474" cy="34747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TextBox 6"/>
          <p:cNvSpPr txBox="1"/>
          <p:nvPr/>
        </p:nvSpPr>
        <p:spPr>
          <a:xfrm>
            <a:off x="457199" y="1706802"/>
            <a:ext cx="34747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08" name="TextBox 7"/>
          <p:cNvSpPr txBox="1"/>
          <p:nvPr/>
        </p:nvSpPr>
        <p:spPr>
          <a:xfrm>
            <a:off x="1005840" y="1690555"/>
            <a:ext cx="76809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Što je /var/run/docker.sock i zašto je pristup njemu jednak root pristupu?</a:t>
            </a:r>
          </a:p>
        </p:txBody>
      </p:sp>
      <p:sp>
        <p:nvSpPr>
          <p:cNvPr id="609" name="Oval 8"/>
          <p:cNvSpPr/>
          <p:nvPr/>
        </p:nvSpPr>
        <p:spPr>
          <a:xfrm>
            <a:off x="457199" y="2148838"/>
            <a:ext cx="347474" cy="347473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TextBox 9"/>
          <p:cNvSpPr txBox="1"/>
          <p:nvPr/>
        </p:nvSpPr>
        <p:spPr>
          <a:xfrm>
            <a:off x="457199" y="2255441"/>
            <a:ext cx="34747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11" name="TextBox 10"/>
          <p:cNvSpPr txBox="1"/>
          <p:nvPr/>
        </p:nvSpPr>
        <p:spPr>
          <a:xfrm>
            <a:off x="1005840" y="2239194"/>
            <a:ext cx="76809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Zašto curl http://ollama:11434 radi na mreži llm, a na zadanoj bridge mreži ne radi?</a:t>
            </a:r>
          </a:p>
        </p:txBody>
      </p:sp>
      <p:sp>
        <p:nvSpPr>
          <p:cNvPr id="612" name="Oval 11"/>
          <p:cNvSpPr/>
          <p:nvPr/>
        </p:nvSpPr>
        <p:spPr>
          <a:xfrm>
            <a:off x="457199" y="2697478"/>
            <a:ext cx="347474" cy="347473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TextBox 12"/>
          <p:cNvSpPr txBox="1"/>
          <p:nvPr/>
        </p:nvSpPr>
        <p:spPr>
          <a:xfrm>
            <a:off x="457199" y="2804081"/>
            <a:ext cx="34747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14" name="TextBox 13"/>
          <p:cNvSpPr txBox="1"/>
          <p:nvPr/>
        </p:nvSpPr>
        <p:spPr>
          <a:xfrm>
            <a:off x="1005840" y="2787833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Kojim redoslijedom pišemo COPY i RUN pip install da cache radi za nas?</a:t>
            </a:r>
          </a:p>
        </p:txBody>
      </p:sp>
      <p:sp>
        <p:nvSpPr>
          <p:cNvPr id="615" name="Oval 14"/>
          <p:cNvSpPr/>
          <p:nvPr/>
        </p:nvSpPr>
        <p:spPr>
          <a:xfrm>
            <a:off x="457199" y="3246120"/>
            <a:ext cx="347474" cy="347473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TextBox 15"/>
          <p:cNvSpPr txBox="1"/>
          <p:nvPr/>
        </p:nvSpPr>
        <p:spPr>
          <a:xfrm>
            <a:off x="457199" y="3352722"/>
            <a:ext cx="34747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17" name="TextBox 16"/>
          <p:cNvSpPr txBox="1"/>
          <p:nvPr/>
        </p:nvSpPr>
        <p:spPr>
          <a:xfrm>
            <a:off x="1005840" y="3336475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Što je u kontejnerskom sloju za pisanje i što se s njim dogodi nakon docker rm?</a:t>
            </a:r>
          </a:p>
        </p:txBody>
      </p:sp>
      <p:sp>
        <p:nvSpPr>
          <p:cNvPr id="618" name="Oval 17"/>
          <p:cNvSpPr/>
          <p:nvPr/>
        </p:nvSpPr>
        <p:spPr>
          <a:xfrm>
            <a:off x="457199" y="3794759"/>
            <a:ext cx="347474" cy="347473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18"/>
          <p:cNvSpPr txBox="1"/>
          <p:nvPr/>
        </p:nvSpPr>
        <p:spPr>
          <a:xfrm>
            <a:off x="457199" y="3901361"/>
            <a:ext cx="34747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20" name="TextBox 19"/>
          <p:cNvSpPr txBox="1"/>
          <p:nvPr/>
        </p:nvSpPr>
        <p:spPr>
          <a:xfrm>
            <a:off x="1005840" y="3885114"/>
            <a:ext cx="76809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Zašto docker stop traje 10 s i završi s kodom 137, i kako to popraviti?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raktikum DevOps">
  <a:themeElements>
    <a:clrScheme name="Praktikum DevOps">
      <a:dk1>
        <a:srgbClr val="14202B"/>
      </a:dk1>
      <a:lt1>
        <a:srgbClr val="0E3B43"/>
      </a:lt1>
      <a:dk2>
        <a:srgbClr val="A7A7A7"/>
      </a:dk2>
      <a:lt2>
        <a:srgbClr val="535353"/>
      </a:lt2>
      <a:accent1>
        <a:srgbClr val="0E7C7B"/>
      </a:accent1>
      <a:accent2>
        <a:srgbClr val="F28C28"/>
      </a:accent2>
      <a:accent3>
        <a:srgbClr val="17BEBB"/>
      </a:accent3>
      <a:accent4>
        <a:srgbClr val="D64545"/>
      </a:accent4>
      <a:accent5>
        <a:srgbClr val="4A90A4"/>
      </a:accent5>
      <a:accent6>
        <a:srgbClr val="6B7A86"/>
      </a:accent6>
      <a:hlink>
        <a:srgbClr val="0000FF"/>
      </a:hlink>
      <a:folHlink>
        <a:srgbClr val="FF00FF"/>
      </a:folHlink>
    </a:clrScheme>
    <a:fontScheme name="Praktikum DevOp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raktikum DevO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02B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02B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raktikum DevOps">
  <a:themeElements>
    <a:clrScheme name="Praktikum DevOps">
      <a:dk1>
        <a:srgbClr val="14202B"/>
      </a:dk1>
      <a:lt1>
        <a:srgbClr val="2B2117"/>
      </a:lt1>
      <a:dk2>
        <a:srgbClr val="A7A7A7"/>
      </a:dk2>
      <a:lt2>
        <a:srgbClr val="535353"/>
      </a:lt2>
      <a:accent1>
        <a:srgbClr val="0E7C7B"/>
      </a:accent1>
      <a:accent2>
        <a:srgbClr val="F28C28"/>
      </a:accent2>
      <a:accent3>
        <a:srgbClr val="17BEBB"/>
      </a:accent3>
      <a:accent4>
        <a:srgbClr val="D64545"/>
      </a:accent4>
      <a:accent5>
        <a:srgbClr val="4A90A4"/>
      </a:accent5>
      <a:accent6>
        <a:srgbClr val="6B7A86"/>
      </a:accent6>
      <a:hlink>
        <a:srgbClr val="0000FF"/>
      </a:hlink>
      <a:folHlink>
        <a:srgbClr val="FF00FF"/>
      </a:folHlink>
    </a:clrScheme>
    <a:fontScheme name="Praktikum DevOp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raktikum DevO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02B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4202B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