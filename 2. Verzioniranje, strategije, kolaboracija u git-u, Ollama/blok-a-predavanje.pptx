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vod" id="{20e2dd73-f386-fffa-8d34-d755face26ea}">
          <p14:sldIdLst>
            <p14:sldId id="256"/>
            <p14:sldId id="257"/>
          </p14:sldIdLst>
        </p14:section>
        <p14:section name="Verzioniranje" id="{738a24de-374f-62be-bb91-056093743c2a}">
          <p14:sldIdLst>
            <p14:sldId id="258"/>
            <p14:sldId id="259"/>
            <p14:sldId id="260"/>
            <p14:sldId id="261"/>
            <p14:sldId id="262"/>
          </p14:sldIdLst>
        </p14:section>
        <p14:section name="Strategije spajanja" id="{c26271c3-ae09-8ea3-5e80-7ed95fea93be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trategije razvoja" id="{be87acdf-ec57-e505-ba2a-5676051bf4a1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Vježba" id="{99e838e4-33a6-b450-83be-87086606466d}">
          <p14:sldIdLst>
            <p14:sldId id="276"/>
            <p14:sldId id="277"/>
            <p14:sldId id="278"/>
            <p14:sldId id="279"/>
          </p14:sldIdLst>
        </p14:section>
        <p14:section name="Provjera" id="{92417dfd-27d6-0c4d-9545-dcec37f2e838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Blok A drugog tjedna: verzioniranje izvornog koda, strategije spajanja promjena (fast-forward, merge commit, squash, rebase), strategije razvoja na GitHubu i vježba u zajedničkom repozitoriju. Blok B: Ollama i Python skripte s pytest testovima.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Teorija pa vježba u istom bloku. Vježba koristi sve iz teorije: grane, pull request, zaštitu grane main i tri načina spajanja na GitHubu.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Primjer pitanja koja svaki tim postavlja: tko je promijenio ovu liniju, kada je bug ušao i zašto je netko to napravio. Git odgovara na sva tri. Uživo pokazati git log i git blame na repozitoriju kolegija.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Kratko: zašto je git pobijedio. Distribuiran model znači da je svaki klon potpuna sigurnosna kopija i da commit radi bez mreže. Razlikovati git (alat) od GitHuba (platforma: PR, review, Actions, issues). Alternativa GitHubu: GitLab, Bitbucket.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Svaki korak je eksplicitan. Staging omogućuje da iz više izmjena složimo jedan smislen commit. fetch samo dohvaća tuđe commitove, pull = fetch + spajanje u trenutnu granu (najčešće fast-forward, vidjet ćemo za par slajdova).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Ovaj crtež koristimo na svim sljedećim slajdovima: krug je commit, plava (teal) je main, narančasta feature grana, pilula je ime grane. Grana je samo datoteka s hashom (.git/refs/heads/main), zato je grananje u gitu besplatno.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Najjednostavniji slučaj: na main se ništa nije dogodilo od kad je feature grana nastala. Git samo pomakne pokazivač main. Isto se događa kad kolega pusha na main, a mi napravimo git pull: u izlazu piše Fast-forward. GitHub nema gumb samo za fast-forward; najbliži je Rebase and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nije bilo na popisu, ali je zadani gumb na GitHubu i polazište za usporedbu. Kad je main napredovao, fast-forward nije moguć. Git radi trosmjerno spajanje (zajednički predak B, E i D) i zapisuje ga u merge commit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Squash uzme sve promjene s grane i zapiše ih kao jedan commit na main. Grana feature i dalje postoji, ali main za nju ne zna (zato je nakon squasha treba obrisati). Česta postavka u timovima: main ostaje čitljiv, jedan commit po funkcionalnosti, pa release-please iz tjedna 1 vidi jednu feat: ili fix: poruku po PR-u.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Rebase prepisuje povijest: C' ima isti sadržaj kao C, ali drugog roditelja, pa i drugi hash. Zato nakon rebasea push traži git push --force-with-lease. Pravilo: rebase radimo samo na svojoj grani, nikad na main ili na grani koju dijelimo s drugima. Nakon rebasea spajanje u main je fast-forward. Razlika od čistog fast-forwarda: FF ne mijenja nijedan commit, samo pomakne pokazivač main na postojeći D. Rebase prvo napravi nove commitove (C' i D': novi roditelj, novi hash, novi datum committera), a tek onda main klizne naprijed. Zato na slici ostaju sivi C i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Isti scenarij kao na prethodnim slajdovima, ali na vremenskoj osi. C je napisan u 11:00, kolega je u 12:00 dodao E na main, D je napisan u 13:00, a spajamo u 14:00. Fast-forward ovdje nije moguć: main je u međuvremenu dobio E, pa git merge --ff-only javlja grešku. Tada git merge sam napravi merge commit (drugi red); to je strategija kolegija: fast-forward kad je moguć, inače merge commit. Merge commit čuva izvorna vremena; kod merge commita git log po vremenu miješa C, E i D. Squash sažme C i D u S s vremenom 14:00, pa se ne vidi kada je rad stvarno nastao. Rebase čuva author date (11:00 i 13:00), ali topološki redoslijed na main je A → B → E → C' → D': C' je dijete E (narančasta strelica unatrag), iako je napisan sat prije E. Povijest je ravna kao kod fast-forwarda, ali nije kronološka, a to fast-forward nikad ne proizvede. Committer date C' i D' je 14:00. Kod squasha i rebasea committer date je trenutak spajanja. Pokazati: git log --format="%h %ad %cd %s" --date=format:%H:%M. Zašto je bitno: git bisect, revizija (kada je promjena stvarno nastala) i DORA metrika vrijeme od commita do produkcije.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Settings → General → Pull Requests repozitorija mogu se uključiti ili isključiti sva tri gumba. Pravilo Require linear history u zaštiti grane dopušta samo squash i rebase. Na kolegiju: fast-forward kad je moguć, inače merge commit. Upravo to radi git merge bez opcija (--ff je zadan): ako main nije napredovao, pomakne pokazivač; ako jest, napravi merge commit. Grane ne rebaseamo samo zato da bi spajanje bilo fast-forward. GitHubov gumb Create a merge commit uvijek radi merge commit (--no-ff), pa ovu strategiju provodimo lokalno: git merge pa push; GitHub tada sam označi PR kao merged. U vježbi ćemo ipak uživo spojiti tri PR-a na tri načina i usporediti git log --graph.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najčešće strategije grananja. GitHub Flow: jedna trajna grana main, sve ostalo su kratke grane koje idu PR-om u main; nakon spajanja isporuka. To radimo u vježbi i na kolegiju. Trunk-based: još kraće grane ili izravni commitovi u main, više puta dnevno; nedovršene funkcionalnosti su isključene feature flagovima; traži jak CI jer se main mijenja stalno (Google, Meta). Gitflow (Vincent Driessen, 2010): trajne grane main i develop, feature grane idu u develop, release grana stabilizira izdanje i spaja se u main s tagom, hotfix grana ide iz main za hitne popravke. Daje kontrolu nad izdanjima, ali je spor za CI/CD i danas se rjeđe koristi za web. Konvencija okruženje = grana (sljedeći slajd) je varijanta s trajnim granama po okruženju (dev, test, prod).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Konvencija: grana dev isporučuje se u okruženje dev, test u test, prod u prod. Feature grane idu PR-om u dev, a promocija između okruženja je PR iz dev u test i iz test u prod. Prednost: workflow nema if-else po granama, samo environment: ${{ github.ref_name }}.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environment: ${{ github.ref_name }} spaja konvenciju s prethodnog slajda: push na granu dev pokreće isti job u okruženju dev i dobiva njegove varijable i tajne. Kartica Deployments na repozitoriju pokazuje što je kada isporučeno u koje okruženje. DevSecOps: tajne samo u secrets, princip najmanjih ovlasti kao i permissions u workflowu iz tjedna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vježbi je na zajedničkom repozitoriju uključeno: Require a pull request i 1 approval. Zato push na main iz terminala završi greškom, a to je i cilj: pokazati da pravilo radi. Zaštita grana je DevSecOps kontrola: nitko, ni slučajno ni namjerno, ne isporučuje nepregledan kod.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RBAC = role-based access control: ovlasti se vežu uz ulogu, ne uz osobu. Princip najmanjih ovlasti: student ne treba Admin da bi doprinio. Uloge su GitHubove ugrađene uloge za repozitorij; organizacije na plaćenim planovima mogu definirati i vlastite.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Svaki student radi na svojoj grani, pa nema konflikata: ime datoteke je vrijeme do sekunde. Detaljni koraci su u blok-a-vjezba.md. Napomena: dvotočka u imenu datoteke nije dopuštena na Windowsu, pa checkout repozitorija izvan WSL-a (Git for Windows) javlja invalid path. Svi rade u WSL-u iz tjedna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Prikazan je skraćeni dio skripte; puna verzija provjerava je li pokrenuta u git repozitoriju i ispisuje sljedeće korake. date +%Y-%m-%dT%H:%M:%S daje npr. 2026-10-20T10:15:42, bez milisekundi i bez oznake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Nositelj dijeli ekran i spaja prva tri PR-a na tri načina, pa svi povuku main i pogledaju git log --graph. Ostali PR-ovi spajaju se squashom. Studenti čiji je PR zaostao za main granom vježbaju rebase svoje grane i force-with-lease.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Odgovori: 1) tko, kada, zašto (autor, vrijeme, poruka). 2) kad ciljna grana nije napredovala od grananja. 3) squash: sažeti u jedan novi commit, originali ne završe na main; rebase: kopirani kao C' i D' s novim hashevima. 4) prepisuje povijest koju su drugi već povukli. 5) Require a pull request i Require approvals (uz Block force pushes).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Praktikum: Razvojne operacije · Tjedan 2 · Blok 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commit-1"/>
          <p:cNvSpPr/>
          <p:nvPr/>
        </p:nvSpPr>
        <p:spPr>
          <a:xfrm>
            <a:off x="559612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3" name="motif-edge-2"/>
          <p:cNvSpPr/>
          <p:nvPr/>
        </p:nvSpPr>
        <p:spPr>
          <a:xfrm>
            <a:off x="592531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4" name="motif-commit-3"/>
          <p:cNvSpPr/>
          <p:nvPr/>
        </p:nvSpPr>
        <p:spPr>
          <a:xfrm>
            <a:off x="623620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5" name="motif-edge-4"/>
          <p:cNvSpPr/>
          <p:nvPr/>
        </p:nvSpPr>
        <p:spPr>
          <a:xfrm>
            <a:off x="656539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6" name="motif-commit-5"/>
          <p:cNvSpPr/>
          <p:nvPr/>
        </p:nvSpPr>
        <p:spPr>
          <a:xfrm>
            <a:off x="687628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7" name="motif-edge-6"/>
          <p:cNvSpPr/>
          <p:nvPr/>
        </p:nvSpPr>
        <p:spPr>
          <a:xfrm>
            <a:off x="720547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8" name="motif-commit-7"/>
          <p:cNvSpPr/>
          <p:nvPr/>
        </p:nvSpPr>
        <p:spPr>
          <a:xfrm>
            <a:off x="751636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2"/>
            </a:solidFill>
            <a:prstDash val="solid"/>
          </a:ln>
        </p:spPr>
      </p:sp>
      <p:sp>
        <p:nvSpPr>
          <p:cNvPr id="9" name="motif-edge-8"/>
          <p:cNvSpPr/>
          <p:nvPr/>
        </p:nvSpPr>
        <p:spPr>
          <a:xfrm>
            <a:off x="6510528" y="978408"/>
            <a:ext cx="548640" cy="45720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0" name="motif-commit-9"/>
          <p:cNvSpPr/>
          <p:nvPr/>
        </p:nvSpPr>
        <p:spPr>
          <a:xfrm>
            <a:off x="7040880" y="1325880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2"/>
            </a:solidFill>
            <a:prstDash val="solid"/>
          </a:ln>
        </p:spPr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Verzioniranje i kolaborativno programiranje s gitom</a:t>
            </a:r>
            <a:endParaRPr lang="en-US" sz="38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Praktikum: Razvojne operacije · Tjedan 2 · Blok 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Sadržaj bloka</a:t>
            </a:r>
            <a:endParaRPr lang="en-US" sz="2800" dirty="0"/>
          </a:p>
        </p:txBody>
      </p:sp>
      <p:sp>
        <p:nvSpPr>
          <p:cNvPr id="3" name="card-10"/>
          <p:cNvSpPr/>
          <p:nvPr/>
        </p:nvSpPr>
        <p:spPr>
          <a:xfrm>
            <a:off x="457200" y="1097280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1"/>
          <p:cNvSpPr/>
          <p:nvPr/>
        </p:nvSpPr>
        <p:spPr>
          <a:xfrm>
            <a:off x="621792" y="119786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2"/>
          <p:cNvSpPr txBox="1"/>
          <p:nvPr/>
        </p:nvSpPr>
        <p:spPr>
          <a:xfrm>
            <a:off x="621792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-13"/>
          <p:cNvSpPr txBox="1"/>
          <p:nvPr/>
        </p:nvSpPr>
        <p:spPr>
          <a:xfrm>
            <a:off x="1143000" y="10972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Verzioniranje izvornog koda</a:t>
            </a:r>
            <a:endParaRPr lang="en-US" sz="1500" dirty="0"/>
          </a:p>
        </p:txBody>
      </p:sp>
      <p:sp>
        <p:nvSpPr>
          <p:cNvPr id="7" name="text-14"/>
          <p:cNvSpPr txBox="1"/>
          <p:nvPr/>
        </p:nvSpPr>
        <p:spPr>
          <a:xfrm>
            <a:off x="4937760" y="1097280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Tko, kada i zašto</a:t>
            </a:r>
            <a:endParaRPr lang="en-US" sz="1200" dirty="0"/>
          </a:p>
        </p:txBody>
      </p:sp>
      <p:sp>
        <p:nvSpPr>
          <p:cNvPr id="8" name="card-15"/>
          <p:cNvSpPr/>
          <p:nvPr/>
        </p:nvSpPr>
        <p:spPr>
          <a:xfrm>
            <a:off x="457200" y="1755648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16"/>
          <p:cNvSpPr/>
          <p:nvPr/>
        </p:nvSpPr>
        <p:spPr>
          <a:xfrm>
            <a:off x="621792" y="18562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-17"/>
          <p:cNvSpPr txBox="1"/>
          <p:nvPr/>
        </p:nvSpPr>
        <p:spPr>
          <a:xfrm>
            <a:off x="621792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-18"/>
          <p:cNvSpPr txBox="1"/>
          <p:nvPr/>
        </p:nvSpPr>
        <p:spPr>
          <a:xfrm>
            <a:off x="1143000" y="17556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Strategije spajanja promjena</a:t>
            </a:r>
            <a:endParaRPr lang="en-US" sz="1500" dirty="0"/>
          </a:p>
        </p:txBody>
      </p:sp>
      <p:sp>
        <p:nvSpPr>
          <p:cNvPr id="12" name="text-19"/>
          <p:cNvSpPr txBox="1"/>
          <p:nvPr/>
        </p:nvSpPr>
        <p:spPr>
          <a:xfrm>
            <a:off x="4937760" y="175564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Fast-forward, merge commit, squash, rebase</a:t>
            </a:r>
            <a:endParaRPr lang="en-US" sz="1200" dirty="0"/>
          </a:p>
        </p:txBody>
      </p:sp>
      <p:sp>
        <p:nvSpPr>
          <p:cNvPr id="13" name="card-20"/>
          <p:cNvSpPr/>
          <p:nvPr/>
        </p:nvSpPr>
        <p:spPr>
          <a:xfrm>
            <a:off x="457200" y="2414016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21"/>
          <p:cNvSpPr/>
          <p:nvPr/>
        </p:nvSpPr>
        <p:spPr>
          <a:xfrm>
            <a:off x="621792" y="2514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22"/>
          <p:cNvSpPr txBox="1"/>
          <p:nvPr/>
        </p:nvSpPr>
        <p:spPr>
          <a:xfrm>
            <a:off x="621792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23"/>
          <p:cNvSpPr txBox="1"/>
          <p:nvPr/>
        </p:nvSpPr>
        <p:spPr>
          <a:xfrm>
            <a:off x="1143000" y="241401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Strategije razvoja na GitHubu</a:t>
            </a:r>
            <a:endParaRPr lang="en-US" sz="1500" dirty="0"/>
          </a:p>
        </p:txBody>
      </p:sp>
      <p:sp>
        <p:nvSpPr>
          <p:cNvPr id="17" name="text-24"/>
          <p:cNvSpPr txBox="1"/>
          <p:nvPr/>
        </p:nvSpPr>
        <p:spPr>
          <a:xfrm>
            <a:off x="4937760" y="2414016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Grananje, okruženje = grana, Actions, tajne, zaštita, RBAC</a:t>
            </a:r>
            <a:endParaRPr lang="en-US" sz="1200" dirty="0"/>
          </a:p>
        </p:txBody>
      </p:sp>
      <p:sp>
        <p:nvSpPr>
          <p:cNvPr id="18" name="card-25"/>
          <p:cNvSpPr/>
          <p:nvPr/>
        </p:nvSpPr>
        <p:spPr>
          <a:xfrm>
            <a:off x="457200" y="3072384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26"/>
          <p:cNvSpPr/>
          <p:nvPr/>
        </p:nvSpPr>
        <p:spPr>
          <a:xfrm>
            <a:off x="621792" y="317296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27"/>
          <p:cNvSpPr txBox="1"/>
          <p:nvPr/>
        </p:nvSpPr>
        <p:spPr>
          <a:xfrm>
            <a:off x="621792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-28"/>
          <p:cNvSpPr txBox="1"/>
          <p:nvPr/>
        </p:nvSpPr>
        <p:spPr>
          <a:xfrm>
            <a:off x="1143000" y="30723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Vježba: zajednički repozitorij</a:t>
            </a:r>
            <a:endParaRPr lang="en-US" sz="1500" dirty="0"/>
          </a:p>
        </p:txBody>
      </p:sp>
      <p:sp>
        <p:nvSpPr>
          <p:cNvPr id="22" name="text-29"/>
          <p:cNvSpPr txBox="1"/>
          <p:nvPr/>
        </p:nvSpPr>
        <p:spPr>
          <a:xfrm>
            <a:off x="4937760" y="307238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Grana, skripta, pull request prema main</a:t>
            </a:r>
            <a:endParaRPr lang="en-US" sz="1200" dirty="0"/>
          </a:p>
        </p:txBody>
      </p:sp>
      <p:sp>
        <p:nvSpPr>
          <p:cNvPr id="23" name="card-30"/>
          <p:cNvSpPr/>
          <p:nvPr/>
        </p:nvSpPr>
        <p:spPr>
          <a:xfrm>
            <a:off x="457200" y="3730752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31"/>
          <p:cNvSpPr/>
          <p:nvPr/>
        </p:nvSpPr>
        <p:spPr>
          <a:xfrm>
            <a:off x="621792" y="383133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32"/>
          <p:cNvSpPr txBox="1"/>
          <p:nvPr/>
        </p:nvSpPr>
        <p:spPr>
          <a:xfrm>
            <a:off x="621792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-33"/>
          <p:cNvSpPr txBox="1"/>
          <p:nvPr/>
        </p:nvSpPr>
        <p:spPr>
          <a:xfrm>
            <a:off x="1143000" y="373075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Provjera razumijevanja</a:t>
            </a:r>
            <a:endParaRPr lang="en-US" sz="1500" dirty="0"/>
          </a:p>
        </p:txBody>
      </p:sp>
      <p:sp>
        <p:nvSpPr>
          <p:cNvPr id="27" name="text-34"/>
          <p:cNvSpPr txBox="1"/>
          <p:nvPr/>
        </p:nvSpPr>
        <p:spPr>
          <a:xfrm>
            <a:off x="4937760" y="3730752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 kratkih pitanja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35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36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Verzioniranje izvornog koda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Tko, kada i zašto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Tko, kada i zašto?</a:t>
            </a:r>
            <a:endParaRPr lang="en-US" sz="2800" dirty="0"/>
          </a:p>
        </p:txBody>
      </p:sp>
      <p:sp>
        <p:nvSpPr>
          <p:cNvPr id="3" name="text-37"/>
          <p:cNvSpPr txBox="1"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Sustav za verzioniranje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pamti svaku promjenu koda i odgovara na tri pitanja:</a:t>
            </a:r>
            <a:endParaRPr lang="en-US" sz="1500" dirty="0"/>
          </a:p>
        </p:txBody>
      </p:sp>
      <p:sp>
        <p:nvSpPr>
          <p:cNvPr id="4" name="card-38"/>
          <p:cNvSpPr/>
          <p:nvPr/>
        </p:nvSpPr>
        <p:spPr>
          <a:xfrm>
            <a:off x="457200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39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40"/>
          <p:cNvSpPr txBox="1"/>
          <p:nvPr/>
        </p:nvSpPr>
        <p:spPr>
          <a:xfrm>
            <a:off x="64008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1234440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Tko?</a:t>
            </a:r>
            <a:endParaRPr lang="en-US" sz="1800" dirty="0"/>
          </a:p>
        </p:txBody>
      </p:sp>
      <p:sp>
        <p:nvSpPr>
          <p:cNvPr id="8" name="text-42"/>
          <p:cNvSpPr txBox="1"/>
          <p:nvPr/>
        </p:nvSpPr>
        <p:spPr>
          <a:xfrm>
            <a:off x="640080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Autor svake promjene: ime i e-mail iz git configa (tjedan 1).</a:t>
            </a:r>
            <a:endParaRPr lang="en-US" sz="1300" dirty="0"/>
          </a:p>
        </p:txBody>
      </p:sp>
      <p:sp>
        <p:nvSpPr>
          <p:cNvPr id="9" name="cmd-43"/>
          <p:cNvSpPr/>
          <p:nvPr/>
        </p:nvSpPr>
        <p:spPr>
          <a:xfrm>
            <a:off x="640080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-44"/>
          <p:cNvSpPr txBox="1"/>
          <p:nvPr/>
        </p:nvSpPr>
        <p:spPr>
          <a:xfrm>
            <a:off x="7315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blame app.py</a:t>
            </a:r>
            <a:endParaRPr lang="en-US" sz="1000" dirty="0"/>
          </a:p>
        </p:txBody>
      </p:sp>
      <p:sp>
        <p:nvSpPr>
          <p:cNvPr id="11" name="card-45"/>
          <p:cNvSpPr/>
          <p:nvPr/>
        </p:nvSpPr>
        <p:spPr>
          <a:xfrm>
            <a:off x="3273552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num-46"/>
          <p:cNvSpPr/>
          <p:nvPr/>
        </p:nvSpPr>
        <p:spPr>
          <a:xfrm>
            <a:off x="3456432" y="166420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-47"/>
          <p:cNvSpPr txBox="1"/>
          <p:nvPr/>
        </p:nvSpPr>
        <p:spPr>
          <a:xfrm>
            <a:off x="3456432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4" name="text-48"/>
          <p:cNvSpPr txBox="1"/>
          <p:nvPr/>
        </p:nvSpPr>
        <p:spPr>
          <a:xfrm>
            <a:off x="4050792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Kada?</a:t>
            </a:r>
            <a:endParaRPr lang="en-US" sz="1800" dirty="0"/>
          </a:p>
        </p:txBody>
      </p:sp>
      <p:sp>
        <p:nvSpPr>
          <p:cNvPr id="15" name="text-49"/>
          <p:cNvSpPr txBox="1"/>
          <p:nvPr/>
        </p:nvSpPr>
        <p:spPr>
          <a:xfrm>
            <a:off x="3456432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Točan trenutak svake promjene. Povratak na bilo koje stanje u prošlosti.</a:t>
            </a:r>
            <a:endParaRPr lang="en-US" sz="1300" dirty="0"/>
          </a:p>
        </p:txBody>
      </p:sp>
      <p:sp>
        <p:nvSpPr>
          <p:cNvPr id="16" name="cmd-50"/>
          <p:cNvSpPr/>
          <p:nvPr/>
        </p:nvSpPr>
        <p:spPr>
          <a:xfrm>
            <a:off x="3456432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-51"/>
          <p:cNvSpPr txBox="1"/>
          <p:nvPr/>
        </p:nvSpPr>
        <p:spPr>
          <a:xfrm>
            <a:off x="3547872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--since=2.weeks</a:t>
            </a:r>
            <a:endParaRPr lang="en-US" sz="1000" dirty="0"/>
          </a:p>
        </p:txBody>
      </p:sp>
      <p:sp>
        <p:nvSpPr>
          <p:cNvPr id="18" name="card-52"/>
          <p:cNvSpPr/>
          <p:nvPr/>
        </p:nvSpPr>
        <p:spPr>
          <a:xfrm>
            <a:off x="6089904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53"/>
          <p:cNvSpPr/>
          <p:nvPr/>
        </p:nvSpPr>
        <p:spPr>
          <a:xfrm>
            <a:off x="6272784" y="16642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54"/>
          <p:cNvSpPr txBox="1"/>
          <p:nvPr/>
        </p:nvSpPr>
        <p:spPr>
          <a:xfrm>
            <a:off x="6272784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Z</a:t>
            </a:r>
            <a:endParaRPr lang="en-US" sz="1300" dirty="0"/>
          </a:p>
        </p:txBody>
      </p:sp>
      <p:sp>
        <p:nvSpPr>
          <p:cNvPr id="21" name="text-55"/>
          <p:cNvSpPr txBox="1"/>
          <p:nvPr/>
        </p:nvSpPr>
        <p:spPr>
          <a:xfrm>
            <a:off x="6867144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Zašto?</a:t>
            </a:r>
            <a:endParaRPr lang="en-US" sz="1800" dirty="0"/>
          </a:p>
        </p:txBody>
      </p:sp>
      <p:sp>
        <p:nvSpPr>
          <p:cNvPr id="22" name="text-56"/>
          <p:cNvSpPr txBox="1"/>
          <p:nvPr/>
        </p:nvSpPr>
        <p:spPr>
          <a:xfrm>
            <a:off x="6272784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Poruka commita i poveznica na issue ili pull request objašnjavaju namjeru.</a:t>
            </a:r>
            <a:endParaRPr lang="en-US" sz="1300" dirty="0"/>
          </a:p>
        </p:txBody>
      </p:sp>
      <p:sp>
        <p:nvSpPr>
          <p:cNvPr id="23" name="cmd-57"/>
          <p:cNvSpPr/>
          <p:nvPr/>
        </p:nvSpPr>
        <p:spPr>
          <a:xfrm>
            <a:off x="6272784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-58"/>
          <p:cNvSpPr txBox="1"/>
          <p:nvPr/>
        </p:nvSpPr>
        <p:spPr>
          <a:xfrm>
            <a:off x="6364224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show a1b2c3d</a:t>
            </a:r>
            <a:endParaRPr lang="en-US" sz="1000" dirty="0"/>
          </a:p>
        </p:txBody>
      </p:sp>
      <p:sp>
        <p:nvSpPr>
          <p:cNvPr id="25" name="text-59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Zašto uopće?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Sigurna kopija, rad više ljudi na istom kodu bez prepisivanja, revizija (audit) i automatizacija: CI se pokreće na svaki commit.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Od lokalnog do distribuiranog verzioniranja</a:t>
            </a:r>
            <a:endParaRPr lang="en-US" sz="2800" dirty="0"/>
          </a:p>
        </p:txBody>
      </p:sp>
      <p:sp>
        <p:nvSpPr>
          <p:cNvPr id="3" name="tl-dot-60"/>
          <p:cNvSpPr/>
          <p:nvPr/>
        </p:nvSpPr>
        <p:spPr>
          <a:xfrm>
            <a:off x="1143000" y="11887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-61"/>
          <p:cNvSpPr txBox="1"/>
          <p:nvPr/>
        </p:nvSpPr>
        <p:spPr>
          <a:xfrm>
            <a:off x="11430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l-line-62"/>
          <p:cNvSpPr/>
          <p:nvPr/>
        </p:nvSpPr>
        <p:spPr>
          <a:xfrm>
            <a:off x="164592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card-63"/>
          <p:cNvSpPr/>
          <p:nvPr/>
        </p:nvSpPr>
        <p:spPr>
          <a:xfrm>
            <a:off x="45720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64"/>
          <p:cNvSpPr txBox="1"/>
          <p:nvPr/>
        </p:nvSpPr>
        <p:spPr>
          <a:xfrm>
            <a:off x="59436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500" dirty="0"/>
          </a:p>
        </p:txBody>
      </p:sp>
      <p:sp>
        <p:nvSpPr>
          <p:cNvPr id="8" name="text-65"/>
          <p:cNvSpPr txBox="1"/>
          <p:nvPr/>
        </p:nvSpPr>
        <p:spPr>
          <a:xfrm>
            <a:off x="59436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RCS (1982)</a:t>
            </a:r>
            <a:endParaRPr lang="en-US" sz="1200" dirty="0"/>
          </a:p>
        </p:txBody>
      </p:sp>
      <p:sp>
        <p:nvSpPr>
          <p:cNvPr id="9" name="text-66"/>
          <p:cNvSpPr txBox="1"/>
          <p:nvPr/>
        </p:nvSpPr>
        <p:spPr>
          <a:xfrm>
            <a:off x="59436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Povijest samo na jednom računalu</a:t>
            </a:r>
            <a:endParaRPr lang="en-US" sz="1200" dirty="0"/>
          </a:p>
        </p:txBody>
      </p:sp>
      <p:sp>
        <p:nvSpPr>
          <p:cNvPr id="10" name="tl-dot-67"/>
          <p:cNvSpPr/>
          <p:nvPr/>
        </p:nvSpPr>
        <p:spPr>
          <a:xfrm>
            <a:off x="3246120" y="11887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-68"/>
          <p:cNvSpPr txBox="1"/>
          <p:nvPr/>
        </p:nvSpPr>
        <p:spPr>
          <a:xfrm>
            <a:off x="32461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l-line-69"/>
          <p:cNvSpPr/>
          <p:nvPr/>
        </p:nvSpPr>
        <p:spPr>
          <a:xfrm>
            <a:off x="374904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3" name="card-70"/>
          <p:cNvSpPr/>
          <p:nvPr/>
        </p:nvSpPr>
        <p:spPr>
          <a:xfrm>
            <a:off x="256032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71"/>
          <p:cNvSpPr txBox="1"/>
          <p:nvPr/>
        </p:nvSpPr>
        <p:spPr>
          <a:xfrm>
            <a:off x="269748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</a:t>
            </a:r>
            <a:endParaRPr lang="en-US" sz="1500" dirty="0"/>
          </a:p>
        </p:txBody>
      </p:sp>
      <p:sp>
        <p:nvSpPr>
          <p:cNvPr id="15" name="text-72"/>
          <p:cNvSpPr txBox="1"/>
          <p:nvPr/>
        </p:nvSpPr>
        <p:spPr>
          <a:xfrm>
            <a:off x="26974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CVS, SVN (2000)</a:t>
            </a:r>
            <a:endParaRPr lang="en-US" sz="1200" dirty="0"/>
          </a:p>
        </p:txBody>
      </p:sp>
      <p:sp>
        <p:nvSpPr>
          <p:cNvPr id="16" name="text-73"/>
          <p:cNvSpPr txBox="1"/>
          <p:nvPr/>
        </p:nvSpPr>
        <p:spPr>
          <a:xfrm>
            <a:off x="269748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Jedan poslužitelj, bez mreže nema commita</a:t>
            </a:r>
            <a:endParaRPr lang="en-US" sz="1200" dirty="0"/>
          </a:p>
        </p:txBody>
      </p:sp>
      <p:sp>
        <p:nvSpPr>
          <p:cNvPr id="17" name="tl-dot-74"/>
          <p:cNvSpPr/>
          <p:nvPr/>
        </p:nvSpPr>
        <p:spPr>
          <a:xfrm>
            <a:off x="5349240" y="1188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75"/>
          <p:cNvSpPr txBox="1"/>
          <p:nvPr/>
        </p:nvSpPr>
        <p:spPr>
          <a:xfrm>
            <a:off x="53492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l-line-76"/>
          <p:cNvSpPr/>
          <p:nvPr/>
        </p:nvSpPr>
        <p:spPr>
          <a:xfrm>
            <a:off x="585216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0" name="card-77"/>
          <p:cNvSpPr/>
          <p:nvPr/>
        </p:nvSpPr>
        <p:spPr>
          <a:xfrm>
            <a:off x="466344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78"/>
          <p:cNvSpPr txBox="1"/>
          <p:nvPr/>
        </p:nvSpPr>
        <p:spPr>
          <a:xfrm>
            <a:off x="480060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</a:t>
            </a:r>
            <a:endParaRPr lang="en-US" sz="1500" dirty="0"/>
          </a:p>
        </p:txBody>
      </p:sp>
      <p:sp>
        <p:nvSpPr>
          <p:cNvPr id="22" name="text-79"/>
          <p:cNvSpPr txBox="1"/>
          <p:nvPr/>
        </p:nvSpPr>
        <p:spPr>
          <a:xfrm>
            <a:off x="480060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 (2005)</a:t>
            </a:r>
            <a:endParaRPr lang="en-US" sz="1200" dirty="0"/>
          </a:p>
        </p:txBody>
      </p:sp>
      <p:sp>
        <p:nvSpPr>
          <p:cNvPr id="23" name="text-80"/>
          <p:cNvSpPr txBox="1"/>
          <p:nvPr/>
        </p:nvSpPr>
        <p:spPr>
          <a:xfrm>
            <a:off x="480060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Svaki klon ima cijelu povijest</a:t>
            </a:r>
            <a:endParaRPr lang="en-US" sz="1200" dirty="0"/>
          </a:p>
        </p:txBody>
      </p:sp>
      <p:sp>
        <p:nvSpPr>
          <p:cNvPr id="24" name="tl-dot-81"/>
          <p:cNvSpPr/>
          <p:nvPr/>
        </p:nvSpPr>
        <p:spPr>
          <a:xfrm>
            <a:off x="7452360" y="1188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-82"/>
          <p:cNvSpPr txBox="1"/>
          <p:nvPr/>
        </p:nvSpPr>
        <p:spPr>
          <a:xfrm>
            <a:off x="74523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card-83"/>
          <p:cNvSpPr/>
          <p:nvPr/>
        </p:nvSpPr>
        <p:spPr>
          <a:xfrm>
            <a:off x="676656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-84"/>
          <p:cNvSpPr txBox="1"/>
          <p:nvPr/>
        </p:nvSpPr>
        <p:spPr>
          <a:xfrm>
            <a:off x="690372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500" dirty="0"/>
          </a:p>
        </p:txBody>
      </p:sp>
      <p:sp>
        <p:nvSpPr>
          <p:cNvPr id="28" name="text-85"/>
          <p:cNvSpPr txBox="1"/>
          <p:nvPr/>
        </p:nvSpPr>
        <p:spPr>
          <a:xfrm>
            <a:off x="690372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GitHub (2008)</a:t>
            </a:r>
            <a:endParaRPr lang="en-US" sz="1200" dirty="0"/>
          </a:p>
        </p:txBody>
      </p:sp>
      <p:sp>
        <p:nvSpPr>
          <p:cNvPr id="29" name="text-86"/>
          <p:cNvSpPr txBox="1"/>
          <p:nvPr/>
        </p:nvSpPr>
        <p:spPr>
          <a:xfrm>
            <a:off x="69037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requestovi, review, Actions</a:t>
            </a:r>
            <a:endParaRPr lang="en-US" sz="1200" dirty="0"/>
          </a:p>
        </p:txBody>
      </p:sp>
      <p:sp>
        <p:nvSpPr>
          <p:cNvPr id="30" name="card-87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-88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git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je napisao Linus Torvalds 2005. za razvoj Linux kernela: tisuće programera, bez središnjeg poslužitelja, brzo grananje. GitHub je platforma oko gita, a ne git sam.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Četiri mjesta na kojima kod živi</a:t>
            </a:r>
            <a:endParaRPr lang="en-US" sz="2800" dirty="0"/>
          </a:p>
        </p:txBody>
      </p:sp>
      <p:sp>
        <p:nvSpPr>
          <p:cNvPr id="3" name="area-89"/>
          <p:cNvSpPr/>
          <p:nvPr/>
        </p:nvSpPr>
        <p:spPr>
          <a:xfrm>
            <a:off x="45720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-90"/>
          <p:cNvSpPr txBox="1"/>
          <p:nvPr/>
        </p:nvSpPr>
        <p:spPr>
          <a:xfrm>
            <a:off x="56692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directory</a:t>
            </a:r>
            <a:endParaRPr lang="en-US" sz="1400" dirty="0"/>
          </a:p>
        </p:txBody>
      </p:sp>
      <p:sp>
        <p:nvSpPr>
          <p:cNvPr id="5" name="text-91"/>
          <p:cNvSpPr txBox="1"/>
          <p:nvPr/>
        </p:nvSpPr>
        <p:spPr>
          <a:xfrm>
            <a:off x="56692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datoteke koje uređujemo</a:t>
            </a:r>
            <a:endParaRPr lang="en-US" sz="1200" dirty="0"/>
          </a:p>
        </p:txBody>
      </p:sp>
      <p:sp>
        <p:nvSpPr>
          <p:cNvPr id="6" name="area-92"/>
          <p:cNvSpPr/>
          <p:nvPr/>
        </p:nvSpPr>
        <p:spPr>
          <a:xfrm>
            <a:off x="260604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93"/>
          <p:cNvSpPr txBox="1"/>
          <p:nvPr/>
        </p:nvSpPr>
        <p:spPr>
          <a:xfrm>
            <a:off x="271576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area</a:t>
            </a:r>
            <a:endParaRPr lang="en-US" sz="1400" dirty="0"/>
          </a:p>
        </p:txBody>
      </p:sp>
      <p:sp>
        <p:nvSpPr>
          <p:cNvPr id="8" name="text-94"/>
          <p:cNvSpPr txBox="1"/>
          <p:nvPr/>
        </p:nvSpPr>
        <p:spPr>
          <a:xfrm>
            <a:off x="271576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što ide u sljedeći commit</a:t>
            </a:r>
            <a:endParaRPr lang="en-US" sz="1200" dirty="0"/>
          </a:p>
        </p:txBody>
      </p:sp>
      <p:sp>
        <p:nvSpPr>
          <p:cNvPr id="9" name="area-95"/>
          <p:cNvSpPr/>
          <p:nvPr/>
        </p:nvSpPr>
        <p:spPr>
          <a:xfrm>
            <a:off x="475488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96"/>
          <p:cNvSpPr txBox="1"/>
          <p:nvPr/>
        </p:nvSpPr>
        <p:spPr>
          <a:xfrm>
            <a:off x="486460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repository</a:t>
            </a:r>
            <a:endParaRPr lang="en-US" sz="1400" dirty="0"/>
          </a:p>
        </p:txBody>
      </p:sp>
      <p:sp>
        <p:nvSpPr>
          <p:cNvPr id="11" name="text-97"/>
          <p:cNvSpPr txBox="1"/>
          <p:nvPr/>
        </p:nvSpPr>
        <p:spPr>
          <a:xfrm>
            <a:off x="486460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povijest na našem računalu (.git)</a:t>
            </a:r>
            <a:endParaRPr lang="en-US" sz="1200" dirty="0"/>
          </a:p>
        </p:txBody>
      </p:sp>
      <p:sp>
        <p:nvSpPr>
          <p:cNvPr id="12" name="area-98"/>
          <p:cNvSpPr/>
          <p:nvPr/>
        </p:nvSpPr>
        <p:spPr>
          <a:xfrm>
            <a:off x="690372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-99"/>
          <p:cNvSpPr txBox="1"/>
          <p:nvPr/>
        </p:nvSpPr>
        <p:spPr>
          <a:xfrm>
            <a:off x="701344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(GitHub)</a:t>
            </a:r>
            <a:endParaRPr lang="en-US" sz="1400" dirty="0"/>
          </a:p>
        </p:txBody>
      </p:sp>
      <p:sp>
        <p:nvSpPr>
          <p:cNvPr id="14" name="text-100"/>
          <p:cNvSpPr txBox="1"/>
          <p:nvPr/>
        </p:nvSpPr>
        <p:spPr>
          <a:xfrm>
            <a:off x="701344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zajednička povijest tima</a:t>
            </a:r>
            <a:endParaRPr lang="en-US" sz="1200" dirty="0"/>
          </a:p>
        </p:txBody>
      </p:sp>
      <p:sp>
        <p:nvSpPr>
          <p:cNvPr id="15" name="flow-101"/>
          <p:cNvSpPr/>
          <p:nvPr/>
        </p:nvSpPr>
        <p:spPr>
          <a:xfrm>
            <a:off x="132588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pill-102"/>
          <p:cNvSpPr/>
          <p:nvPr/>
        </p:nvSpPr>
        <p:spPr>
          <a:xfrm>
            <a:off x="192024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-103"/>
          <p:cNvSpPr txBox="1"/>
          <p:nvPr/>
        </p:nvSpPr>
        <p:spPr>
          <a:xfrm>
            <a:off x="192024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000" dirty="0"/>
          </a:p>
        </p:txBody>
      </p:sp>
      <p:sp>
        <p:nvSpPr>
          <p:cNvPr id="18" name="flow-104"/>
          <p:cNvSpPr/>
          <p:nvPr/>
        </p:nvSpPr>
        <p:spPr>
          <a:xfrm>
            <a:off x="347472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pill-105"/>
          <p:cNvSpPr/>
          <p:nvPr/>
        </p:nvSpPr>
        <p:spPr>
          <a:xfrm>
            <a:off x="406908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106"/>
          <p:cNvSpPr txBox="1"/>
          <p:nvPr/>
        </p:nvSpPr>
        <p:spPr>
          <a:xfrm>
            <a:off x="406908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000" dirty="0"/>
          </a:p>
        </p:txBody>
      </p:sp>
      <p:sp>
        <p:nvSpPr>
          <p:cNvPr id="21" name="flow-107"/>
          <p:cNvSpPr/>
          <p:nvPr/>
        </p:nvSpPr>
        <p:spPr>
          <a:xfrm>
            <a:off x="562356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pill-108"/>
          <p:cNvSpPr/>
          <p:nvPr/>
        </p:nvSpPr>
        <p:spPr>
          <a:xfrm>
            <a:off x="621792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-109"/>
          <p:cNvSpPr txBox="1"/>
          <p:nvPr/>
        </p:nvSpPr>
        <p:spPr>
          <a:xfrm>
            <a:off x="621792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000" dirty="0"/>
          </a:p>
        </p:txBody>
      </p:sp>
      <p:sp>
        <p:nvSpPr>
          <p:cNvPr id="24" name="flow-110"/>
          <p:cNvSpPr/>
          <p:nvPr/>
        </p:nvSpPr>
        <p:spPr>
          <a:xfrm>
            <a:off x="1348740" y="3154680"/>
            <a:ext cx="644652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25" name="pill-111"/>
          <p:cNvSpPr/>
          <p:nvPr/>
        </p:nvSpPr>
        <p:spPr>
          <a:xfrm>
            <a:off x="4023360" y="3035808"/>
            <a:ext cx="109728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6" name="text-112"/>
          <p:cNvSpPr txBox="1"/>
          <p:nvPr/>
        </p:nvSpPr>
        <p:spPr>
          <a:xfrm>
            <a:off x="4023360" y="3035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000" dirty="0"/>
          </a:p>
        </p:txBody>
      </p:sp>
      <p:sp>
        <p:nvSpPr>
          <p:cNvPr id="27" name="pill-113"/>
          <p:cNvSpPr/>
          <p:nvPr/>
        </p:nvSpPr>
        <p:spPr>
          <a:xfrm>
            <a:off x="6080760" y="3035808"/>
            <a:ext cx="1280160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8" name="text-114"/>
          <p:cNvSpPr txBox="1"/>
          <p:nvPr/>
        </p:nvSpPr>
        <p:spPr>
          <a:xfrm>
            <a:off x="6080760" y="3035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fetch</a:t>
            </a:r>
            <a:endParaRPr lang="en-US" sz="1000" dirty="0"/>
          </a:p>
        </p:txBody>
      </p:sp>
      <p:sp>
        <p:nvSpPr>
          <p:cNvPr id="29" name="code-bg-115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-116"/>
          <p:cNvSpPr txBox="1"/>
          <p:nvPr/>
        </p:nvSpPr>
        <p:spPr>
          <a:xfrm>
            <a:off x="621792" y="3739896"/>
            <a:ext cx="7900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# what changed, what is staged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--staged     # exactly what the next commit contains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--staged app.py   # take a file back out of staging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Commit, grana i HEAD</a:t>
            </a:r>
            <a:endParaRPr lang="en-US" sz="2800" dirty="0"/>
          </a:p>
        </p:txBody>
      </p:sp>
      <p:sp>
        <p:nvSpPr>
          <p:cNvPr id="3" name="card-117"/>
          <p:cNvSpPr/>
          <p:nvPr/>
        </p:nvSpPr>
        <p:spPr>
          <a:xfrm>
            <a:off x="457200" y="1051560"/>
            <a:ext cx="42062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18"/>
          <p:cNvSpPr txBox="1"/>
          <p:nvPr/>
        </p:nvSpPr>
        <p:spPr>
          <a:xfrm>
            <a:off x="640080" y="11612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graph</a:t>
            </a:r>
            <a:endParaRPr lang="en-US" sz="1200" dirty="0"/>
          </a:p>
        </p:txBody>
      </p:sp>
      <p:sp>
        <p:nvSpPr>
          <p:cNvPr id="5" name="edge-119"/>
          <p:cNvSpPr/>
          <p:nvPr/>
        </p:nvSpPr>
        <p:spPr>
          <a:xfrm>
            <a:off x="1157630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20"/>
          <p:cNvSpPr/>
          <p:nvPr/>
        </p:nvSpPr>
        <p:spPr>
          <a:xfrm>
            <a:off x="1815998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121"/>
          <p:cNvSpPr/>
          <p:nvPr/>
        </p:nvSpPr>
        <p:spPr>
          <a:xfrm>
            <a:off x="2474366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122"/>
          <p:cNvSpPr/>
          <p:nvPr/>
        </p:nvSpPr>
        <p:spPr>
          <a:xfrm>
            <a:off x="1815998" y="2606040"/>
            <a:ext cx="658368" cy="102412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123"/>
          <p:cNvSpPr/>
          <p:nvPr/>
        </p:nvSpPr>
        <p:spPr>
          <a:xfrm>
            <a:off x="965606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124"/>
          <p:cNvSpPr txBox="1"/>
          <p:nvPr/>
        </p:nvSpPr>
        <p:spPr>
          <a:xfrm>
            <a:off x="965606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125"/>
          <p:cNvSpPr/>
          <p:nvPr/>
        </p:nvSpPr>
        <p:spPr>
          <a:xfrm>
            <a:off x="1623974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126"/>
          <p:cNvSpPr txBox="1"/>
          <p:nvPr/>
        </p:nvSpPr>
        <p:spPr>
          <a:xfrm>
            <a:off x="1623974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127"/>
          <p:cNvSpPr/>
          <p:nvPr/>
        </p:nvSpPr>
        <p:spPr>
          <a:xfrm>
            <a:off x="2282342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128"/>
          <p:cNvSpPr txBox="1"/>
          <p:nvPr/>
        </p:nvSpPr>
        <p:spPr>
          <a:xfrm>
            <a:off x="2282342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5" name="commit-129"/>
          <p:cNvSpPr/>
          <p:nvPr/>
        </p:nvSpPr>
        <p:spPr>
          <a:xfrm>
            <a:off x="2940710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-130"/>
          <p:cNvSpPr txBox="1"/>
          <p:nvPr/>
        </p:nvSpPr>
        <p:spPr>
          <a:xfrm>
            <a:off x="294071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7" name="commit-131"/>
          <p:cNvSpPr/>
          <p:nvPr/>
        </p:nvSpPr>
        <p:spPr>
          <a:xfrm>
            <a:off x="2282342" y="34381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132"/>
          <p:cNvSpPr txBox="1"/>
          <p:nvPr/>
        </p:nvSpPr>
        <p:spPr>
          <a:xfrm>
            <a:off x="2282342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9" name="pill-133"/>
          <p:cNvSpPr/>
          <p:nvPr/>
        </p:nvSpPr>
        <p:spPr>
          <a:xfrm>
            <a:off x="2853842" y="2057400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134"/>
          <p:cNvSpPr txBox="1"/>
          <p:nvPr/>
        </p:nvSpPr>
        <p:spPr>
          <a:xfrm>
            <a:off x="2853842" y="2057400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135"/>
          <p:cNvSpPr/>
          <p:nvPr/>
        </p:nvSpPr>
        <p:spPr>
          <a:xfrm>
            <a:off x="2853842" y="1737360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2" name="text-136"/>
          <p:cNvSpPr txBox="1"/>
          <p:nvPr/>
        </p:nvSpPr>
        <p:spPr>
          <a:xfrm>
            <a:off x="2853842" y="1737360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endParaRPr lang="en-US" sz="1000" dirty="0"/>
          </a:p>
        </p:txBody>
      </p:sp>
      <p:sp>
        <p:nvSpPr>
          <p:cNvPr id="23" name="pill-137"/>
          <p:cNvSpPr/>
          <p:nvPr/>
        </p:nvSpPr>
        <p:spPr>
          <a:xfrm>
            <a:off x="2072030" y="3931920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4" name="text-138"/>
          <p:cNvSpPr txBox="1"/>
          <p:nvPr/>
        </p:nvSpPr>
        <p:spPr>
          <a:xfrm>
            <a:off x="2072030" y="39319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5" name="text-139"/>
          <p:cNvSpPr txBox="1"/>
          <p:nvPr/>
        </p:nvSpPr>
        <p:spPr>
          <a:xfrm>
            <a:off x="640080" y="42245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Strelice pokazuju na roditelja: svaki commit zna od čega je nastao.</a:t>
            </a:r>
            <a:endParaRPr lang="en-US" sz="1100" dirty="0"/>
          </a:p>
        </p:txBody>
      </p:sp>
      <p:sp>
        <p:nvSpPr>
          <p:cNvPr id="26" name="card-140"/>
          <p:cNvSpPr/>
          <p:nvPr/>
        </p:nvSpPr>
        <p:spPr>
          <a:xfrm>
            <a:off x="4892040" y="105156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num-141"/>
          <p:cNvSpPr/>
          <p:nvPr/>
        </p:nvSpPr>
        <p:spPr>
          <a:xfrm>
            <a:off x="5029200" y="1188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142"/>
          <p:cNvSpPr txBox="1"/>
          <p:nvPr/>
        </p:nvSpPr>
        <p:spPr>
          <a:xfrm>
            <a:off x="5029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9" name="text-143"/>
          <p:cNvSpPr txBox="1"/>
          <p:nvPr/>
        </p:nvSpPr>
        <p:spPr>
          <a:xfrm>
            <a:off x="5486400" y="11612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Commit</a:t>
            </a:r>
            <a:endParaRPr lang="en-US" sz="1500" dirty="0"/>
          </a:p>
        </p:txBody>
      </p:sp>
      <p:sp>
        <p:nvSpPr>
          <p:cNvPr id="30" name="text-144"/>
          <p:cNvSpPr txBox="1"/>
          <p:nvPr/>
        </p:nvSpPr>
        <p:spPr>
          <a:xfrm>
            <a:off x="5486400" y="15270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Snimka cijelog projekta + autor, datum, poruka i roditelj. Ime je hash, npr. a1b2c3d.</a:t>
            </a:r>
            <a:endParaRPr lang="en-US" sz="1200" dirty="0"/>
          </a:p>
        </p:txBody>
      </p:sp>
      <p:sp>
        <p:nvSpPr>
          <p:cNvPr id="31" name="card-145"/>
          <p:cNvSpPr/>
          <p:nvPr/>
        </p:nvSpPr>
        <p:spPr>
          <a:xfrm>
            <a:off x="4892040" y="224028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num-146"/>
          <p:cNvSpPr/>
          <p:nvPr/>
        </p:nvSpPr>
        <p:spPr>
          <a:xfrm>
            <a:off x="5029200" y="23774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text-147"/>
          <p:cNvSpPr txBox="1"/>
          <p:nvPr/>
        </p:nvSpPr>
        <p:spPr>
          <a:xfrm>
            <a:off x="502920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4" name="text-148"/>
          <p:cNvSpPr txBox="1"/>
          <p:nvPr/>
        </p:nvSpPr>
        <p:spPr>
          <a:xfrm>
            <a:off x="5486400" y="23500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Grana (branch)</a:t>
            </a:r>
            <a:endParaRPr lang="en-US" sz="1500" dirty="0"/>
          </a:p>
        </p:txBody>
      </p:sp>
      <p:sp>
        <p:nvSpPr>
          <p:cNvPr id="35" name="text-149"/>
          <p:cNvSpPr txBox="1"/>
          <p:nvPr/>
        </p:nvSpPr>
        <p:spPr>
          <a:xfrm>
            <a:off x="5486400" y="27157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Pomični pokazivač na jedan commit. Novi commit pomiče granu naprijed.</a:t>
            </a:r>
            <a:endParaRPr lang="en-US" sz="1200" dirty="0"/>
          </a:p>
        </p:txBody>
      </p:sp>
      <p:sp>
        <p:nvSpPr>
          <p:cNvPr id="36" name="card-150"/>
          <p:cNvSpPr/>
          <p:nvPr/>
        </p:nvSpPr>
        <p:spPr>
          <a:xfrm>
            <a:off x="4892040" y="342900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um-151"/>
          <p:cNvSpPr/>
          <p:nvPr/>
        </p:nvSpPr>
        <p:spPr>
          <a:xfrm>
            <a:off x="5029200" y="356616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-152"/>
          <p:cNvSpPr txBox="1"/>
          <p:nvPr/>
        </p:nvSpPr>
        <p:spPr>
          <a:xfrm>
            <a:off x="502920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-153"/>
          <p:cNvSpPr txBox="1"/>
          <p:nvPr/>
        </p:nvSpPr>
        <p:spPr>
          <a:xfrm>
            <a:off x="5486400" y="3538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HEAD</a:t>
            </a:r>
            <a:endParaRPr lang="en-US" sz="1500" dirty="0"/>
          </a:p>
        </p:txBody>
      </p:sp>
      <p:sp>
        <p:nvSpPr>
          <p:cNvPr id="40" name="text-154"/>
          <p:cNvSpPr txBox="1"/>
          <p:nvPr/>
        </p:nvSpPr>
        <p:spPr>
          <a:xfrm>
            <a:off x="5486400" y="390448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Gdje smo sada: grana na kojoj radimo. git checkout premješta HEAD.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155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156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Strategije spajanja promjena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Fast-forward, merge commit, squash, rebase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Fast-forward</a:t>
            </a:r>
            <a:endParaRPr lang="en-US" sz="2800" dirty="0"/>
          </a:p>
        </p:txBody>
      </p:sp>
      <p:sp>
        <p:nvSpPr>
          <p:cNvPr id="3" name="card-157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58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159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60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161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commit-162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-163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commit-164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-165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2" name="commit-166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text-167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4" name="commit-168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5" name="text-169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6" name="pill-170"/>
          <p:cNvSpPr/>
          <p:nvPr/>
        </p:nvSpPr>
        <p:spPr>
          <a:xfrm>
            <a:off x="1339596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-171"/>
          <p:cNvSpPr txBox="1"/>
          <p:nvPr/>
        </p:nvSpPr>
        <p:spPr>
          <a:xfrm>
            <a:off x="1339596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18" name="pill-172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9" name="text-173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0" name="arrow-174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175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-176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3" name="edge-177"/>
          <p:cNvSpPr/>
          <p:nvPr/>
        </p:nvSpPr>
        <p:spPr>
          <a:xfrm>
            <a:off x="5212080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4" name="edge-178"/>
          <p:cNvSpPr/>
          <p:nvPr/>
        </p:nvSpPr>
        <p:spPr>
          <a:xfrm>
            <a:off x="5870448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5" name="edge-179"/>
          <p:cNvSpPr/>
          <p:nvPr/>
        </p:nvSpPr>
        <p:spPr>
          <a:xfrm>
            <a:off x="6528816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6" name="commit-180"/>
          <p:cNvSpPr/>
          <p:nvPr/>
        </p:nvSpPr>
        <p:spPr>
          <a:xfrm>
            <a:off x="5020056" y="208940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-181"/>
          <p:cNvSpPr txBox="1"/>
          <p:nvPr/>
        </p:nvSpPr>
        <p:spPr>
          <a:xfrm>
            <a:off x="5020056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28" name="commit-182"/>
          <p:cNvSpPr/>
          <p:nvPr/>
        </p:nvSpPr>
        <p:spPr>
          <a:xfrm>
            <a:off x="5678424" y="208940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-183"/>
          <p:cNvSpPr txBox="1"/>
          <p:nvPr/>
        </p:nvSpPr>
        <p:spPr>
          <a:xfrm>
            <a:off x="5678424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0" name="commit-184"/>
          <p:cNvSpPr/>
          <p:nvPr/>
        </p:nvSpPr>
        <p:spPr>
          <a:xfrm>
            <a:off x="6336792" y="208940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ext-185"/>
          <p:cNvSpPr txBox="1"/>
          <p:nvPr/>
        </p:nvSpPr>
        <p:spPr>
          <a:xfrm>
            <a:off x="6336792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32" name="commit-186"/>
          <p:cNvSpPr/>
          <p:nvPr/>
        </p:nvSpPr>
        <p:spPr>
          <a:xfrm>
            <a:off x="6995160" y="208940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3" name="text-187"/>
          <p:cNvSpPr txBox="1"/>
          <p:nvPr/>
        </p:nvSpPr>
        <p:spPr>
          <a:xfrm>
            <a:off x="6995160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34" name="pill-188"/>
          <p:cNvSpPr/>
          <p:nvPr/>
        </p:nvSpPr>
        <p:spPr>
          <a:xfrm>
            <a:off x="6908292" y="173278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-189"/>
          <p:cNvSpPr txBox="1"/>
          <p:nvPr/>
        </p:nvSpPr>
        <p:spPr>
          <a:xfrm>
            <a:off x="6908292" y="173278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36" name="pill-190"/>
          <p:cNvSpPr/>
          <p:nvPr/>
        </p:nvSpPr>
        <p:spPr>
          <a:xfrm>
            <a:off x="6784848" y="2583180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text-191"/>
          <p:cNvSpPr txBox="1"/>
          <p:nvPr/>
        </p:nvSpPr>
        <p:spPr>
          <a:xfrm>
            <a:off x="6784848" y="25831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38" name="code-bg-192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-193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--ff-only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day: git pull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"Updating 1a2b..9f8e Fast-forward"</a:t>
            </a:r>
            <a:endParaRPr lang="en-US" sz="1100" dirty="0"/>
          </a:p>
        </p:txBody>
      </p:sp>
      <p:sp>
        <p:nvSpPr>
          <p:cNvPr id="40" name="card-194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-195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main se samo pomakne naprijed na 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Nema novog commita, povijest ostaje ravna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Moguće samo ako main nije napredovao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git pull to radi gotovo svaki put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Merge commit (3-way merge)</a:t>
            </a:r>
            <a:endParaRPr lang="en-US" sz="2800" dirty="0"/>
          </a:p>
        </p:txBody>
      </p:sp>
      <p:sp>
        <p:nvSpPr>
          <p:cNvPr id="3" name="card-196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97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198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99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00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01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02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203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204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205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206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207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208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209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210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211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212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213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214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215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216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217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18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219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220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221"/>
          <p:cNvSpPr/>
          <p:nvPr/>
        </p:nvSpPr>
        <p:spPr>
          <a:xfrm>
            <a:off x="6528816" y="1961388"/>
            <a:ext cx="85587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222"/>
          <p:cNvSpPr/>
          <p:nvPr/>
        </p:nvSpPr>
        <p:spPr>
          <a:xfrm>
            <a:off x="5870448" y="1961388"/>
            <a:ext cx="46085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223"/>
          <p:cNvSpPr/>
          <p:nvPr/>
        </p:nvSpPr>
        <p:spPr>
          <a:xfrm>
            <a:off x="633130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1" name="edge-224"/>
          <p:cNvSpPr/>
          <p:nvPr/>
        </p:nvSpPr>
        <p:spPr>
          <a:xfrm flipV="1">
            <a:off x="6989674" y="1961388"/>
            <a:ext cx="395021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2" name="commit-225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-226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4" name="commit-227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-228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6" name="commit-229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7" name="text-230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8" name="commit-231"/>
          <p:cNvSpPr/>
          <p:nvPr/>
        </p:nvSpPr>
        <p:spPr>
          <a:xfrm>
            <a:off x="7192670" y="1769364"/>
            <a:ext cx="384048" cy="38404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accent3"/>
            </a:solidFill>
            <a:prstDash val="solid"/>
          </a:ln>
        </p:spPr>
      </p:sp>
      <p:sp>
        <p:nvSpPr>
          <p:cNvPr id="39" name="text-232"/>
          <p:cNvSpPr txBox="1"/>
          <p:nvPr/>
        </p:nvSpPr>
        <p:spPr>
          <a:xfrm>
            <a:off x="719267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</a:t>
            </a:r>
            <a:endParaRPr lang="en-US" sz="1200" dirty="0"/>
          </a:p>
        </p:txBody>
      </p:sp>
      <p:sp>
        <p:nvSpPr>
          <p:cNvPr id="40" name="commit-233"/>
          <p:cNvSpPr/>
          <p:nvPr/>
        </p:nvSpPr>
        <p:spPr>
          <a:xfrm>
            <a:off x="613928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1" name="text-234"/>
          <p:cNvSpPr txBox="1"/>
          <p:nvPr/>
        </p:nvSpPr>
        <p:spPr>
          <a:xfrm>
            <a:off x="613928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42" name="commit-235"/>
          <p:cNvSpPr/>
          <p:nvPr/>
        </p:nvSpPr>
        <p:spPr>
          <a:xfrm>
            <a:off x="679765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3" name="text-236"/>
          <p:cNvSpPr txBox="1"/>
          <p:nvPr/>
        </p:nvSpPr>
        <p:spPr>
          <a:xfrm>
            <a:off x="679765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44" name="pill-237"/>
          <p:cNvSpPr/>
          <p:nvPr/>
        </p:nvSpPr>
        <p:spPr>
          <a:xfrm>
            <a:off x="710580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-238"/>
          <p:cNvSpPr txBox="1"/>
          <p:nvPr/>
        </p:nvSpPr>
        <p:spPr>
          <a:xfrm>
            <a:off x="710580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pill-239"/>
          <p:cNvSpPr/>
          <p:nvPr/>
        </p:nvSpPr>
        <p:spPr>
          <a:xfrm>
            <a:off x="658733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7" name="text-240"/>
          <p:cNvSpPr txBox="1"/>
          <p:nvPr/>
        </p:nvSpPr>
        <p:spPr>
          <a:xfrm>
            <a:off x="658733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48" name="code-bg-241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9" name="text-242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--no-ff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"Create a merge commit"</a:t>
            </a:r>
            <a:endParaRPr lang="en-US" sz="1100" dirty="0"/>
          </a:p>
        </p:txBody>
      </p:sp>
      <p:sp>
        <p:nvSpPr>
          <p:cNvPr id="50" name="card-243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text-244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Kolega je u međuvremenu dodao E na main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Novi commit M ima dva roditelja: E i 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Čuva svaki commit i trenutak spajanja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Povijest postaje razgranata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Squash</a:t>
            </a:r>
            <a:endParaRPr lang="en-US" sz="2800" dirty="0"/>
          </a:p>
        </p:txBody>
      </p:sp>
      <p:sp>
        <p:nvSpPr>
          <p:cNvPr id="3" name="card-245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246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247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248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49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50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51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252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253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254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255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256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257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258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259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260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261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262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263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264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265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26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67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268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269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270"/>
          <p:cNvSpPr/>
          <p:nvPr/>
        </p:nvSpPr>
        <p:spPr>
          <a:xfrm>
            <a:off x="6528816" y="1961388"/>
            <a:ext cx="85587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271"/>
          <p:cNvSpPr/>
          <p:nvPr/>
        </p:nvSpPr>
        <p:spPr>
          <a:xfrm>
            <a:off x="5870448" y="1961388"/>
            <a:ext cx="658368" cy="6400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0" name="edge-272"/>
          <p:cNvSpPr/>
          <p:nvPr/>
        </p:nvSpPr>
        <p:spPr>
          <a:xfrm>
            <a:off x="6528816" y="2601468"/>
            <a:ext cx="658368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1" name="commit-273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2" name="text-274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3" name="commit-275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4" name="text-276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5" name="commit-277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text-278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7" name="commit-279"/>
          <p:cNvSpPr/>
          <p:nvPr/>
        </p:nvSpPr>
        <p:spPr>
          <a:xfrm>
            <a:off x="7192670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38" name="text-280"/>
          <p:cNvSpPr txBox="1"/>
          <p:nvPr/>
        </p:nvSpPr>
        <p:spPr>
          <a:xfrm>
            <a:off x="719267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39" name="commit-281"/>
          <p:cNvSpPr/>
          <p:nvPr/>
        </p:nvSpPr>
        <p:spPr>
          <a:xfrm>
            <a:off x="6336792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0" name="text-282"/>
          <p:cNvSpPr txBox="1"/>
          <p:nvPr/>
        </p:nvSpPr>
        <p:spPr>
          <a:xfrm>
            <a:off x="633679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</a:t>
            </a:r>
            <a:endParaRPr lang="en-US" sz="1200" dirty="0"/>
          </a:p>
        </p:txBody>
      </p:sp>
      <p:sp>
        <p:nvSpPr>
          <p:cNvPr id="41" name="commit-283"/>
          <p:cNvSpPr/>
          <p:nvPr/>
        </p:nvSpPr>
        <p:spPr>
          <a:xfrm>
            <a:off x="6995160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2" name="text-284"/>
          <p:cNvSpPr txBox="1"/>
          <p:nvPr/>
        </p:nvSpPr>
        <p:spPr>
          <a:xfrm>
            <a:off x="699516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D</a:t>
            </a:r>
            <a:endParaRPr lang="en-US" sz="1200" dirty="0"/>
          </a:p>
        </p:txBody>
      </p:sp>
      <p:sp>
        <p:nvSpPr>
          <p:cNvPr id="43" name="pill-285"/>
          <p:cNvSpPr/>
          <p:nvPr/>
        </p:nvSpPr>
        <p:spPr>
          <a:xfrm>
            <a:off x="710580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-286"/>
          <p:cNvSpPr txBox="1"/>
          <p:nvPr/>
        </p:nvSpPr>
        <p:spPr>
          <a:xfrm>
            <a:off x="710580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5" name="pill-287"/>
          <p:cNvSpPr/>
          <p:nvPr/>
        </p:nvSpPr>
        <p:spPr>
          <a:xfrm>
            <a:off x="6702552" y="2848356"/>
            <a:ext cx="969264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6" name="text-288"/>
          <p:cNvSpPr txBox="1"/>
          <p:nvPr/>
        </p:nvSpPr>
        <p:spPr>
          <a:xfrm>
            <a:off x="6702552" y="284835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C + D</a:t>
            </a:r>
            <a:endParaRPr lang="en-US" sz="1000" dirty="0"/>
          </a:p>
        </p:txBody>
      </p:sp>
      <p:sp>
        <p:nvSpPr>
          <p:cNvPr id="47" name="code-bg-289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8" name="text-290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--squash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"feat: add login form"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"Squash and merge"</a:t>
            </a:r>
            <a:endParaRPr lang="en-US" sz="1100" dirty="0"/>
          </a:p>
        </p:txBody>
      </p:sp>
      <p:sp>
        <p:nvSpPr>
          <p:cNvPr id="49" name="card-291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-292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 i D se sažmu u jedan novi commit 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Jedan pull request = jedan commit na main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Gube se pojedinačni koraci s grane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Naslov PR-a postaje poruka (Conventional Commits)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Rebase</a:t>
            </a:r>
            <a:endParaRPr lang="en-US" sz="2800" dirty="0"/>
          </a:p>
        </p:txBody>
      </p:sp>
      <p:sp>
        <p:nvSpPr>
          <p:cNvPr id="3" name="card-293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294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295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296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97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98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99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301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302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303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304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305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307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308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309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310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311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313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314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315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316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317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318"/>
          <p:cNvSpPr/>
          <p:nvPr/>
        </p:nvSpPr>
        <p:spPr>
          <a:xfrm>
            <a:off x="6528816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319"/>
          <p:cNvSpPr/>
          <p:nvPr/>
        </p:nvSpPr>
        <p:spPr>
          <a:xfrm>
            <a:off x="7187184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320"/>
          <p:cNvSpPr/>
          <p:nvPr/>
        </p:nvSpPr>
        <p:spPr>
          <a:xfrm>
            <a:off x="5870448" y="1961388"/>
            <a:ext cx="658368" cy="6400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1" name="edge-321"/>
          <p:cNvSpPr/>
          <p:nvPr/>
        </p:nvSpPr>
        <p:spPr>
          <a:xfrm>
            <a:off x="6528816" y="2601468"/>
            <a:ext cx="658368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2" name="commit-322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-323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4" name="commit-324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-325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6" name="commit-326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7" name="text-327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8" name="commit-328"/>
          <p:cNvSpPr/>
          <p:nvPr/>
        </p:nvSpPr>
        <p:spPr>
          <a:xfrm>
            <a:off x="6995160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39" name="text-329"/>
          <p:cNvSpPr txBox="1"/>
          <p:nvPr/>
        </p:nvSpPr>
        <p:spPr>
          <a:xfrm>
            <a:off x="699516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C'</a:t>
            </a:r>
            <a:endParaRPr lang="en-US" sz="1200" dirty="0"/>
          </a:p>
        </p:txBody>
      </p:sp>
      <p:sp>
        <p:nvSpPr>
          <p:cNvPr id="40" name="commit-330"/>
          <p:cNvSpPr/>
          <p:nvPr/>
        </p:nvSpPr>
        <p:spPr>
          <a:xfrm>
            <a:off x="7653528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41" name="text-331"/>
          <p:cNvSpPr txBox="1"/>
          <p:nvPr/>
        </p:nvSpPr>
        <p:spPr>
          <a:xfrm>
            <a:off x="7653528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D'</a:t>
            </a:r>
            <a:endParaRPr lang="en-US" sz="1200" dirty="0"/>
          </a:p>
        </p:txBody>
      </p:sp>
      <p:sp>
        <p:nvSpPr>
          <p:cNvPr id="42" name="commit-332"/>
          <p:cNvSpPr/>
          <p:nvPr/>
        </p:nvSpPr>
        <p:spPr>
          <a:xfrm>
            <a:off x="6336792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3" name="text-333"/>
          <p:cNvSpPr txBox="1"/>
          <p:nvPr/>
        </p:nvSpPr>
        <p:spPr>
          <a:xfrm>
            <a:off x="633679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</a:t>
            </a:r>
            <a:endParaRPr lang="en-US" sz="1200" dirty="0"/>
          </a:p>
        </p:txBody>
      </p:sp>
      <p:sp>
        <p:nvSpPr>
          <p:cNvPr id="44" name="commit-334"/>
          <p:cNvSpPr/>
          <p:nvPr/>
        </p:nvSpPr>
        <p:spPr>
          <a:xfrm>
            <a:off x="6995160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5" name="text-335"/>
          <p:cNvSpPr txBox="1"/>
          <p:nvPr/>
        </p:nvSpPr>
        <p:spPr>
          <a:xfrm>
            <a:off x="699516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D</a:t>
            </a:r>
            <a:endParaRPr lang="en-US" sz="1200" dirty="0"/>
          </a:p>
        </p:txBody>
      </p:sp>
      <p:sp>
        <p:nvSpPr>
          <p:cNvPr id="46" name="pill-336"/>
          <p:cNvSpPr/>
          <p:nvPr/>
        </p:nvSpPr>
        <p:spPr>
          <a:xfrm>
            <a:off x="745693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-337"/>
          <p:cNvSpPr txBox="1"/>
          <p:nvPr/>
        </p:nvSpPr>
        <p:spPr>
          <a:xfrm>
            <a:off x="745693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8" name="pill-338"/>
          <p:cNvSpPr/>
          <p:nvPr/>
        </p:nvSpPr>
        <p:spPr>
          <a:xfrm>
            <a:off x="7260336" y="220827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9" name="text-339"/>
          <p:cNvSpPr txBox="1"/>
          <p:nvPr/>
        </p:nvSpPr>
        <p:spPr>
          <a:xfrm>
            <a:off x="7260336" y="220827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50" name="code-bg-340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1" name="text-341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main   # replay C, D on 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--ff-only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"Rebase and merge"</a:t>
            </a:r>
            <a:endParaRPr lang="en-US" sz="1100" dirty="0"/>
          </a:p>
        </p:txBody>
      </p:sp>
      <p:sp>
        <p:nvSpPr>
          <p:cNvPr id="52" name="card-342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text-343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 i D se ponovno odigraju na vrhu 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Novi commitovi C' i D' imaju nove hasheve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Razlika od FF-a: FF samo pomakne main, rebase prvo stvara nove commitove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 rebaseati grane koje drugi već koriste</a:t>
            </a:r>
            <a:endParaRPr lang="en-US" sz="1200" dirty="0"/>
          </a:p>
        </p:txBody>
      </p:sp>
      <p:sp>
        <p:nvSpPr>
          <p:cNvPr id="55" name="text-344"/>
          <p:cNvSpPr txBox="1"/>
          <p:nvPr/>
        </p:nvSpPr>
        <p:spPr>
          <a:xfrm>
            <a:off x="5577840" y="11612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vs fast-forward: commits are copied, not just pointed 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Vremenska komponenta spajanja</a:t>
            </a:r>
            <a:endParaRPr lang="en-US" sz="2800" dirty="0"/>
          </a:p>
        </p:txBody>
      </p:sp>
      <p:sp>
        <p:nvSpPr>
          <p:cNvPr id="3" name="time-axis-345"/>
          <p:cNvSpPr/>
          <p:nvPr/>
        </p:nvSpPr>
        <p:spPr>
          <a:xfrm>
            <a:off x="2011680" y="1143000"/>
            <a:ext cx="662940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" name="text-346"/>
          <p:cNvSpPr txBox="1"/>
          <p:nvPr/>
        </p:nvSpPr>
        <p:spPr>
          <a:xfrm>
            <a:off x="8001000" y="11795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time</a:t>
            </a:r>
            <a:endParaRPr lang="en-US" sz="1000" dirty="0"/>
          </a:p>
        </p:txBody>
      </p:sp>
      <p:sp>
        <p:nvSpPr>
          <p:cNvPr id="5" name="time-grid-347"/>
          <p:cNvSpPr/>
          <p:nvPr/>
        </p:nvSpPr>
        <p:spPr>
          <a:xfrm>
            <a:off x="2240280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6" name="text-348"/>
          <p:cNvSpPr txBox="1"/>
          <p:nvPr/>
        </p:nvSpPr>
        <p:spPr>
          <a:xfrm>
            <a:off x="1920240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000" dirty="0"/>
          </a:p>
        </p:txBody>
      </p:sp>
      <p:sp>
        <p:nvSpPr>
          <p:cNvPr id="7" name="time-grid-349"/>
          <p:cNvSpPr/>
          <p:nvPr/>
        </p:nvSpPr>
        <p:spPr>
          <a:xfrm>
            <a:off x="3456432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8" name="text-350"/>
          <p:cNvSpPr txBox="1"/>
          <p:nvPr/>
        </p:nvSpPr>
        <p:spPr>
          <a:xfrm>
            <a:off x="3136392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00" dirty="0"/>
          </a:p>
        </p:txBody>
      </p:sp>
      <p:sp>
        <p:nvSpPr>
          <p:cNvPr id="9" name="time-grid-351"/>
          <p:cNvSpPr/>
          <p:nvPr/>
        </p:nvSpPr>
        <p:spPr>
          <a:xfrm>
            <a:off x="4672584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0" name="text-352"/>
          <p:cNvSpPr txBox="1"/>
          <p:nvPr/>
        </p:nvSpPr>
        <p:spPr>
          <a:xfrm>
            <a:off x="4352544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11:00</a:t>
            </a:r>
            <a:endParaRPr lang="en-US" sz="1000" dirty="0"/>
          </a:p>
        </p:txBody>
      </p:sp>
      <p:sp>
        <p:nvSpPr>
          <p:cNvPr id="11" name="time-grid-353"/>
          <p:cNvSpPr/>
          <p:nvPr/>
        </p:nvSpPr>
        <p:spPr>
          <a:xfrm>
            <a:off x="5888736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2" name="text-354"/>
          <p:cNvSpPr txBox="1"/>
          <p:nvPr/>
        </p:nvSpPr>
        <p:spPr>
          <a:xfrm>
            <a:off x="5568696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1000" dirty="0"/>
          </a:p>
        </p:txBody>
      </p:sp>
      <p:sp>
        <p:nvSpPr>
          <p:cNvPr id="13" name="time-grid-355"/>
          <p:cNvSpPr/>
          <p:nvPr/>
        </p:nvSpPr>
        <p:spPr>
          <a:xfrm>
            <a:off x="7104888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4" name="text-356"/>
          <p:cNvSpPr txBox="1"/>
          <p:nvPr/>
        </p:nvSpPr>
        <p:spPr>
          <a:xfrm>
            <a:off x="6784848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13:00</a:t>
            </a:r>
            <a:endParaRPr lang="en-US" sz="1000" dirty="0"/>
          </a:p>
        </p:txBody>
      </p:sp>
      <p:sp>
        <p:nvSpPr>
          <p:cNvPr id="15" name="time-grid-357"/>
          <p:cNvSpPr/>
          <p:nvPr/>
        </p:nvSpPr>
        <p:spPr>
          <a:xfrm>
            <a:off x="8321040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6" name="text-358"/>
          <p:cNvSpPr txBox="1"/>
          <p:nvPr/>
        </p:nvSpPr>
        <p:spPr>
          <a:xfrm>
            <a:off x="8001000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</a:t>
            </a:r>
            <a:endParaRPr lang="en-US" sz="1000" dirty="0"/>
          </a:p>
        </p:txBody>
      </p:sp>
      <p:sp>
        <p:nvSpPr>
          <p:cNvPr id="17" name="text-359"/>
          <p:cNvSpPr txBox="1"/>
          <p:nvPr/>
        </p:nvSpPr>
        <p:spPr>
          <a:xfrm>
            <a:off x="457200" y="1280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Fast-forward</a:t>
            </a:r>
            <a:endParaRPr lang="en-US" sz="1300" dirty="0"/>
          </a:p>
        </p:txBody>
      </p:sp>
      <p:sp>
        <p:nvSpPr>
          <p:cNvPr id="18" name="text-360"/>
          <p:cNvSpPr txBox="1"/>
          <p:nvPr/>
        </p:nvSpPr>
        <p:spPr>
          <a:xfrm>
            <a:off x="457200" y="15179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Nije moguć dok main ima E: tada merge commit.</a:t>
            </a:r>
            <a:endParaRPr lang="en-US" sz="1000" dirty="0"/>
          </a:p>
        </p:txBody>
      </p:sp>
      <p:sp>
        <p:nvSpPr>
          <p:cNvPr id="19" name="edge-361"/>
          <p:cNvSpPr/>
          <p:nvPr/>
        </p:nvSpPr>
        <p:spPr>
          <a:xfrm>
            <a:off x="2459736" y="146304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edge-362"/>
          <p:cNvSpPr/>
          <p:nvPr/>
        </p:nvSpPr>
        <p:spPr>
          <a:xfrm>
            <a:off x="3675888" y="146304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dge-363"/>
          <p:cNvSpPr/>
          <p:nvPr/>
        </p:nvSpPr>
        <p:spPr>
          <a:xfrm>
            <a:off x="3667444" y="1523329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edge-364"/>
          <p:cNvSpPr/>
          <p:nvPr/>
        </p:nvSpPr>
        <p:spPr>
          <a:xfrm>
            <a:off x="4892040" y="1810512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mmit-365"/>
          <p:cNvSpPr/>
          <p:nvPr/>
        </p:nvSpPr>
        <p:spPr>
          <a:xfrm>
            <a:off x="2048256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text-366"/>
          <p:cNvSpPr txBox="1"/>
          <p:nvPr/>
        </p:nvSpPr>
        <p:spPr>
          <a:xfrm>
            <a:off x="2048256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25" name="commit-367"/>
          <p:cNvSpPr/>
          <p:nvPr/>
        </p:nvSpPr>
        <p:spPr>
          <a:xfrm>
            <a:off x="3264408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6" name="text-368"/>
          <p:cNvSpPr txBox="1"/>
          <p:nvPr/>
        </p:nvSpPr>
        <p:spPr>
          <a:xfrm>
            <a:off x="3264408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27" name="commit-369"/>
          <p:cNvSpPr/>
          <p:nvPr/>
        </p:nvSpPr>
        <p:spPr>
          <a:xfrm>
            <a:off x="5696712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8" name="text-370"/>
          <p:cNvSpPr txBox="1"/>
          <p:nvPr/>
        </p:nvSpPr>
        <p:spPr>
          <a:xfrm>
            <a:off x="5696712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29" name="commit-371"/>
          <p:cNvSpPr/>
          <p:nvPr/>
        </p:nvSpPr>
        <p:spPr>
          <a:xfrm>
            <a:off x="4480560" y="161848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0" name="text-372"/>
          <p:cNvSpPr txBox="1"/>
          <p:nvPr/>
        </p:nvSpPr>
        <p:spPr>
          <a:xfrm>
            <a:off x="448056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31" name="commit-373"/>
          <p:cNvSpPr/>
          <p:nvPr/>
        </p:nvSpPr>
        <p:spPr>
          <a:xfrm>
            <a:off x="6912864" y="161848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2" name="text-374"/>
          <p:cNvSpPr txBox="1"/>
          <p:nvPr/>
        </p:nvSpPr>
        <p:spPr>
          <a:xfrm>
            <a:off x="691286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33" name="text-375"/>
          <p:cNvSpPr txBox="1"/>
          <p:nvPr/>
        </p:nvSpPr>
        <p:spPr>
          <a:xfrm>
            <a:off x="457200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Merge commit</a:t>
            </a:r>
            <a:endParaRPr lang="en-US" sz="1300" dirty="0"/>
          </a:p>
        </p:txBody>
      </p:sp>
      <p:sp>
        <p:nvSpPr>
          <p:cNvPr id="34" name="text-376"/>
          <p:cNvSpPr txBox="1"/>
          <p:nvPr/>
        </p:nvSpPr>
        <p:spPr>
          <a:xfrm>
            <a:off x="457200" y="226771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Izvorna vremena + M u trenutku spajanja.</a:t>
            </a:r>
            <a:endParaRPr lang="en-US" sz="1000" dirty="0"/>
          </a:p>
        </p:txBody>
      </p:sp>
      <p:sp>
        <p:nvSpPr>
          <p:cNvPr id="35" name="edge-377"/>
          <p:cNvSpPr/>
          <p:nvPr/>
        </p:nvSpPr>
        <p:spPr>
          <a:xfrm>
            <a:off x="2459736" y="2212848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6" name="edge-378"/>
          <p:cNvSpPr/>
          <p:nvPr/>
        </p:nvSpPr>
        <p:spPr>
          <a:xfrm>
            <a:off x="3675888" y="2212848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edge-379"/>
          <p:cNvSpPr/>
          <p:nvPr/>
        </p:nvSpPr>
        <p:spPr>
          <a:xfrm>
            <a:off x="6108192" y="2212848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edge-380"/>
          <p:cNvSpPr/>
          <p:nvPr/>
        </p:nvSpPr>
        <p:spPr>
          <a:xfrm>
            <a:off x="3667444" y="2273137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edge-381"/>
          <p:cNvSpPr/>
          <p:nvPr/>
        </p:nvSpPr>
        <p:spPr>
          <a:xfrm>
            <a:off x="4892040" y="256032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edge-382"/>
          <p:cNvSpPr/>
          <p:nvPr/>
        </p:nvSpPr>
        <p:spPr>
          <a:xfrm flipV="1">
            <a:off x="7315900" y="2273137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commit-383"/>
          <p:cNvSpPr/>
          <p:nvPr/>
        </p:nvSpPr>
        <p:spPr>
          <a:xfrm>
            <a:off x="2048256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2" name="text-384"/>
          <p:cNvSpPr txBox="1"/>
          <p:nvPr/>
        </p:nvSpPr>
        <p:spPr>
          <a:xfrm>
            <a:off x="204825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43" name="commit-385"/>
          <p:cNvSpPr/>
          <p:nvPr/>
        </p:nvSpPr>
        <p:spPr>
          <a:xfrm>
            <a:off x="3264408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4" name="text-386"/>
          <p:cNvSpPr txBox="1"/>
          <p:nvPr/>
        </p:nvSpPr>
        <p:spPr>
          <a:xfrm>
            <a:off x="3264408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45" name="commit-387"/>
          <p:cNvSpPr/>
          <p:nvPr/>
        </p:nvSpPr>
        <p:spPr>
          <a:xfrm>
            <a:off x="5696712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6" name="text-388"/>
          <p:cNvSpPr txBox="1"/>
          <p:nvPr/>
        </p:nvSpPr>
        <p:spPr>
          <a:xfrm>
            <a:off x="569671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47" name="commit-389"/>
          <p:cNvSpPr/>
          <p:nvPr/>
        </p:nvSpPr>
        <p:spPr>
          <a:xfrm>
            <a:off x="8129016" y="2020824"/>
            <a:ext cx="384048" cy="38404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accent3"/>
            </a:solidFill>
            <a:prstDash val="solid"/>
          </a:ln>
        </p:spPr>
      </p:sp>
      <p:sp>
        <p:nvSpPr>
          <p:cNvPr id="48" name="text-390"/>
          <p:cNvSpPr txBox="1"/>
          <p:nvPr/>
        </p:nvSpPr>
        <p:spPr>
          <a:xfrm>
            <a:off x="812901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</a:t>
            </a:r>
            <a:endParaRPr lang="en-US" sz="1200" dirty="0"/>
          </a:p>
        </p:txBody>
      </p:sp>
      <p:sp>
        <p:nvSpPr>
          <p:cNvPr id="49" name="commit-391"/>
          <p:cNvSpPr/>
          <p:nvPr/>
        </p:nvSpPr>
        <p:spPr>
          <a:xfrm>
            <a:off x="4480560" y="236829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0" name="text-392"/>
          <p:cNvSpPr txBox="1"/>
          <p:nvPr/>
        </p:nvSpPr>
        <p:spPr>
          <a:xfrm>
            <a:off x="448056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51" name="commit-393"/>
          <p:cNvSpPr/>
          <p:nvPr/>
        </p:nvSpPr>
        <p:spPr>
          <a:xfrm>
            <a:off x="6912864" y="236829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2" name="text-394"/>
          <p:cNvSpPr txBox="1"/>
          <p:nvPr/>
        </p:nvSpPr>
        <p:spPr>
          <a:xfrm>
            <a:off x="6912864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53" name="text-395"/>
          <p:cNvSpPr txBox="1"/>
          <p:nvPr/>
        </p:nvSpPr>
        <p:spPr>
          <a:xfrm>
            <a:off x="457200" y="27889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Squash</a:t>
            </a:r>
            <a:endParaRPr lang="en-US" sz="1300" dirty="0"/>
          </a:p>
        </p:txBody>
      </p:sp>
      <p:sp>
        <p:nvSpPr>
          <p:cNvPr id="54" name="text-396"/>
          <p:cNvSpPr txBox="1"/>
          <p:nvPr/>
        </p:nvSpPr>
        <p:spPr>
          <a:xfrm>
            <a:off x="457200" y="30266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Rad dobiva vrijeme spajanja.</a:t>
            </a:r>
            <a:endParaRPr lang="en-US" sz="1000" dirty="0"/>
          </a:p>
        </p:txBody>
      </p:sp>
      <p:sp>
        <p:nvSpPr>
          <p:cNvPr id="55" name="edge-397"/>
          <p:cNvSpPr/>
          <p:nvPr/>
        </p:nvSpPr>
        <p:spPr>
          <a:xfrm>
            <a:off x="2459736" y="297180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6" name="edge-398"/>
          <p:cNvSpPr/>
          <p:nvPr/>
        </p:nvSpPr>
        <p:spPr>
          <a:xfrm>
            <a:off x="3675888" y="297180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7" name="edge-399"/>
          <p:cNvSpPr/>
          <p:nvPr/>
        </p:nvSpPr>
        <p:spPr>
          <a:xfrm>
            <a:off x="6108192" y="297180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8" name="commit-400"/>
          <p:cNvSpPr/>
          <p:nvPr/>
        </p:nvSpPr>
        <p:spPr>
          <a:xfrm>
            <a:off x="2048256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9" name="text-401"/>
          <p:cNvSpPr txBox="1"/>
          <p:nvPr/>
        </p:nvSpPr>
        <p:spPr>
          <a:xfrm>
            <a:off x="204825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60" name="commit-402"/>
          <p:cNvSpPr/>
          <p:nvPr/>
        </p:nvSpPr>
        <p:spPr>
          <a:xfrm>
            <a:off x="3264408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1" name="text-403"/>
          <p:cNvSpPr txBox="1"/>
          <p:nvPr/>
        </p:nvSpPr>
        <p:spPr>
          <a:xfrm>
            <a:off x="3264408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62" name="commit-404"/>
          <p:cNvSpPr/>
          <p:nvPr/>
        </p:nvSpPr>
        <p:spPr>
          <a:xfrm>
            <a:off x="5696712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3" name="text-405"/>
          <p:cNvSpPr txBox="1"/>
          <p:nvPr/>
        </p:nvSpPr>
        <p:spPr>
          <a:xfrm>
            <a:off x="569671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64" name="commit-406"/>
          <p:cNvSpPr/>
          <p:nvPr/>
        </p:nvSpPr>
        <p:spPr>
          <a:xfrm>
            <a:off x="8129016" y="277977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5" name="text-407"/>
          <p:cNvSpPr txBox="1"/>
          <p:nvPr/>
        </p:nvSpPr>
        <p:spPr>
          <a:xfrm>
            <a:off x="812901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66" name="text-408"/>
          <p:cNvSpPr txBox="1"/>
          <p:nvPr/>
        </p:nvSpPr>
        <p:spPr>
          <a:xfrm>
            <a:off x="45720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Rebase</a:t>
            </a:r>
            <a:endParaRPr lang="en-US" sz="1300" dirty="0"/>
          </a:p>
        </p:txBody>
      </p:sp>
      <p:sp>
        <p:nvSpPr>
          <p:cNvPr id="67" name="text-409"/>
          <p:cNvSpPr txBox="1"/>
          <p:nvPr/>
        </p:nvSpPr>
        <p:spPr>
          <a:xfrm>
            <a:off x="457200" y="362102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 main: A→B→E→C'→D'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C' (11:00) dolazi iza E (12:00).</a:t>
            </a:r>
            <a:endParaRPr lang="en-US" sz="1000" dirty="0"/>
          </a:p>
        </p:txBody>
      </p:sp>
      <p:sp>
        <p:nvSpPr>
          <p:cNvPr id="68" name="edge-410"/>
          <p:cNvSpPr/>
          <p:nvPr/>
        </p:nvSpPr>
        <p:spPr>
          <a:xfrm>
            <a:off x="2459736" y="356616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9" name="edge-411"/>
          <p:cNvSpPr/>
          <p:nvPr/>
        </p:nvSpPr>
        <p:spPr>
          <a:xfrm>
            <a:off x="3675888" y="356616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0" name="edge-412"/>
          <p:cNvSpPr/>
          <p:nvPr/>
        </p:nvSpPr>
        <p:spPr>
          <a:xfrm flipV="1">
            <a:off x="4883596" y="3626449"/>
            <a:ext cx="794128" cy="226894"/>
          </a:xfrm>
          <a:prstGeom prst="line">
            <a:avLst/>
          </a:prstGeom>
          <a:noFill/>
          <a:ln w="34925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71" name="edge-413"/>
          <p:cNvSpPr/>
          <p:nvPr/>
        </p:nvSpPr>
        <p:spPr>
          <a:xfrm>
            <a:off x="4892040" y="3913632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2" name="commit-414"/>
          <p:cNvSpPr/>
          <p:nvPr/>
        </p:nvSpPr>
        <p:spPr>
          <a:xfrm>
            <a:off x="2048256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3" name="text-415"/>
          <p:cNvSpPr txBox="1"/>
          <p:nvPr/>
        </p:nvSpPr>
        <p:spPr>
          <a:xfrm>
            <a:off x="2048256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74" name="commit-416"/>
          <p:cNvSpPr/>
          <p:nvPr/>
        </p:nvSpPr>
        <p:spPr>
          <a:xfrm>
            <a:off x="3264408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5" name="text-417"/>
          <p:cNvSpPr txBox="1"/>
          <p:nvPr/>
        </p:nvSpPr>
        <p:spPr>
          <a:xfrm>
            <a:off x="326440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76" name="commit-418"/>
          <p:cNvSpPr/>
          <p:nvPr/>
        </p:nvSpPr>
        <p:spPr>
          <a:xfrm>
            <a:off x="5696712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7" name="text-419"/>
          <p:cNvSpPr txBox="1"/>
          <p:nvPr/>
        </p:nvSpPr>
        <p:spPr>
          <a:xfrm>
            <a:off x="5696712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78" name="commit-420"/>
          <p:cNvSpPr/>
          <p:nvPr/>
        </p:nvSpPr>
        <p:spPr>
          <a:xfrm>
            <a:off x="4480560" y="372160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79" name="text-421"/>
          <p:cNvSpPr txBox="1"/>
          <p:nvPr/>
        </p:nvSpPr>
        <p:spPr>
          <a:xfrm>
            <a:off x="448056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C'</a:t>
            </a:r>
            <a:endParaRPr lang="en-US" sz="1200" dirty="0"/>
          </a:p>
        </p:txBody>
      </p:sp>
      <p:sp>
        <p:nvSpPr>
          <p:cNvPr id="80" name="commit-422"/>
          <p:cNvSpPr/>
          <p:nvPr/>
        </p:nvSpPr>
        <p:spPr>
          <a:xfrm>
            <a:off x="6912864" y="372160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81" name="text-423"/>
          <p:cNvSpPr txBox="1"/>
          <p:nvPr/>
        </p:nvSpPr>
        <p:spPr>
          <a:xfrm>
            <a:off x="6912864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D'</a:t>
            </a:r>
            <a:endParaRPr lang="en-US" sz="1200" dirty="0"/>
          </a:p>
        </p:txBody>
      </p:sp>
      <p:sp>
        <p:nvSpPr>
          <p:cNvPr id="82" name="text-424"/>
          <p:cNvSpPr txBox="1"/>
          <p:nvPr/>
        </p:nvSpPr>
        <p:spPr>
          <a:xfrm>
            <a:off x="7379208" y="170078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git merge --ff-only: fails</a:t>
            </a:r>
            <a:endParaRPr lang="en-US" sz="1000" dirty="0"/>
          </a:p>
        </p:txBody>
      </p:sp>
      <p:sp>
        <p:nvSpPr>
          <p:cNvPr id="83" name="text-425"/>
          <p:cNvSpPr txBox="1"/>
          <p:nvPr/>
        </p:nvSpPr>
        <p:spPr>
          <a:xfrm>
            <a:off x="6400800" y="31912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+ D</a:t>
            </a:r>
            <a:pPr algn="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, committed 14:00</a:t>
            </a:r>
            <a:endParaRPr lang="en-US" sz="1000" dirty="0"/>
          </a:p>
        </p:txBody>
      </p:sp>
      <p:sp>
        <p:nvSpPr>
          <p:cNvPr id="84" name="text-426"/>
          <p:cNvSpPr txBox="1"/>
          <p:nvPr/>
        </p:nvSpPr>
        <p:spPr>
          <a:xfrm>
            <a:off x="7379208" y="38039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committed 14:00</a:t>
            </a:r>
            <a:endParaRPr lang="en-US" sz="1000" dirty="0"/>
          </a:p>
        </p:txBody>
      </p:sp>
      <p:sp>
        <p:nvSpPr>
          <p:cNvPr id="85" name="text-427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Položaj kruga = author date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(kada je promjena napisana). Strelica vodi od roditelja prema djetetu: tako se čita redoslijed na main.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Usporedba strategija</a:t>
            </a:r>
            <a:endParaRPr lang="en-US" sz="2800" dirty="0"/>
          </a:p>
        </p:txBody>
      </p:sp>
      <p:graphicFrame>
        <p:nvGraphicFramePr>
          <p:cNvPr id="15" name="compare-4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828800"/>
                <a:gridCol w="146304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Strategija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Novi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Povijest na main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Hashevi grane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Gumb na GitHubu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Fast-forward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ostaju isti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nema (najbliže: Rebase and merge)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Merge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M s 2 roditelja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razgranata, potpuna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ostaju isti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Create a merge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Squash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jedan 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ravna, 1 commit po PR-u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 završe na main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Squash and merge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Rebase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kopije C', D'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ravna, svi commitovi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novi hashevi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Rebase and merge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ard-429"/>
          <p:cNvSpPr/>
          <p:nvPr/>
        </p:nvSpPr>
        <p:spPr>
          <a:xfrm>
            <a:off x="457200" y="324612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-430"/>
          <p:cNvSpPr txBox="1"/>
          <p:nvPr/>
        </p:nvSpPr>
        <p:spPr>
          <a:xfrm>
            <a:off x="640080" y="33375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Kako odabrati?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Tim bira jednu strategiju i zapiše je u postavke repozitorija. Na ovom kolegiju: fast-forward kad je moguć, inače merge commit. To je zadano ponašanje naredbe git merge.</a:t>
            </a:r>
            <a:endParaRPr lang="en-US" sz="1200" dirty="0"/>
          </a:p>
        </p:txBody>
      </p:sp>
      <p:sp>
        <p:nvSpPr>
          <p:cNvPr id="6" name="card-431"/>
          <p:cNvSpPr/>
          <p:nvPr/>
        </p:nvSpPr>
        <p:spPr>
          <a:xfrm>
            <a:off x="4709160" y="324612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432"/>
          <p:cNvSpPr txBox="1"/>
          <p:nvPr/>
        </p:nvSpPr>
        <p:spPr>
          <a:xfrm>
            <a:off x="4892040" y="33375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Zlatno pravilo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 prepisuj povijest koju su drugi već povukli: bez rebasea i force pusha na main.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433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434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Strategije razvoja na GitHubu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Grananje, okruženja, Actions, tajne, zaštita grana i ovlasti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Strategije grananja</a:t>
            </a:r>
            <a:endParaRPr lang="en-US" sz="2800" dirty="0"/>
          </a:p>
        </p:txBody>
      </p:sp>
      <p:sp>
        <p:nvSpPr>
          <p:cNvPr id="3" name="card-435"/>
          <p:cNvSpPr/>
          <p:nvPr/>
        </p:nvSpPr>
        <p:spPr>
          <a:xfrm>
            <a:off x="457200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36"/>
          <p:cNvSpPr txBox="1"/>
          <p:nvPr/>
        </p:nvSpPr>
        <p:spPr>
          <a:xfrm>
            <a:off x="621792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Flow</a:t>
            </a:r>
            <a:endParaRPr lang="en-US" sz="1500" dirty="0"/>
          </a:p>
        </p:txBody>
      </p:sp>
      <p:sp>
        <p:nvSpPr>
          <p:cNvPr id="5" name="text-437"/>
          <p:cNvSpPr txBox="1"/>
          <p:nvPr/>
        </p:nvSpPr>
        <p:spPr>
          <a:xfrm>
            <a:off x="594360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6" name="text-438"/>
          <p:cNvSpPr txBox="1"/>
          <p:nvPr/>
        </p:nvSpPr>
        <p:spPr>
          <a:xfrm>
            <a:off x="594360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7" name="edge-439"/>
          <p:cNvSpPr/>
          <p:nvPr/>
        </p:nvSpPr>
        <p:spPr>
          <a:xfrm>
            <a:off x="1371600" y="1810512"/>
            <a:ext cx="329184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440"/>
          <p:cNvSpPr/>
          <p:nvPr/>
        </p:nvSpPr>
        <p:spPr>
          <a:xfrm>
            <a:off x="1700784" y="1810512"/>
            <a:ext cx="75712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edge-441"/>
          <p:cNvSpPr/>
          <p:nvPr/>
        </p:nvSpPr>
        <p:spPr>
          <a:xfrm>
            <a:off x="2457907" y="1810512"/>
            <a:ext cx="29626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0" name="edge-442"/>
          <p:cNvSpPr/>
          <p:nvPr/>
        </p:nvSpPr>
        <p:spPr>
          <a:xfrm>
            <a:off x="1700784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1" name="edge-443"/>
          <p:cNvSpPr/>
          <p:nvPr/>
        </p:nvSpPr>
        <p:spPr>
          <a:xfrm>
            <a:off x="1931213" y="2176272"/>
            <a:ext cx="29626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2" name="edge-444"/>
          <p:cNvSpPr/>
          <p:nvPr/>
        </p:nvSpPr>
        <p:spPr>
          <a:xfrm flipV="1">
            <a:off x="2227478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3" name="commit-445"/>
          <p:cNvSpPr/>
          <p:nvPr/>
        </p:nvSpPr>
        <p:spPr>
          <a:xfrm>
            <a:off x="1261872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commit-446"/>
          <p:cNvSpPr/>
          <p:nvPr/>
        </p:nvSpPr>
        <p:spPr>
          <a:xfrm>
            <a:off x="1591056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commit-447"/>
          <p:cNvSpPr/>
          <p:nvPr/>
        </p:nvSpPr>
        <p:spPr>
          <a:xfrm>
            <a:off x="2348179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commit-448"/>
          <p:cNvSpPr/>
          <p:nvPr/>
        </p:nvSpPr>
        <p:spPr>
          <a:xfrm>
            <a:off x="2644445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" name="commit-449"/>
          <p:cNvSpPr/>
          <p:nvPr/>
        </p:nvSpPr>
        <p:spPr>
          <a:xfrm>
            <a:off x="1821485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commit-450"/>
          <p:cNvSpPr/>
          <p:nvPr/>
        </p:nvSpPr>
        <p:spPr>
          <a:xfrm>
            <a:off x="2117750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9" name="text-451"/>
          <p:cNvSpPr txBox="1"/>
          <p:nvPr/>
        </p:nvSpPr>
        <p:spPr>
          <a:xfrm>
            <a:off x="594360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main je uvijek spreman za isporuku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Grana → PR → review → spajanje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Isporuka nakon svakog spajanja</a:t>
            </a:r>
            <a:endParaRPr lang="en-US" sz="1100" dirty="0"/>
          </a:p>
        </p:txBody>
      </p:sp>
      <p:sp>
        <p:nvSpPr>
          <p:cNvPr id="20" name="text-452"/>
          <p:cNvSpPr txBox="1"/>
          <p:nvPr/>
        </p:nvSpPr>
        <p:spPr>
          <a:xfrm>
            <a:off x="594360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Mali timovi, web aplikacije. Ovo koristimo na kolegiju.</a:t>
            </a:r>
            <a:endParaRPr lang="en-US" sz="1100" dirty="0"/>
          </a:p>
        </p:txBody>
      </p:sp>
      <p:sp>
        <p:nvSpPr>
          <p:cNvPr id="21" name="card-453"/>
          <p:cNvSpPr/>
          <p:nvPr/>
        </p:nvSpPr>
        <p:spPr>
          <a:xfrm>
            <a:off x="3273552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-454"/>
          <p:cNvSpPr txBox="1"/>
          <p:nvPr/>
        </p:nvSpPr>
        <p:spPr>
          <a:xfrm>
            <a:off x="3438144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Trunk-based</a:t>
            </a:r>
            <a:endParaRPr lang="en-US" sz="1500" dirty="0"/>
          </a:p>
        </p:txBody>
      </p:sp>
      <p:sp>
        <p:nvSpPr>
          <p:cNvPr id="23" name="text-455"/>
          <p:cNvSpPr txBox="1"/>
          <p:nvPr/>
        </p:nvSpPr>
        <p:spPr>
          <a:xfrm>
            <a:off x="3410712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4" name="text-456"/>
          <p:cNvSpPr txBox="1"/>
          <p:nvPr/>
        </p:nvSpPr>
        <p:spPr>
          <a:xfrm>
            <a:off x="3410712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</a:t>
            </a:r>
            <a:endParaRPr lang="en-US" sz="1000" dirty="0"/>
          </a:p>
        </p:txBody>
      </p:sp>
      <p:sp>
        <p:nvSpPr>
          <p:cNvPr id="25" name="edge-457"/>
          <p:cNvSpPr/>
          <p:nvPr/>
        </p:nvSpPr>
        <p:spPr>
          <a:xfrm>
            <a:off x="4187952" y="1810512"/>
            <a:ext cx="27980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6" name="edge-458"/>
          <p:cNvSpPr/>
          <p:nvPr/>
        </p:nvSpPr>
        <p:spPr>
          <a:xfrm>
            <a:off x="4467758" y="1810512"/>
            <a:ext cx="477317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459"/>
          <p:cNvSpPr/>
          <p:nvPr/>
        </p:nvSpPr>
        <p:spPr>
          <a:xfrm>
            <a:off x="4945075" y="1810512"/>
            <a:ext cx="27980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460"/>
          <p:cNvSpPr/>
          <p:nvPr/>
        </p:nvSpPr>
        <p:spPr>
          <a:xfrm>
            <a:off x="5224882" y="1810512"/>
            <a:ext cx="34564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461"/>
          <p:cNvSpPr/>
          <p:nvPr/>
        </p:nvSpPr>
        <p:spPr>
          <a:xfrm>
            <a:off x="4467758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462"/>
          <p:cNvSpPr/>
          <p:nvPr/>
        </p:nvSpPr>
        <p:spPr>
          <a:xfrm flipV="1">
            <a:off x="4698187" y="1810512"/>
            <a:ext cx="246888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1" name="commit-463"/>
          <p:cNvSpPr/>
          <p:nvPr/>
        </p:nvSpPr>
        <p:spPr>
          <a:xfrm>
            <a:off x="4078224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2" name="commit-464"/>
          <p:cNvSpPr/>
          <p:nvPr/>
        </p:nvSpPr>
        <p:spPr>
          <a:xfrm>
            <a:off x="4358030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commit-465"/>
          <p:cNvSpPr/>
          <p:nvPr/>
        </p:nvSpPr>
        <p:spPr>
          <a:xfrm>
            <a:off x="4835347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4" name="commit-466"/>
          <p:cNvSpPr/>
          <p:nvPr/>
        </p:nvSpPr>
        <p:spPr>
          <a:xfrm>
            <a:off x="5115154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commit-467"/>
          <p:cNvSpPr/>
          <p:nvPr/>
        </p:nvSpPr>
        <p:spPr>
          <a:xfrm>
            <a:off x="5460797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commit-468"/>
          <p:cNvSpPr/>
          <p:nvPr/>
        </p:nvSpPr>
        <p:spPr>
          <a:xfrm>
            <a:off x="4588459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text-469"/>
          <p:cNvSpPr txBox="1"/>
          <p:nvPr/>
        </p:nvSpPr>
        <p:spPr>
          <a:xfrm>
            <a:off x="3410712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Integracija u main barem dnevno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Grane žive satima, ne danima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Nedovršeno skriveno feature flagom</a:t>
            </a:r>
            <a:endParaRPr lang="en-US" sz="1100" dirty="0"/>
          </a:p>
        </p:txBody>
      </p:sp>
      <p:sp>
        <p:nvSpPr>
          <p:cNvPr id="38" name="text-470"/>
          <p:cNvSpPr txBox="1"/>
          <p:nvPr/>
        </p:nvSpPr>
        <p:spPr>
          <a:xfrm>
            <a:off x="3410712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Zreo CI s puno automatskih testova.</a:t>
            </a:r>
            <a:endParaRPr lang="en-US" sz="1100" dirty="0"/>
          </a:p>
        </p:txBody>
      </p:sp>
      <p:sp>
        <p:nvSpPr>
          <p:cNvPr id="39" name="card-471"/>
          <p:cNvSpPr/>
          <p:nvPr/>
        </p:nvSpPr>
        <p:spPr>
          <a:xfrm>
            <a:off x="6089904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-472"/>
          <p:cNvSpPr txBox="1"/>
          <p:nvPr/>
        </p:nvSpPr>
        <p:spPr>
          <a:xfrm>
            <a:off x="6254496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Gitflow</a:t>
            </a:r>
            <a:endParaRPr lang="en-US" sz="1500" dirty="0"/>
          </a:p>
        </p:txBody>
      </p:sp>
      <p:sp>
        <p:nvSpPr>
          <p:cNvPr id="41" name="text-473"/>
          <p:cNvSpPr txBox="1"/>
          <p:nvPr/>
        </p:nvSpPr>
        <p:spPr>
          <a:xfrm>
            <a:off x="6227064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text-474"/>
          <p:cNvSpPr txBox="1"/>
          <p:nvPr/>
        </p:nvSpPr>
        <p:spPr>
          <a:xfrm>
            <a:off x="6227064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</a:t>
            </a:r>
            <a:endParaRPr lang="en-US" sz="1000" dirty="0"/>
          </a:p>
        </p:txBody>
      </p:sp>
      <p:sp>
        <p:nvSpPr>
          <p:cNvPr id="43" name="text-475"/>
          <p:cNvSpPr txBox="1"/>
          <p:nvPr/>
        </p:nvSpPr>
        <p:spPr>
          <a:xfrm>
            <a:off x="6227064" y="24323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44" name="edge-476"/>
          <p:cNvSpPr/>
          <p:nvPr/>
        </p:nvSpPr>
        <p:spPr>
          <a:xfrm>
            <a:off x="7004304" y="1810512"/>
            <a:ext cx="138257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5" name="edge-477"/>
          <p:cNvSpPr/>
          <p:nvPr/>
        </p:nvSpPr>
        <p:spPr>
          <a:xfrm>
            <a:off x="7004304" y="1810512"/>
            <a:ext cx="27980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6" name="edge-478"/>
          <p:cNvSpPr/>
          <p:nvPr/>
        </p:nvSpPr>
        <p:spPr>
          <a:xfrm>
            <a:off x="7284110" y="2176272"/>
            <a:ext cx="57607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7" name="edge-479"/>
          <p:cNvSpPr/>
          <p:nvPr/>
        </p:nvSpPr>
        <p:spPr>
          <a:xfrm>
            <a:off x="7860182" y="2176272"/>
            <a:ext cx="263347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8" name="edge-480"/>
          <p:cNvSpPr/>
          <p:nvPr/>
        </p:nvSpPr>
        <p:spPr>
          <a:xfrm flipV="1">
            <a:off x="8123530" y="1810512"/>
            <a:ext cx="263347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9" name="edge-481"/>
          <p:cNvSpPr/>
          <p:nvPr/>
        </p:nvSpPr>
        <p:spPr>
          <a:xfrm>
            <a:off x="7284110" y="2176272"/>
            <a:ext cx="27980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0" name="edge-482"/>
          <p:cNvSpPr/>
          <p:nvPr/>
        </p:nvSpPr>
        <p:spPr>
          <a:xfrm flipV="1">
            <a:off x="7563917" y="2176272"/>
            <a:ext cx="29626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1" name="commit-483"/>
          <p:cNvSpPr/>
          <p:nvPr/>
        </p:nvSpPr>
        <p:spPr>
          <a:xfrm>
            <a:off x="6894576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2" name="commit-484"/>
          <p:cNvSpPr/>
          <p:nvPr/>
        </p:nvSpPr>
        <p:spPr>
          <a:xfrm>
            <a:off x="8277149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3" name="commit-485"/>
          <p:cNvSpPr/>
          <p:nvPr/>
        </p:nvSpPr>
        <p:spPr>
          <a:xfrm>
            <a:off x="7174382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4" name="commit-486"/>
          <p:cNvSpPr/>
          <p:nvPr/>
        </p:nvSpPr>
        <p:spPr>
          <a:xfrm>
            <a:off x="7750454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5" name="commit-487"/>
          <p:cNvSpPr/>
          <p:nvPr/>
        </p:nvSpPr>
        <p:spPr>
          <a:xfrm>
            <a:off x="8013802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6" name="commit-488"/>
          <p:cNvSpPr/>
          <p:nvPr/>
        </p:nvSpPr>
        <p:spPr>
          <a:xfrm>
            <a:off x="7454189" y="243230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7" name="text-489"/>
          <p:cNvSpPr txBox="1"/>
          <p:nvPr/>
        </p:nvSpPr>
        <p:spPr>
          <a:xfrm>
            <a:off x="6729984" y="14447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v1.0</a:t>
            </a:r>
            <a:endParaRPr lang="en-US" sz="1000" dirty="0"/>
          </a:p>
        </p:txBody>
      </p:sp>
      <p:sp>
        <p:nvSpPr>
          <p:cNvPr id="58" name="text-490"/>
          <p:cNvSpPr txBox="1"/>
          <p:nvPr/>
        </p:nvSpPr>
        <p:spPr>
          <a:xfrm>
            <a:off x="8112557" y="14447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v1.1</a:t>
            </a:r>
            <a:endParaRPr lang="en-US" sz="1000" dirty="0"/>
          </a:p>
        </p:txBody>
      </p:sp>
      <p:sp>
        <p:nvSpPr>
          <p:cNvPr id="59" name="text-491"/>
          <p:cNvSpPr txBox="1"/>
          <p:nvPr/>
        </p:nvSpPr>
        <p:spPr>
          <a:xfrm>
            <a:off x="6227064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Trajne grane: main i develop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Plus feature/*, release/*, hotfix/*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Izdanja po planu, s tagovima</a:t>
            </a:r>
            <a:endParaRPr lang="en-US" sz="1100" dirty="0"/>
          </a:p>
        </p:txBody>
      </p:sp>
      <p:sp>
        <p:nvSpPr>
          <p:cNvPr id="60" name="text-492"/>
          <p:cNvSpPr txBox="1"/>
          <p:nvPr/>
        </p:nvSpPr>
        <p:spPr>
          <a:xfrm>
            <a:off x="6227064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Rijetka izdanja: mobilne i desktop aplikacije, biblioteke.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Konvencija: ime okruženja = ime grane</a:t>
            </a:r>
            <a:endParaRPr lang="en-US" sz="2800" dirty="0"/>
          </a:p>
        </p:txBody>
      </p:sp>
      <p:sp>
        <p:nvSpPr>
          <p:cNvPr id="3" name="text-493"/>
          <p:cNvSpPr txBox="1"/>
          <p:nvPr/>
        </p:nvSpPr>
        <p:spPr>
          <a:xfrm>
            <a:off x="1600200" y="1051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Branch</a:t>
            </a:r>
            <a:endParaRPr lang="en-US" sz="1200" dirty="0"/>
          </a:p>
        </p:txBody>
      </p:sp>
      <p:sp>
        <p:nvSpPr>
          <p:cNvPr id="4" name="text-494"/>
          <p:cNvSpPr txBox="1"/>
          <p:nvPr/>
        </p:nvSpPr>
        <p:spPr>
          <a:xfrm>
            <a:off x="374904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Environment</a:t>
            </a:r>
            <a:endParaRPr lang="en-US" sz="1200" dirty="0"/>
          </a:p>
        </p:txBody>
      </p:sp>
      <p:sp>
        <p:nvSpPr>
          <p:cNvPr id="5" name="pill-495"/>
          <p:cNvSpPr/>
          <p:nvPr/>
        </p:nvSpPr>
        <p:spPr>
          <a:xfrm>
            <a:off x="457200" y="1572768"/>
            <a:ext cx="914400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-496"/>
          <p:cNvSpPr txBox="1"/>
          <p:nvPr/>
        </p:nvSpPr>
        <p:spPr>
          <a:xfrm>
            <a:off x="457200" y="15727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feature/*</a:t>
            </a:r>
            <a:endParaRPr lang="en-US" sz="1000" dirty="0"/>
          </a:p>
        </p:txBody>
      </p:sp>
      <p:sp>
        <p:nvSpPr>
          <p:cNvPr id="7" name="flow-497"/>
          <p:cNvSpPr/>
          <p:nvPr/>
        </p:nvSpPr>
        <p:spPr>
          <a:xfrm>
            <a:off x="1371600" y="1691640"/>
            <a:ext cx="22860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ranch-498"/>
          <p:cNvSpPr/>
          <p:nvPr/>
        </p:nvSpPr>
        <p:spPr>
          <a:xfrm>
            <a:off x="1691640" y="146304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499"/>
          <p:cNvSpPr txBox="1"/>
          <p:nvPr/>
        </p:nvSpPr>
        <p:spPr>
          <a:xfrm>
            <a:off x="1691640" y="1463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</a:t>
            </a:r>
            <a:endParaRPr lang="en-US" sz="1400" dirty="0"/>
          </a:p>
        </p:txBody>
      </p:sp>
      <p:sp>
        <p:nvSpPr>
          <p:cNvPr id="10" name="flow-500"/>
          <p:cNvSpPr/>
          <p:nvPr/>
        </p:nvSpPr>
        <p:spPr>
          <a:xfrm>
            <a:off x="3017520" y="169164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11" name="card-501"/>
          <p:cNvSpPr/>
          <p:nvPr/>
        </p:nvSpPr>
        <p:spPr>
          <a:xfrm>
            <a:off x="3749040" y="141732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502"/>
          <p:cNvSpPr txBox="1"/>
          <p:nvPr/>
        </p:nvSpPr>
        <p:spPr>
          <a:xfrm>
            <a:off x="3749040" y="1417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</a:t>
            </a:r>
            <a:endParaRPr lang="en-US" sz="1400" dirty="0"/>
          </a:p>
        </p:txBody>
      </p:sp>
      <p:sp>
        <p:nvSpPr>
          <p:cNvPr id="13" name="promote-503"/>
          <p:cNvSpPr/>
          <p:nvPr/>
        </p:nvSpPr>
        <p:spPr>
          <a:xfrm>
            <a:off x="2331720" y="1920240"/>
            <a:ext cx="91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-504"/>
          <p:cNvSpPr txBox="1"/>
          <p:nvPr/>
        </p:nvSpPr>
        <p:spPr>
          <a:xfrm>
            <a:off x="2395728" y="1965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PR</a:t>
            </a:r>
            <a:endParaRPr lang="en-US" sz="1000" dirty="0"/>
          </a:p>
        </p:txBody>
      </p:sp>
      <p:sp>
        <p:nvSpPr>
          <p:cNvPr id="15" name="branch-505"/>
          <p:cNvSpPr/>
          <p:nvPr/>
        </p:nvSpPr>
        <p:spPr>
          <a:xfrm>
            <a:off x="1691640" y="233172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506"/>
          <p:cNvSpPr txBox="1"/>
          <p:nvPr/>
        </p:nvSpPr>
        <p:spPr>
          <a:xfrm>
            <a:off x="1691640" y="2331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400" dirty="0"/>
          </a:p>
        </p:txBody>
      </p:sp>
      <p:sp>
        <p:nvSpPr>
          <p:cNvPr id="17" name="flow-507"/>
          <p:cNvSpPr/>
          <p:nvPr/>
        </p:nvSpPr>
        <p:spPr>
          <a:xfrm>
            <a:off x="3017520" y="256032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18" name="card-508"/>
          <p:cNvSpPr/>
          <p:nvPr/>
        </p:nvSpPr>
        <p:spPr>
          <a:xfrm>
            <a:off x="3749040" y="228600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-509"/>
          <p:cNvSpPr txBox="1"/>
          <p:nvPr/>
        </p:nvSpPr>
        <p:spPr>
          <a:xfrm>
            <a:off x="374904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400" dirty="0"/>
          </a:p>
        </p:txBody>
      </p:sp>
      <p:sp>
        <p:nvSpPr>
          <p:cNvPr id="20" name="promote-510"/>
          <p:cNvSpPr/>
          <p:nvPr/>
        </p:nvSpPr>
        <p:spPr>
          <a:xfrm>
            <a:off x="2331720" y="2788920"/>
            <a:ext cx="91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ext-511"/>
          <p:cNvSpPr txBox="1"/>
          <p:nvPr/>
        </p:nvSpPr>
        <p:spPr>
          <a:xfrm>
            <a:off x="2395728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PR</a:t>
            </a:r>
            <a:endParaRPr lang="en-US" sz="1000" dirty="0"/>
          </a:p>
        </p:txBody>
      </p:sp>
      <p:sp>
        <p:nvSpPr>
          <p:cNvPr id="22" name="branch-512"/>
          <p:cNvSpPr/>
          <p:nvPr/>
        </p:nvSpPr>
        <p:spPr>
          <a:xfrm>
            <a:off x="1691640" y="320040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-513"/>
          <p:cNvSpPr txBox="1"/>
          <p:nvPr/>
        </p:nvSpPr>
        <p:spPr>
          <a:xfrm>
            <a:off x="1691640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</a:t>
            </a:r>
            <a:endParaRPr lang="en-US" sz="1400" dirty="0"/>
          </a:p>
        </p:txBody>
      </p:sp>
      <p:sp>
        <p:nvSpPr>
          <p:cNvPr id="24" name="flow-514"/>
          <p:cNvSpPr/>
          <p:nvPr/>
        </p:nvSpPr>
        <p:spPr>
          <a:xfrm>
            <a:off x="3017520" y="342900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25" name="card-515"/>
          <p:cNvSpPr/>
          <p:nvPr/>
        </p:nvSpPr>
        <p:spPr>
          <a:xfrm>
            <a:off x="3749040" y="315468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516"/>
          <p:cNvSpPr txBox="1"/>
          <p:nvPr/>
        </p:nvSpPr>
        <p:spPr>
          <a:xfrm>
            <a:off x="3749040" y="3154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</a:t>
            </a:r>
            <a:endParaRPr lang="en-US" sz="1400" dirty="0"/>
          </a:p>
        </p:txBody>
      </p:sp>
      <p:sp>
        <p:nvSpPr>
          <p:cNvPr id="27" name="text-517"/>
          <p:cNvSpPr txBox="1"/>
          <p:nvPr/>
        </p:nvSpPr>
        <p:spPr>
          <a:xfrm>
            <a:off x="3017520" y="11887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deploy</a:t>
            </a:r>
            <a:endParaRPr lang="en-US" sz="1000" dirty="0"/>
          </a:p>
        </p:txBody>
      </p:sp>
      <p:sp>
        <p:nvSpPr>
          <p:cNvPr id="28" name="card-518"/>
          <p:cNvSpPr/>
          <p:nvPr/>
        </p:nvSpPr>
        <p:spPr>
          <a:xfrm>
            <a:off x="5623560" y="1051560"/>
            <a:ext cx="3063240" cy="347472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-519"/>
          <p:cNvSpPr txBox="1"/>
          <p:nvPr/>
        </p:nvSpPr>
        <p:spPr>
          <a:xfrm>
            <a:off x="5806440" y="1188720"/>
            <a:ext cx="2697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Zašto ista imena?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Jedan workflow za sva okruženja: environment se čita iz imena grane.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Iste varijable i tajne (API_URL, API_KEY), druge vrijednosti po okruženju.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Promocija = pull request iz niže grane u višu.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Svatko iz imena grane zna gdje će kod završiti.</a:t>
            </a:r>
            <a:endParaRPr lang="en-US" sz="1300" dirty="0"/>
          </a:p>
        </p:txBody>
      </p:sp>
      <p:sp>
        <p:nvSpPr>
          <p:cNvPr id="30" name="text-520"/>
          <p:cNvSpPr txBox="1"/>
          <p:nvPr/>
        </p:nvSpPr>
        <p:spPr>
          <a:xfrm>
            <a:off x="45720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U vježbi danas koristimo samo main (GitHub Flow). Okruženja detaljno u temi 11.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GitHub Actions, deploymenti i tajne</a:t>
            </a:r>
            <a:endParaRPr lang="en-US" sz="2800" dirty="0"/>
          </a:p>
        </p:txBody>
      </p:sp>
      <p:sp>
        <p:nvSpPr>
          <p:cNvPr id="3" name="code-bg-521"/>
          <p:cNvSpPr/>
          <p:nvPr/>
        </p:nvSpPr>
        <p:spPr>
          <a:xfrm>
            <a:off x="457200" y="1051560"/>
            <a:ext cx="4572000" cy="3474720"/>
          </a:xfrm>
          <a:prstGeom prst="roundRect">
            <a:avLst>
              <a:gd name="adj" fmla="val 157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-522"/>
          <p:cNvSpPr txBox="1"/>
          <p:nvPr/>
        </p:nvSpPr>
        <p:spPr>
          <a:xfrm>
            <a:off x="621792" y="1179576"/>
            <a:ext cx="4242816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deploy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[dev, test, prod]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deploy: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${{ github.ref_name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Deploy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API_URL: ${{ vars.API_URL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API_KEY: ${{ secrets.API_KEY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./deploy.sh "$API_URL"</a:t>
            </a:r>
            <a:endParaRPr lang="en-US" sz="1050" dirty="0"/>
          </a:p>
        </p:txBody>
      </p:sp>
      <p:sp>
        <p:nvSpPr>
          <p:cNvPr id="5" name="card-523"/>
          <p:cNvSpPr/>
          <p:nvPr/>
        </p:nvSpPr>
        <p:spPr>
          <a:xfrm>
            <a:off x="5257800" y="1051560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524"/>
          <p:cNvSpPr txBox="1"/>
          <p:nvPr/>
        </p:nvSpPr>
        <p:spPr>
          <a:xfrm>
            <a:off x="5394960" y="112471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7" name="text-525"/>
          <p:cNvSpPr txBox="1"/>
          <p:nvPr/>
        </p:nvSpPr>
        <p:spPr>
          <a:xfrm>
            <a:off x="5394960" y="139903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Ime okruženja = ime grane. Svaki run je zapisan kao deployment, s pravilima (npr. obavezno odobrenje za prod).</a:t>
            </a:r>
            <a:endParaRPr lang="en-US" sz="1100" dirty="0"/>
          </a:p>
        </p:txBody>
      </p:sp>
      <p:sp>
        <p:nvSpPr>
          <p:cNvPr id="8" name="card-526"/>
          <p:cNvSpPr/>
          <p:nvPr/>
        </p:nvSpPr>
        <p:spPr>
          <a:xfrm>
            <a:off x="5257800" y="1984248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527"/>
          <p:cNvSpPr txBox="1"/>
          <p:nvPr/>
        </p:nvSpPr>
        <p:spPr>
          <a:xfrm>
            <a:off x="5394960" y="2057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vars.*</a:t>
            </a:r>
            <a:endParaRPr lang="en-US" sz="1300" dirty="0"/>
          </a:p>
        </p:txBody>
      </p:sp>
      <p:sp>
        <p:nvSpPr>
          <p:cNvPr id="10" name="text-528"/>
          <p:cNvSpPr txBox="1"/>
          <p:nvPr/>
        </p:nvSpPr>
        <p:spPr>
          <a:xfrm>
            <a:off x="5394960" y="2331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Konfiguracija koja nije tajna: URL-ovi, imena modela. Vidljiva u logu.</a:t>
            </a:r>
            <a:endParaRPr lang="en-US" sz="1100" dirty="0"/>
          </a:p>
        </p:txBody>
      </p:sp>
      <p:sp>
        <p:nvSpPr>
          <p:cNvPr id="11" name="card-529"/>
          <p:cNvSpPr/>
          <p:nvPr/>
        </p:nvSpPr>
        <p:spPr>
          <a:xfrm>
            <a:off x="5257800" y="2916936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530"/>
          <p:cNvSpPr txBox="1"/>
          <p:nvPr/>
        </p:nvSpPr>
        <p:spPr>
          <a:xfrm>
            <a:off x="5394960" y="299008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secrets.*</a:t>
            </a:r>
            <a:endParaRPr lang="en-US" sz="1300" dirty="0"/>
          </a:p>
        </p:txBody>
      </p:sp>
      <p:sp>
        <p:nvSpPr>
          <p:cNvPr id="13" name="text-531"/>
          <p:cNvSpPr txBox="1"/>
          <p:nvPr/>
        </p:nvSpPr>
        <p:spPr>
          <a:xfrm>
            <a:off x="5394960" y="32644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Šifrirane vrijednosti, maskirane u logu (***). Nikad u kodu ni u .env u repozitoriju.</a:t>
            </a:r>
            <a:endParaRPr lang="en-US" sz="1100" dirty="0"/>
          </a:p>
        </p:txBody>
      </p:sp>
      <p:sp>
        <p:nvSpPr>
          <p:cNvPr id="14" name="code-bg-532"/>
          <p:cNvSpPr/>
          <p:nvPr/>
        </p:nvSpPr>
        <p:spPr>
          <a:xfrm>
            <a:off x="5257800" y="3886200"/>
            <a:ext cx="3429000" cy="640080"/>
          </a:xfrm>
          <a:prstGeom prst="roundRect">
            <a:avLst>
              <a:gd name="adj" fmla="val 8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-533"/>
          <p:cNvSpPr txBox="1"/>
          <p:nvPr/>
        </p:nvSpPr>
        <p:spPr>
          <a:xfrm>
            <a:off x="5422392" y="401421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variable set API_URL --env dev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secret set API_KEY --env dev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Zaštita grana (branch protection)</a:t>
            </a:r>
            <a:endParaRPr lang="en-US" sz="2800" dirty="0"/>
          </a:p>
        </p:txBody>
      </p:sp>
      <p:sp>
        <p:nvSpPr>
          <p:cNvPr id="3" name="text-534"/>
          <p:cNvSpPr txBox="1"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Pravila koja GitHub provodi na grani main, bez obzira na to tko pusha:</a:t>
            </a:r>
            <a:endParaRPr lang="en-US" sz="1400" dirty="0"/>
          </a:p>
        </p:txBody>
      </p:sp>
      <p:sp>
        <p:nvSpPr>
          <p:cNvPr id="4" name="card-535"/>
          <p:cNvSpPr/>
          <p:nvPr/>
        </p:nvSpPr>
        <p:spPr>
          <a:xfrm>
            <a:off x="457200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536"/>
          <p:cNvSpPr/>
          <p:nvPr/>
        </p:nvSpPr>
        <p:spPr>
          <a:xfrm>
            <a:off x="594360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537"/>
          <p:cNvSpPr txBox="1"/>
          <p:nvPr/>
        </p:nvSpPr>
        <p:spPr>
          <a:xfrm>
            <a:off x="59436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-538"/>
          <p:cNvSpPr txBox="1"/>
          <p:nvPr/>
        </p:nvSpPr>
        <p:spPr>
          <a:xfrm>
            <a:off x="1005840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a pull request</a:t>
            </a:r>
            <a:endParaRPr lang="en-US" sz="1200" dirty="0"/>
          </a:p>
        </p:txBody>
      </p:sp>
      <p:sp>
        <p:nvSpPr>
          <p:cNvPr id="8" name="text-539"/>
          <p:cNvSpPr txBox="1"/>
          <p:nvPr/>
        </p:nvSpPr>
        <p:spPr>
          <a:xfrm>
            <a:off x="59436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Nema izravnog pusha na main; sve ide kroz PR.</a:t>
            </a:r>
            <a:endParaRPr lang="en-US" sz="1200" dirty="0"/>
          </a:p>
        </p:txBody>
      </p:sp>
      <p:sp>
        <p:nvSpPr>
          <p:cNvPr id="9" name="card-540"/>
          <p:cNvSpPr/>
          <p:nvPr/>
        </p:nvSpPr>
        <p:spPr>
          <a:xfrm>
            <a:off x="3273552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-541"/>
          <p:cNvSpPr/>
          <p:nvPr/>
        </p:nvSpPr>
        <p:spPr>
          <a:xfrm>
            <a:off x="3410712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542"/>
          <p:cNvSpPr txBox="1"/>
          <p:nvPr/>
        </p:nvSpPr>
        <p:spPr>
          <a:xfrm>
            <a:off x="341071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-543"/>
          <p:cNvSpPr txBox="1"/>
          <p:nvPr/>
        </p:nvSpPr>
        <p:spPr>
          <a:xfrm>
            <a:off x="3822192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approvals</a:t>
            </a:r>
            <a:endParaRPr lang="en-US" sz="1200" dirty="0"/>
          </a:p>
        </p:txBody>
      </p:sp>
      <p:sp>
        <p:nvSpPr>
          <p:cNvPr id="13" name="text-544"/>
          <p:cNvSpPr txBox="1"/>
          <p:nvPr/>
        </p:nvSpPr>
        <p:spPr>
          <a:xfrm>
            <a:off x="3410712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Barem jedan pregled (review) prije spajanja.</a:t>
            </a:r>
            <a:endParaRPr lang="en-US" sz="1200" dirty="0"/>
          </a:p>
        </p:txBody>
      </p:sp>
      <p:sp>
        <p:nvSpPr>
          <p:cNvPr id="14" name="card-545"/>
          <p:cNvSpPr/>
          <p:nvPr/>
        </p:nvSpPr>
        <p:spPr>
          <a:xfrm>
            <a:off x="6089904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um-546"/>
          <p:cNvSpPr/>
          <p:nvPr/>
        </p:nvSpPr>
        <p:spPr>
          <a:xfrm>
            <a:off x="6227064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547"/>
          <p:cNvSpPr txBox="1"/>
          <p:nvPr/>
        </p:nvSpPr>
        <p:spPr>
          <a:xfrm>
            <a:off x="6227064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-548"/>
          <p:cNvSpPr txBox="1"/>
          <p:nvPr/>
        </p:nvSpPr>
        <p:spPr>
          <a:xfrm>
            <a:off x="6638544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status checks</a:t>
            </a:r>
            <a:endParaRPr lang="en-US" sz="1200" dirty="0"/>
          </a:p>
        </p:txBody>
      </p:sp>
      <p:sp>
        <p:nvSpPr>
          <p:cNvPr id="18" name="text-549"/>
          <p:cNvSpPr txBox="1"/>
          <p:nvPr/>
        </p:nvSpPr>
        <p:spPr>
          <a:xfrm>
            <a:off x="6227064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CI mora biti zelen (testovi, lint).</a:t>
            </a:r>
            <a:endParaRPr lang="en-US" sz="1200" dirty="0"/>
          </a:p>
        </p:txBody>
      </p:sp>
      <p:sp>
        <p:nvSpPr>
          <p:cNvPr id="19" name="card-550"/>
          <p:cNvSpPr/>
          <p:nvPr/>
        </p:nvSpPr>
        <p:spPr>
          <a:xfrm>
            <a:off x="457200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um-551"/>
          <p:cNvSpPr/>
          <p:nvPr/>
        </p:nvSpPr>
        <p:spPr>
          <a:xfrm>
            <a:off x="594360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552"/>
          <p:cNvSpPr txBox="1"/>
          <p:nvPr/>
        </p:nvSpPr>
        <p:spPr>
          <a:xfrm>
            <a:off x="59436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-553"/>
          <p:cNvSpPr txBox="1"/>
          <p:nvPr/>
        </p:nvSpPr>
        <p:spPr>
          <a:xfrm>
            <a:off x="1005840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linear history</a:t>
            </a:r>
            <a:endParaRPr lang="en-US" sz="1200" dirty="0"/>
          </a:p>
        </p:txBody>
      </p:sp>
      <p:sp>
        <p:nvSpPr>
          <p:cNvPr id="23" name="text-554"/>
          <p:cNvSpPr txBox="1"/>
          <p:nvPr/>
        </p:nvSpPr>
        <p:spPr>
          <a:xfrm>
            <a:off x="594360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Dopušteni samo squash i rebase.</a:t>
            </a:r>
            <a:endParaRPr lang="en-US" sz="1200" dirty="0"/>
          </a:p>
        </p:txBody>
      </p:sp>
      <p:sp>
        <p:nvSpPr>
          <p:cNvPr id="24" name="card-555"/>
          <p:cNvSpPr/>
          <p:nvPr/>
        </p:nvSpPr>
        <p:spPr>
          <a:xfrm>
            <a:off x="3273552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um-556"/>
          <p:cNvSpPr/>
          <p:nvPr/>
        </p:nvSpPr>
        <p:spPr>
          <a:xfrm>
            <a:off x="3410712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-557"/>
          <p:cNvSpPr txBox="1"/>
          <p:nvPr/>
        </p:nvSpPr>
        <p:spPr>
          <a:xfrm>
            <a:off x="341071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-558"/>
          <p:cNvSpPr txBox="1"/>
          <p:nvPr/>
        </p:nvSpPr>
        <p:spPr>
          <a:xfrm>
            <a:off x="3822192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Block force pushes</a:t>
            </a:r>
            <a:endParaRPr lang="en-US" sz="1200" dirty="0"/>
          </a:p>
        </p:txBody>
      </p:sp>
      <p:sp>
        <p:nvSpPr>
          <p:cNvPr id="28" name="text-559"/>
          <p:cNvSpPr txBox="1"/>
          <p:nvPr/>
        </p:nvSpPr>
        <p:spPr>
          <a:xfrm>
            <a:off x="3410712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Nitko ne može prepisati povijest main grane.</a:t>
            </a:r>
            <a:endParaRPr lang="en-US" sz="1200" dirty="0"/>
          </a:p>
        </p:txBody>
      </p:sp>
      <p:sp>
        <p:nvSpPr>
          <p:cNvPr id="29" name="card-560"/>
          <p:cNvSpPr/>
          <p:nvPr/>
        </p:nvSpPr>
        <p:spPr>
          <a:xfrm>
            <a:off x="6089904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num-561"/>
          <p:cNvSpPr/>
          <p:nvPr/>
        </p:nvSpPr>
        <p:spPr>
          <a:xfrm>
            <a:off x="6227064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-562"/>
          <p:cNvSpPr txBox="1"/>
          <p:nvPr/>
        </p:nvSpPr>
        <p:spPr>
          <a:xfrm>
            <a:off x="6227064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text-563"/>
          <p:cNvSpPr txBox="1"/>
          <p:nvPr/>
        </p:nvSpPr>
        <p:spPr>
          <a:xfrm>
            <a:off x="6638544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Restrict deletions</a:t>
            </a:r>
            <a:endParaRPr lang="en-US" sz="1200" dirty="0"/>
          </a:p>
        </p:txBody>
      </p:sp>
      <p:sp>
        <p:nvSpPr>
          <p:cNvPr id="33" name="text-564"/>
          <p:cNvSpPr txBox="1"/>
          <p:nvPr/>
        </p:nvSpPr>
        <p:spPr>
          <a:xfrm>
            <a:off x="6227064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Grana main ne može se obrisati.</a:t>
            </a:r>
            <a:endParaRPr lang="en-US" sz="1200" dirty="0"/>
          </a:p>
        </p:txBody>
      </p:sp>
      <p:sp>
        <p:nvSpPr>
          <p:cNvPr id="34" name="text-565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Gdje: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Settings → Rules → Rulesets (noviji način) ili Settings → Branches. Pravila za cijelu organizaciju postavlja vlasnik organizacije.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RBAC: tko smije što</a:t>
            </a:r>
            <a:endParaRPr lang="en-US" sz="2800" dirty="0"/>
          </a:p>
        </p:txBody>
      </p:sp>
      <p:graphicFrame>
        <p:nvGraphicFramePr>
          <p:cNvPr id="21" name="rbac-5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21792"/>
                <a:gridCol w="621792"/>
                <a:gridCol w="621792"/>
                <a:gridCol w="804672"/>
                <a:gridCol w="713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Ovlast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Read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Triage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Write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Maintain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Admin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Čitanje i kloniranje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Issues i oznake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grana, spajanje PR-a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Postavke repozitorija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dio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Zaštita grana i tajne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ard-567"/>
          <p:cNvSpPr/>
          <p:nvPr/>
        </p:nvSpPr>
        <p:spPr>
          <a:xfrm>
            <a:off x="5852160" y="105156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568"/>
          <p:cNvSpPr txBox="1"/>
          <p:nvPr/>
        </p:nvSpPr>
        <p:spPr>
          <a:xfrm>
            <a:off x="5989320" y="11064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Teams</a:t>
            </a:r>
            <a:endParaRPr lang="en-US" sz="1300" dirty="0"/>
          </a:p>
        </p:txBody>
      </p:sp>
      <p:sp>
        <p:nvSpPr>
          <p:cNvPr id="6" name="text-569"/>
          <p:cNvSpPr txBox="1"/>
          <p:nvPr/>
        </p:nvSpPr>
        <p:spPr>
          <a:xfrm>
            <a:off x="59893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Ovlasti dajemo timu u organizaciji, ne pojedincu.</a:t>
            </a:r>
            <a:endParaRPr lang="en-US" sz="1100" dirty="0"/>
          </a:p>
        </p:txBody>
      </p:sp>
      <p:sp>
        <p:nvSpPr>
          <p:cNvPr id="7" name="card-570"/>
          <p:cNvSpPr/>
          <p:nvPr/>
        </p:nvSpPr>
        <p:spPr>
          <a:xfrm>
            <a:off x="5852160" y="182880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571"/>
          <p:cNvSpPr txBox="1"/>
          <p:nvPr/>
        </p:nvSpPr>
        <p:spPr>
          <a:xfrm>
            <a:off x="5989320" y="18836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CODEOWNERS</a:t>
            </a:r>
            <a:endParaRPr lang="en-US" sz="1300" dirty="0"/>
          </a:p>
        </p:txBody>
      </p:sp>
      <p:sp>
        <p:nvSpPr>
          <p:cNvPr id="9" name="text-572"/>
          <p:cNvSpPr txBox="1"/>
          <p:nvPr/>
        </p:nvSpPr>
        <p:spPr>
          <a:xfrm>
            <a:off x="5989320" y="21396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Datoteka koja određuje tko mora odobriti promjene u kojem direktoriju.</a:t>
            </a:r>
            <a:endParaRPr lang="en-US" sz="1100" dirty="0"/>
          </a:p>
        </p:txBody>
      </p:sp>
      <p:sp>
        <p:nvSpPr>
          <p:cNvPr id="10" name="card-573"/>
          <p:cNvSpPr/>
          <p:nvPr/>
        </p:nvSpPr>
        <p:spPr>
          <a:xfrm>
            <a:off x="5852160" y="260604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574"/>
          <p:cNvSpPr txBox="1"/>
          <p:nvPr/>
        </p:nvSpPr>
        <p:spPr>
          <a:xfrm>
            <a:off x="5989320" y="2660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Environment reviewers</a:t>
            </a:r>
            <a:endParaRPr lang="en-US" sz="1300" dirty="0"/>
          </a:p>
        </p:txBody>
      </p:sp>
      <p:sp>
        <p:nvSpPr>
          <p:cNvPr id="12" name="text-575"/>
          <p:cNvSpPr txBox="1"/>
          <p:nvPr/>
        </p:nvSpPr>
        <p:spPr>
          <a:xfrm>
            <a:off x="5989320" y="2916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Tko smije odobriti isporuku u prod.</a:t>
            </a:r>
            <a:endParaRPr lang="en-US" sz="1100" dirty="0"/>
          </a:p>
        </p:txBody>
      </p:sp>
      <p:sp>
        <p:nvSpPr>
          <p:cNvPr id="13" name="card-576"/>
          <p:cNvSpPr/>
          <p:nvPr/>
        </p:nvSpPr>
        <p:spPr>
          <a:xfrm>
            <a:off x="457200" y="352044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-577"/>
          <p:cNvSpPr txBox="1"/>
          <p:nvPr/>
        </p:nvSpPr>
        <p:spPr>
          <a:xfrm>
            <a:off x="685800" y="35204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Naš zajednički repozitorij: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tim studenti ima Write (push grana, otvaranje PR-a), nositelj ima Admin. Zaštita grane main znači da ni Write ne smije pushati izravno na 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578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579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Vježba: zajednički repozitorij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Grana, skripta, pull request prema main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Tijek vježbe</a:t>
            </a:r>
            <a:endParaRPr lang="en-US" sz="2800" dirty="0"/>
          </a:p>
        </p:txBody>
      </p:sp>
      <p:sp>
        <p:nvSpPr>
          <p:cNvPr id="3" name="card-580"/>
          <p:cNvSpPr/>
          <p:nvPr/>
        </p:nvSpPr>
        <p:spPr>
          <a:xfrm>
            <a:off x="457200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581"/>
          <p:cNvSpPr/>
          <p:nvPr/>
        </p:nvSpPr>
        <p:spPr>
          <a:xfrm>
            <a:off x="877824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582"/>
          <p:cNvSpPr txBox="1"/>
          <p:nvPr/>
        </p:nvSpPr>
        <p:spPr>
          <a:xfrm>
            <a:off x="87782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-583"/>
          <p:cNvSpPr txBox="1"/>
          <p:nvPr/>
        </p:nvSpPr>
        <p:spPr>
          <a:xfrm>
            <a:off x="502920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Clone</a:t>
            </a:r>
            <a:endParaRPr lang="en-US" sz="1300" dirty="0"/>
          </a:p>
        </p:txBody>
      </p:sp>
      <p:sp>
        <p:nvSpPr>
          <p:cNvPr id="7" name="text-584"/>
          <p:cNvSpPr txBox="1"/>
          <p:nvPr/>
        </p:nvSpPr>
        <p:spPr>
          <a:xfrm>
            <a:off x="475488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clone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&lt;org&gt;/shared-collab</a:t>
            </a:r>
            <a:endParaRPr lang="en-US" sz="800" dirty="0"/>
          </a:p>
        </p:txBody>
      </p:sp>
      <p:sp>
        <p:nvSpPr>
          <p:cNvPr id="8" name="card-585"/>
          <p:cNvSpPr/>
          <p:nvPr/>
        </p:nvSpPr>
        <p:spPr>
          <a:xfrm>
            <a:off x="1843430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586"/>
          <p:cNvSpPr/>
          <p:nvPr/>
        </p:nvSpPr>
        <p:spPr>
          <a:xfrm>
            <a:off x="2264054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587"/>
          <p:cNvSpPr txBox="1"/>
          <p:nvPr/>
        </p:nvSpPr>
        <p:spPr>
          <a:xfrm>
            <a:off x="226405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-588"/>
          <p:cNvSpPr txBox="1"/>
          <p:nvPr/>
        </p:nvSpPr>
        <p:spPr>
          <a:xfrm>
            <a:off x="1889150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Branch</a:t>
            </a:r>
            <a:endParaRPr lang="en-US" sz="1300" dirty="0"/>
          </a:p>
        </p:txBody>
      </p:sp>
      <p:sp>
        <p:nvSpPr>
          <p:cNvPr id="12" name="text-589"/>
          <p:cNvSpPr txBox="1"/>
          <p:nvPr/>
        </p:nvSpPr>
        <p:spPr>
          <a:xfrm>
            <a:off x="1861718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-b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feature/&lt;login&gt;</a:t>
            </a:r>
            <a:endParaRPr lang="en-US" sz="800" dirty="0"/>
          </a:p>
        </p:txBody>
      </p:sp>
      <p:sp>
        <p:nvSpPr>
          <p:cNvPr id="13" name="card-590"/>
          <p:cNvSpPr/>
          <p:nvPr/>
        </p:nvSpPr>
        <p:spPr>
          <a:xfrm>
            <a:off x="3229661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591"/>
          <p:cNvSpPr/>
          <p:nvPr/>
        </p:nvSpPr>
        <p:spPr>
          <a:xfrm>
            <a:off x="3650285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592"/>
          <p:cNvSpPr txBox="1"/>
          <p:nvPr/>
        </p:nvSpPr>
        <p:spPr>
          <a:xfrm>
            <a:off x="3650285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593"/>
          <p:cNvSpPr txBox="1"/>
          <p:nvPr/>
        </p:nvSpPr>
        <p:spPr>
          <a:xfrm>
            <a:off x="3275381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Script</a:t>
            </a:r>
            <a:endParaRPr lang="en-US" sz="1300" dirty="0"/>
          </a:p>
        </p:txBody>
      </p:sp>
      <p:sp>
        <p:nvSpPr>
          <p:cNvPr id="17" name="text-594"/>
          <p:cNvSpPr txBox="1"/>
          <p:nvPr/>
        </p:nvSpPr>
        <p:spPr>
          <a:xfrm>
            <a:off x="3247949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add_contribution.sh</a:t>
            </a:r>
            <a:endParaRPr lang="en-US" sz="800" dirty="0"/>
          </a:p>
        </p:txBody>
      </p:sp>
      <p:sp>
        <p:nvSpPr>
          <p:cNvPr id="18" name="card-595"/>
          <p:cNvSpPr/>
          <p:nvPr/>
        </p:nvSpPr>
        <p:spPr>
          <a:xfrm>
            <a:off x="4615891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596"/>
          <p:cNvSpPr/>
          <p:nvPr/>
        </p:nvSpPr>
        <p:spPr>
          <a:xfrm>
            <a:off x="5036515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597"/>
          <p:cNvSpPr txBox="1"/>
          <p:nvPr/>
        </p:nvSpPr>
        <p:spPr>
          <a:xfrm>
            <a:off x="5036515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-598"/>
          <p:cNvSpPr txBox="1"/>
          <p:nvPr/>
        </p:nvSpPr>
        <p:spPr>
          <a:xfrm>
            <a:off x="4661611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Push</a:t>
            </a:r>
            <a:endParaRPr lang="en-US" sz="1300" dirty="0"/>
          </a:p>
        </p:txBody>
      </p:sp>
      <p:sp>
        <p:nvSpPr>
          <p:cNvPr id="22" name="text-599"/>
          <p:cNvSpPr txBox="1"/>
          <p:nvPr/>
        </p:nvSpPr>
        <p:spPr>
          <a:xfrm>
            <a:off x="4634179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 HEAD</a:t>
            </a:r>
            <a:endParaRPr lang="en-US" sz="800" dirty="0"/>
          </a:p>
        </p:txBody>
      </p:sp>
      <p:sp>
        <p:nvSpPr>
          <p:cNvPr id="23" name="card-600"/>
          <p:cNvSpPr/>
          <p:nvPr/>
        </p:nvSpPr>
        <p:spPr>
          <a:xfrm>
            <a:off x="6002122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601"/>
          <p:cNvSpPr/>
          <p:nvPr/>
        </p:nvSpPr>
        <p:spPr>
          <a:xfrm>
            <a:off x="6422746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602"/>
          <p:cNvSpPr txBox="1"/>
          <p:nvPr/>
        </p:nvSpPr>
        <p:spPr>
          <a:xfrm>
            <a:off x="642274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-603"/>
          <p:cNvSpPr txBox="1"/>
          <p:nvPr/>
        </p:nvSpPr>
        <p:spPr>
          <a:xfrm>
            <a:off x="6047842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27" name="text-604"/>
          <p:cNvSpPr txBox="1"/>
          <p:nvPr/>
        </p:nvSpPr>
        <p:spPr>
          <a:xfrm>
            <a:off x="6020410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pr create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--base main</a:t>
            </a:r>
            <a:endParaRPr lang="en-US" sz="800" dirty="0"/>
          </a:p>
        </p:txBody>
      </p:sp>
      <p:sp>
        <p:nvSpPr>
          <p:cNvPr id="28" name="card-605"/>
          <p:cNvSpPr/>
          <p:nvPr/>
        </p:nvSpPr>
        <p:spPr>
          <a:xfrm>
            <a:off x="7388352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06"/>
          <p:cNvSpPr/>
          <p:nvPr/>
        </p:nvSpPr>
        <p:spPr>
          <a:xfrm>
            <a:off x="7808976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-607"/>
          <p:cNvSpPr txBox="1"/>
          <p:nvPr/>
        </p:nvSpPr>
        <p:spPr>
          <a:xfrm>
            <a:off x="780897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-608"/>
          <p:cNvSpPr txBox="1"/>
          <p:nvPr/>
        </p:nvSpPr>
        <p:spPr>
          <a:xfrm>
            <a:off x="7434072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Merge</a:t>
            </a:r>
            <a:endParaRPr lang="en-US" sz="1300" dirty="0"/>
          </a:p>
        </p:txBody>
      </p:sp>
      <p:sp>
        <p:nvSpPr>
          <p:cNvPr id="32" name="text-609"/>
          <p:cNvSpPr txBox="1"/>
          <p:nvPr/>
        </p:nvSpPr>
        <p:spPr>
          <a:xfrm>
            <a:off x="7406640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nositelj spaja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3 načina</a:t>
            </a:r>
            <a:endParaRPr lang="en-US" sz="800" dirty="0"/>
          </a:p>
        </p:txBody>
      </p:sp>
      <p:sp>
        <p:nvSpPr>
          <p:cNvPr id="33" name="card-610"/>
          <p:cNvSpPr/>
          <p:nvPr/>
        </p:nvSpPr>
        <p:spPr>
          <a:xfrm>
            <a:off x="457200" y="315468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-611"/>
          <p:cNvSpPr txBox="1"/>
          <p:nvPr/>
        </p:nvSpPr>
        <p:spPr>
          <a:xfrm>
            <a:off x="64008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Što radi skripta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Datoteka 2026-10-20T10:15:42.txt (Europe/Zagreb)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 njoj je korisničko ime ($USER)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Commit datoteke + jedan prazan commit</a:t>
            </a:r>
            <a:endParaRPr lang="en-US" sz="1200" dirty="0"/>
          </a:p>
        </p:txBody>
      </p:sp>
      <p:sp>
        <p:nvSpPr>
          <p:cNvPr id="35" name="card-612"/>
          <p:cNvSpPr/>
          <p:nvPr/>
        </p:nvSpPr>
        <p:spPr>
          <a:xfrm>
            <a:off x="4709160" y="315468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-613"/>
          <p:cNvSpPr txBox="1"/>
          <p:nvPr/>
        </p:nvSpPr>
        <p:spPr>
          <a:xfrm>
            <a:off x="4892040" y="3246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Zašto dva commita?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Svaki PR ima dva commita, pa se pri spajanju jasno vidi razlika: squash ih sažme u jedan, rebase ih kopira oba, merge commit doda treći.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Skripta add_contribution.sh</a:t>
            </a:r>
            <a:endParaRPr lang="en-US" sz="2800" dirty="0"/>
          </a:p>
        </p:txBody>
      </p:sp>
      <p:sp>
        <p:nvSpPr>
          <p:cNvPr id="3" name="code-bg-614"/>
          <p:cNvSpPr/>
          <p:nvPr/>
        </p:nvSpPr>
        <p:spPr>
          <a:xfrm>
            <a:off x="457200" y="1051560"/>
            <a:ext cx="5120640" cy="3474720"/>
          </a:xfrm>
          <a:prstGeom prst="roundRect">
            <a:avLst>
              <a:gd name="adj" fmla="val 157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-615"/>
          <p:cNvSpPr txBox="1"/>
          <p:nvPr/>
        </p:nvSpPr>
        <p:spPr>
          <a:xfrm>
            <a:off x="621792" y="1179576"/>
            <a:ext cx="4791456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refuse to run on main: work on your own branch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branch=$(git branch --show-current)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"$branch" = "main" ] &amp;&amp; exit 1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 8601, local Zagreb time, no ms, no TZ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timestamp=$(TZ=Europe/Zagreb date +%Y-%m-%dT%H:%M:%S)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file="${timestamp}.txt"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"$USER" &gt; "$file"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"$file"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"feat: add contribution from $USER"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--allow-empty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-m "chore: empty commit from $USER"</a:t>
            </a:r>
            <a:endParaRPr lang="en-US" sz="1050" dirty="0"/>
          </a:p>
        </p:txBody>
      </p:sp>
      <p:sp>
        <p:nvSpPr>
          <p:cNvPr id="5" name="card-616"/>
          <p:cNvSpPr/>
          <p:nvPr/>
        </p:nvSpPr>
        <p:spPr>
          <a:xfrm>
            <a:off x="5806440" y="10515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617"/>
          <p:cNvSpPr txBox="1"/>
          <p:nvPr/>
        </p:nvSpPr>
        <p:spPr>
          <a:xfrm>
            <a:off x="5943600" y="1124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TZ=Europe/Zagreb</a:t>
            </a:r>
            <a:endParaRPr lang="en-US" sz="1200" dirty="0"/>
          </a:p>
        </p:txBody>
      </p:sp>
      <p:sp>
        <p:nvSpPr>
          <p:cNvPr id="7" name="text-618"/>
          <p:cNvSpPr txBox="1"/>
          <p:nvPr/>
        </p:nvSpPr>
        <p:spPr>
          <a:xfrm>
            <a:off x="5943600" y="13990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Isto vrijeme za sve, bez obzira na postavke računala.</a:t>
            </a:r>
            <a:endParaRPr lang="en-US" sz="1100" dirty="0"/>
          </a:p>
        </p:txBody>
      </p:sp>
      <p:sp>
        <p:nvSpPr>
          <p:cNvPr id="8" name="card-619"/>
          <p:cNvSpPr/>
          <p:nvPr/>
        </p:nvSpPr>
        <p:spPr>
          <a:xfrm>
            <a:off x="5806440" y="19659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620"/>
          <p:cNvSpPr txBox="1"/>
          <p:nvPr/>
        </p:nvSpPr>
        <p:spPr>
          <a:xfrm>
            <a:off x="5943600" y="20391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--allow-empty</a:t>
            </a:r>
            <a:endParaRPr lang="en-US" sz="1200" dirty="0"/>
          </a:p>
        </p:txBody>
      </p:sp>
      <p:sp>
        <p:nvSpPr>
          <p:cNvPr id="10" name="text-621"/>
          <p:cNvSpPr txBox="1"/>
          <p:nvPr/>
        </p:nvSpPr>
        <p:spPr>
          <a:xfrm>
            <a:off x="5943600" y="23134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Commit bez promjena datoteka. Koristan za pokretanje CI-a ili oznake u povijesti.</a:t>
            </a:r>
            <a:endParaRPr lang="en-US" sz="1100" dirty="0"/>
          </a:p>
        </p:txBody>
      </p:sp>
      <p:sp>
        <p:nvSpPr>
          <p:cNvPr id="11" name="card-622"/>
          <p:cNvSpPr/>
          <p:nvPr/>
        </p:nvSpPr>
        <p:spPr>
          <a:xfrm>
            <a:off x="5806440" y="28803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623"/>
          <p:cNvSpPr txBox="1"/>
          <p:nvPr/>
        </p:nvSpPr>
        <p:spPr>
          <a:xfrm>
            <a:off x="5943600" y="29535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 / chore:</a:t>
            </a:r>
            <a:endParaRPr lang="en-US" sz="1200" dirty="0"/>
          </a:p>
        </p:txBody>
      </p:sp>
      <p:sp>
        <p:nvSpPr>
          <p:cNvPr id="13" name="text-624"/>
          <p:cNvSpPr txBox="1"/>
          <p:nvPr/>
        </p:nvSpPr>
        <p:spPr>
          <a:xfrm>
            <a:off x="5943600" y="32278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Conventional Commits, kao u release-please primjeru iz tjedna 1.</a:t>
            </a:r>
            <a:endParaRPr lang="en-US" sz="1100" dirty="0"/>
          </a:p>
        </p:txBody>
      </p:sp>
      <p:sp>
        <p:nvSpPr>
          <p:cNvPr id="14" name="card-625"/>
          <p:cNvSpPr/>
          <p:nvPr/>
        </p:nvSpPr>
        <p:spPr>
          <a:xfrm>
            <a:off x="5806440" y="3794760"/>
            <a:ext cx="2880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-626"/>
          <p:cNvSpPr txBox="1"/>
          <p:nvPr/>
        </p:nvSpPr>
        <p:spPr>
          <a:xfrm>
            <a:off x="5943600" y="37947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Windows: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":" nije dopušten u imenu datoteke. Raditi u WSL-u.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Spajanje uživo: tri PR-a, tri načina</a:t>
            </a:r>
            <a:endParaRPr lang="en-US" sz="2800" dirty="0"/>
          </a:p>
        </p:txBody>
      </p:sp>
      <p:sp>
        <p:nvSpPr>
          <p:cNvPr id="3" name="card-627"/>
          <p:cNvSpPr/>
          <p:nvPr/>
        </p:nvSpPr>
        <p:spPr>
          <a:xfrm>
            <a:off x="457200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ill-628"/>
          <p:cNvSpPr/>
          <p:nvPr/>
        </p:nvSpPr>
        <p:spPr>
          <a:xfrm>
            <a:off x="640080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text-629"/>
          <p:cNvSpPr txBox="1"/>
          <p:nvPr/>
        </p:nvSpPr>
        <p:spPr>
          <a:xfrm>
            <a:off x="640080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1</a:t>
            </a:r>
            <a:endParaRPr lang="en-US" sz="1000" dirty="0"/>
          </a:p>
        </p:txBody>
      </p:sp>
      <p:sp>
        <p:nvSpPr>
          <p:cNvPr id="6" name="text-630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Rebase and merge</a:t>
            </a:r>
            <a:endParaRPr lang="en-US" sz="1400" dirty="0"/>
          </a:p>
        </p:txBody>
      </p:sp>
      <p:sp>
        <p:nvSpPr>
          <p:cNvPr id="7" name="text-631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nova commita na main, novi hashevi</a:t>
            </a:r>
            <a:endParaRPr lang="en-US" sz="1200" dirty="0"/>
          </a:p>
        </p:txBody>
      </p:sp>
      <p:sp>
        <p:nvSpPr>
          <p:cNvPr id="8" name="card-632"/>
          <p:cNvSpPr/>
          <p:nvPr/>
        </p:nvSpPr>
        <p:spPr>
          <a:xfrm>
            <a:off x="3273552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ill-633"/>
          <p:cNvSpPr/>
          <p:nvPr/>
        </p:nvSpPr>
        <p:spPr>
          <a:xfrm>
            <a:off x="3456432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text-634"/>
          <p:cNvSpPr txBox="1"/>
          <p:nvPr/>
        </p:nvSpPr>
        <p:spPr>
          <a:xfrm>
            <a:off x="3456432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2</a:t>
            </a:r>
            <a:endParaRPr lang="en-US" sz="1000" dirty="0"/>
          </a:p>
        </p:txBody>
      </p:sp>
      <p:sp>
        <p:nvSpPr>
          <p:cNvPr id="11" name="text-635"/>
          <p:cNvSpPr txBox="1"/>
          <p:nvPr/>
        </p:nvSpPr>
        <p:spPr>
          <a:xfrm>
            <a:off x="3456432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and merge</a:t>
            </a:r>
            <a:endParaRPr lang="en-US" sz="1400" dirty="0"/>
          </a:p>
        </p:txBody>
      </p:sp>
      <p:sp>
        <p:nvSpPr>
          <p:cNvPr id="12" name="text-636"/>
          <p:cNvSpPr txBox="1"/>
          <p:nvPr/>
        </p:nvSpPr>
        <p:spPr>
          <a:xfrm>
            <a:off x="3456432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 novi commit na main</a:t>
            </a:r>
            <a:endParaRPr lang="en-US" sz="1200" dirty="0"/>
          </a:p>
        </p:txBody>
      </p:sp>
      <p:sp>
        <p:nvSpPr>
          <p:cNvPr id="13" name="card-637"/>
          <p:cNvSpPr/>
          <p:nvPr/>
        </p:nvSpPr>
        <p:spPr>
          <a:xfrm>
            <a:off x="6089904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ill-638"/>
          <p:cNvSpPr/>
          <p:nvPr/>
        </p:nvSpPr>
        <p:spPr>
          <a:xfrm>
            <a:off x="6272784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15" name="text-639"/>
          <p:cNvSpPr txBox="1"/>
          <p:nvPr/>
        </p:nvSpPr>
        <p:spPr>
          <a:xfrm>
            <a:off x="6272784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3</a:t>
            </a:r>
            <a:endParaRPr lang="en-US" sz="1000" dirty="0"/>
          </a:p>
        </p:txBody>
      </p:sp>
      <p:sp>
        <p:nvSpPr>
          <p:cNvPr id="16" name="text-640"/>
          <p:cNvSpPr txBox="1"/>
          <p:nvPr/>
        </p:nvSpPr>
        <p:spPr>
          <a:xfrm>
            <a:off x="6272784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Create a merge commit</a:t>
            </a:r>
            <a:endParaRPr lang="en-US" sz="1400" dirty="0"/>
          </a:p>
        </p:txBody>
      </p:sp>
      <p:sp>
        <p:nvSpPr>
          <p:cNvPr id="17" name="text-641"/>
          <p:cNvSpPr txBox="1"/>
          <p:nvPr/>
        </p:nvSpPr>
        <p:spPr>
          <a:xfrm>
            <a:off x="6272784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commita s grane + merge commit</a:t>
            </a:r>
            <a:endParaRPr lang="en-US" sz="1200" dirty="0"/>
          </a:p>
        </p:txBody>
      </p:sp>
      <p:sp>
        <p:nvSpPr>
          <p:cNvPr id="18" name="code-bg-642"/>
          <p:cNvSpPr/>
          <p:nvPr/>
        </p:nvSpPr>
        <p:spPr>
          <a:xfrm>
            <a:off x="457200" y="2697480"/>
            <a:ext cx="5120640" cy="1828800"/>
          </a:xfrm>
          <a:prstGeom prst="roundRect">
            <a:avLst>
              <a:gd name="adj" fmla="val 3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-643"/>
          <p:cNvSpPr txBox="1"/>
          <p:nvPr/>
        </p:nvSpPr>
        <p:spPr>
          <a:xfrm>
            <a:off x="621792" y="2825496"/>
            <a:ext cx="4791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                 # Fast-forward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--graph --oneline --all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behind main? update your own branch: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fetch origin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origin/main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--force-with-lease</a:t>
            </a:r>
            <a:endParaRPr lang="en-US" sz="1100" dirty="0"/>
          </a:p>
        </p:txBody>
      </p:sp>
      <p:sp>
        <p:nvSpPr>
          <p:cNvPr id="20" name="card-644"/>
          <p:cNvSpPr/>
          <p:nvPr/>
        </p:nvSpPr>
        <p:spPr>
          <a:xfrm>
            <a:off x="5806440" y="2697480"/>
            <a:ext cx="288036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-645"/>
          <p:cNvSpPr txBox="1"/>
          <p:nvPr/>
        </p:nvSpPr>
        <p:spPr>
          <a:xfrm>
            <a:off x="5943600" y="2788920"/>
            <a:ext cx="2606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Pokušajte i ovo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Zaštita grane odbija push: "protected branch hook declined".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4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razumijevanja</a:t>
            </a:r>
            <a:endParaRPr lang="en-US" sz="2800" dirty="0"/>
          </a:p>
        </p:txBody>
      </p:sp>
      <p:sp>
        <p:nvSpPr>
          <p:cNvPr id="3" name="num-647"/>
          <p:cNvSpPr/>
          <p:nvPr/>
        </p:nvSpPr>
        <p:spPr>
          <a:xfrm>
            <a:off x="457200" y="11430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-648"/>
          <p:cNvSpPr txBox="1"/>
          <p:nvPr/>
        </p:nvSpPr>
        <p:spPr>
          <a:xfrm>
            <a:off x="45720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-649"/>
          <p:cNvSpPr txBox="1"/>
          <p:nvPr/>
        </p:nvSpPr>
        <p:spPr>
          <a:xfrm>
            <a:off x="100584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Na koja tri pitanja odgovara povijest u gitu?</a:t>
            </a:r>
            <a:endParaRPr lang="en-US" sz="1500" dirty="0"/>
          </a:p>
        </p:txBody>
      </p:sp>
      <p:sp>
        <p:nvSpPr>
          <p:cNvPr id="6" name="num-650"/>
          <p:cNvSpPr/>
          <p:nvPr/>
        </p:nvSpPr>
        <p:spPr>
          <a:xfrm>
            <a:off x="457200" y="18288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51"/>
          <p:cNvSpPr txBox="1"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-652"/>
          <p:cNvSpPr txBox="1"/>
          <p:nvPr/>
        </p:nvSpPr>
        <p:spPr>
          <a:xfrm>
            <a:off x="1005840" y="1828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Kada je fast-forward moguć, a kada nije?</a:t>
            </a:r>
            <a:endParaRPr lang="en-US" sz="1500" dirty="0"/>
          </a:p>
        </p:txBody>
      </p:sp>
      <p:sp>
        <p:nvSpPr>
          <p:cNvPr id="9" name="num-653"/>
          <p:cNvSpPr/>
          <p:nvPr/>
        </p:nvSpPr>
        <p:spPr>
          <a:xfrm>
            <a:off x="457200" y="25146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-654"/>
          <p:cNvSpPr txBox="1"/>
          <p:nvPr/>
        </p:nvSpPr>
        <p:spPr>
          <a:xfrm>
            <a:off x="4572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-655"/>
          <p:cNvSpPr txBox="1"/>
          <p:nvPr/>
        </p:nvSpPr>
        <p:spPr>
          <a:xfrm>
            <a:off x="100584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Što se dogodi s commitovima C i D nakon squasha, a što nakon rebasea?</a:t>
            </a:r>
            <a:endParaRPr lang="en-US" sz="1500" dirty="0"/>
          </a:p>
        </p:txBody>
      </p:sp>
      <p:sp>
        <p:nvSpPr>
          <p:cNvPr id="12" name="num-656"/>
          <p:cNvSpPr/>
          <p:nvPr/>
        </p:nvSpPr>
        <p:spPr>
          <a:xfrm>
            <a:off x="457200" y="3200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-657"/>
          <p:cNvSpPr txBox="1"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-658"/>
          <p:cNvSpPr txBox="1"/>
          <p:nvPr/>
        </p:nvSpPr>
        <p:spPr>
          <a:xfrm>
            <a:off x="100584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Zašto ne smijemo rebaseati granu main?</a:t>
            </a:r>
            <a:endParaRPr lang="en-US" sz="1500" dirty="0"/>
          </a:p>
        </p:txBody>
      </p:sp>
      <p:sp>
        <p:nvSpPr>
          <p:cNvPr id="15" name="num-659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-660"/>
          <p:cNvSpPr txBox="1"/>
          <p:nvPr/>
        </p:nvSpPr>
        <p:spPr>
          <a:xfrm>
            <a:off x="45720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-661"/>
          <p:cNvSpPr txBox="1"/>
          <p:nvPr/>
        </p:nvSpPr>
        <p:spPr>
          <a:xfrm>
            <a:off x="100584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Koja dva pravila zaštite grane sprječavaju izravan push nepregledanog koda?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aktikum DevOps">
  <a:themeElements>
    <a:clrScheme name="Praktikum DevOps">
      <a:dk1>
        <a:srgbClr val="14202B"/>
      </a:dk1>
      <a:lt1>
        <a:srgbClr val="FFFFFF"/>
      </a:lt1>
      <a:dk2>
        <a:srgbClr val="0E3B43"/>
      </a:dk2>
      <a:lt2>
        <a:srgbClr val="EEF4F4"/>
      </a:lt2>
      <a:accent1>
        <a:srgbClr val="0E7C7B"/>
      </a:accent1>
      <a:accent2>
        <a:srgbClr val="F28C28"/>
      </a:accent2>
      <a:accent3>
        <a:srgbClr val="17BEBB"/>
      </a:accent3>
      <a:accent4>
        <a:srgbClr val="D64545"/>
      </a:accent4>
      <a:accent5>
        <a:srgbClr val="4A90A4"/>
      </a:accent5>
      <a:accent6>
        <a:srgbClr val="6B7A86"/>
      </a:accent6>
      <a:hlink>
        <a:srgbClr val="0E7C7B"/>
      </a:hlink>
      <a:folHlink>
        <a:srgbClr val="4A90A4"/>
      </a:folHlink>
    </a:clrScheme>
    <a:fontScheme name="Praktikum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Verzioniranje i kolaborativno programiranje s gitom</dc:title>
  <dc:subject>PptxGenJS Presentation</dc:subject>
  <dc:creator>Praktikum: Razvojne operacije</dc:creator>
  <cp:lastModifiedBy>Praktikum: Razvojne operacije</cp:lastModifiedBy>
  <cp:revision>1</cp:revision>
  <dcterms:created xsi:type="dcterms:W3CDTF">2026-10-18T20:30:10Z</dcterms:created>
  <dcterms:modified xsi:type="dcterms:W3CDTF">2026-10-18T20:30:10Z</dcterms:modified>
</cp:coreProperties>
</file>